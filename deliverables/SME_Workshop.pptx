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D7A6B"/>
          </a:solidFill>
          <a:ln w="12700">
            <a:solidFill>
              <a:srgbClr val="0D7A6B"/>
            </a:solidFill>
            <a:prstDash val="solid"/>
          </a:ln>
        </p:spPr>
      </p:sp>
      <p:sp>
        <p:nvSpPr>
          <p:cNvPr id="3" name="Text 1"/>
          <p:cNvSpPr/>
          <p:nvPr/>
        </p:nvSpPr>
        <p:spPr>
          <a:xfrm>
            <a:off x="548640" y="640080"/>
            <a:ext cx="8046720" cy="45720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PLB Universal Robotic Labeler REV-D</a:t>
            </a:r>
            <a:endParaRPr lang="en-US" sz="1600" dirty="0"/>
          </a:p>
        </p:txBody>
      </p:sp>
      <p:sp>
        <p:nvSpPr>
          <p:cNvPr id="4" name="Text 2"/>
          <p:cNvSpPr/>
          <p:nvPr/>
        </p:nvSpPr>
        <p:spPr>
          <a:xfrm>
            <a:off x="548640" y="1143000"/>
            <a:ext cx="8046720" cy="100584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SME Workshop</a:t>
            </a:r>
            <a:endParaRPr lang="en-US" sz="5200" dirty="0"/>
          </a:p>
        </p:txBody>
      </p:sp>
      <p:sp>
        <p:nvSpPr>
          <p:cNvPr id="5" name="Text 3"/>
          <p:cNvSpPr/>
          <p:nvPr/>
        </p:nvSpPr>
        <p:spPr>
          <a:xfrm>
            <a:off x="548640" y="2194560"/>
            <a:ext cx="8046720" cy="41148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TC 2412 Product Configurator — 150% BOM Construction</a:t>
            </a:r>
            <a:endParaRPr lang="en-US" sz="1800" dirty="0"/>
          </a:p>
        </p:txBody>
      </p:sp>
      <p:sp>
        <p:nvSpPr>
          <p:cNvPr id="6" name="Shape 4"/>
          <p:cNvSpPr/>
          <p:nvPr/>
        </p:nvSpPr>
        <p:spPr>
          <a:xfrm>
            <a:off x="548640" y="2743200"/>
            <a:ext cx="1645920" cy="347472"/>
          </a:xfrm>
          <a:prstGeom prst="rect">
            <a:avLst/>
          </a:prstGeom>
          <a:solidFill>
            <a:srgbClr val="0F3460"/>
          </a:solidFill>
          <a:ln w="12700">
            <a:solidFill>
              <a:srgbClr val="0F3460"/>
            </a:solidFill>
            <a:prstDash val="solid"/>
          </a:ln>
        </p:spPr>
      </p:sp>
      <p:sp>
        <p:nvSpPr>
          <p:cNvPr id="7" name="Text 5"/>
          <p:cNvSpPr/>
          <p:nvPr/>
        </p:nvSpPr>
        <p:spPr>
          <a:xfrm>
            <a:off x="548640" y="2743200"/>
            <a:ext cx="1645920" cy="347472"/>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15 Questions  ·  60 Minutes</a:t>
            </a:r>
            <a:endParaRPr lang="en-US" sz="1100" dirty="0"/>
          </a:p>
        </p:txBody>
      </p:sp>
      <p:sp>
        <p:nvSpPr>
          <p:cNvPr id="8" name="Text 6"/>
          <p:cNvSpPr/>
          <p:nvPr/>
        </p:nvSpPr>
        <p:spPr>
          <a:xfrm>
            <a:off x="548640" y="4462272"/>
            <a:ext cx="8046720" cy="20116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TC 2412 Product Configurator  ·  SME Workshop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1B2A4A"/>
          </a:solidFill>
          <a:ln w="12700">
            <a:solidFill>
              <a:srgbClr val="1B2A4A"/>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800" b="1" dirty="0">
                <a:solidFill>
                  <a:srgbClr val="FFFFFF"/>
                </a:solidFill>
                <a:latin typeface="Consolas" pitchFamily="34" charset="0"/>
                <a:ea typeface="Consolas" pitchFamily="34" charset="-122"/>
                <a:cs typeface="Consolas" pitchFamily="34" charset="-120"/>
              </a:rPr>
              <a:t>Q1</a:t>
            </a:r>
            <a:endParaRPr lang="en-US" sz="68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FEE2E2"/>
          </a:solidFill>
          <a:ln w="12700">
            <a:solidFill>
              <a:srgbClr val="991B1B"/>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991B1B"/>
                </a:solidFill>
                <a:latin typeface="Calibri" pitchFamily="34" charset="0"/>
                <a:ea typeface="Calibri" pitchFamily="34" charset="-122"/>
                <a:cs typeface="Calibri" pitchFamily="34" charset="-120"/>
              </a:rPr>
              <a:t>HIGH</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64748B"/>
                </a:solidFill>
                <a:latin typeface="Calibri" pitchFamily="34" charset="0"/>
                <a:ea typeface="Calibri" pitchFamily="34" charset="-122"/>
                <a:cs typeface="Calibri" pitchFamily="34" charset="-120"/>
              </a:rPr>
              <a:t>INFEED</a:t>
            </a:r>
            <a:endParaRPr lang="en-US" sz="800" dirty="0"/>
          </a:p>
        </p:txBody>
      </p:sp>
      <p:sp>
        <p:nvSpPr>
          <p:cNvPr id="8" name="Shape 6"/>
          <p:cNvSpPr/>
          <p:nvPr/>
        </p:nvSpPr>
        <p:spPr>
          <a:xfrm>
            <a:off x="256032" y="2267712"/>
            <a:ext cx="1591056" cy="347472"/>
          </a:xfrm>
          <a:prstGeom prst="rect">
            <a:avLst/>
          </a:prstGeom>
          <a:solidFill>
            <a:srgbClr val="0F3460"/>
          </a:solidFill>
          <a:ln w="12700">
            <a:solidFill>
              <a:srgbClr val="0F3460"/>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5 min</a:t>
            </a:r>
            <a:endParaRPr lang="en-US" sz="1300" dirty="0"/>
          </a:p>
        </p:txBody>
      </p:sp>
      <p:sp>
        <p:nvSpPr>
          <p:cNvPr id="10" name="Shape 8"/>
          <p:cNvSpPr/>
          <p:nvPr/>
        </p:nvSpPr>
        <p:spPr>
          <a:xfrm>
            <a:off x="164592" y="2788920"/>
            <a:ext cx="1773936" cy="1417320"/>
          </a:xfrm>
          <a:prstGeom prst="rect">
            <a:avLst/>
          </a:prstGeom>
          <a:solidFill>
            <a:srgbClr val="1E3A5F"/>
          </a:solidFill>
          <a:ln w="12700">
            <a:solidFill>
              <a:srgbClr val="1E3A5F"/>
            </a:solidFill>
            <a:prstDash val="solid"/>
          </a:ln>
        </p:spPr>
      </p:sp>
      <p:sp>
        <p:nvSpPr>
          <p:cNvPr id="11" name="Text 9"/>
          <p:cNvSpPr/>
          <p:nvPr/>
        </p:nvSpPr>
        <p:spPr>
          <a:xfrm>
            <a:off x="164592" y="2834640"/>
            <a:ext cx="1773936" cy="201168"/>
          </a:xfrm>
          <a:prstGeom prst="rect">
            <a:avLst/>
          </a:prstGeom>
          <a:noFill/>
          <a:ln/>
        </p:spPr>
        <p:txBody>
          <a:bodyPr wrap="square" lIns="0" tIns="0" rIns="0" bIns="0" rtlCol="0" anchor="ctr"/>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IF STUCK</a:t>
            </a:r>
            <a:endParaRPr lang="en-US" sz="700" dirty="0"/>
          </a:p>
        </p:txBody>
      </p:sp>
      <p:sp>
        <p:nvSpPr>
          <p:cNvPr id="12" name="Text 10"/>
          <p:cNvSpPr/>
          <p:nvPr/>
        </p:nvSpPr>
        <p:spPr>
          <a:xfrm>
            <a:off x="228600" y="3054096"/>
            <a:ext cx="1645920" cy="1097280"/>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Ask:</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"Has a customer ever ordered the PLB without the infeed conveyor?"</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If still unsure:</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Park it — mark PENDING and move to Q2</a:t>
            </a:r>
            <a:endParaRPr lang="en-US" sz="900" dirty="0"/>
          </a:p>
        </p:txBody>
      </p:sp>
      <p:sp>
        <p:nvSpPr>
          <p:cNvPr id="13" name="Shape 11"/>
          <p:cNvSpPr/>
          <p:nvPr/>
        </p:nvSpPr>
        <p:spPr>
          <a:xfrm>
            <a:off x="164592" y="4315968"/>
            <a:ext cx="1773936" cy="658368"/>
          </a:xfrm>
          <a:prstGeom prst="rect">
            <a:avLst/>
          </a:prstGeom>
          <a:solidFill>
            <a:srgbClr val="0D7A6B"/>
          </a:solidFill>
          <a:ln w="12700">
            <a:solidFill>
              <a:srgbClr val="0D7A6B"/>
            </a:solidFill>
            <a:prstDash val="solid"/>
          </a:ln>
        </p:spPr>
      </p:sp>
      <p:sp>
        <p:nvSpPr>
          <p:cNvPr id="14" name="Text 12"/>
          <p:cNvSpPr/>
          <p:nvPr/>
        </p:nvSpPr>
        <p:spPr>
          <a:xfrm>
            <a:off x="164592" y="4343400"/>
            <a:ext cx="1773936" cy="201168"/>
          </a:xfrm>
          <a:prstGeom prst="rect">
            <a:avLst/>
          </a:prstGeom>
          <a:noFill/>
          <a:ln/>
        </p:spPr>
        <p:txBody>
          <a:bodyPr wrap="square" lIns="0" tIns="0" rIns="0" bIns="0" rtlCol="0" anchor="ctr"/>
          <a:lstStyle/>
          <a:p>
            <a:pPr algn="ctr" indent="0" marL="0">
              <a:buNone/>
            </a:pPr>
            <a:r>
              <a:rPr lang="en-US" sz="700" spc="200" kern="0" dirty="0">
                <a:solidFill>
                  <a:srgbClr val="A7F3D0"/>
                </a:solidFill>
                <a:latin typeface="Calibri" pitchFamily="34" charset="0"/>
                <a:ea typeface="Calibri" pitchFamily="34" charset="-122"/>
                <a:cs typeface="Calibri" pitchFamily="34" charset="-120"/>
              </a:rPr>
              <a:t>TC ACTION</a:t>
            </a:r>
            <a:endParaRPr lang="en-US" sz="700" dirty="0"/>
          </a:p>
        </p:txBody>
      </p:sp>
      <p:sp>
        <p:nvSpPr>
          <p:cNvPr id="15" name="Text 13"/>
          <p:cNvSpPr/>
          <p:nvPr/>
        </p:nvSpPr>
        <p:spPr>
          <a:xfrm>
            <a:off x="201168" y="4553712"/>
            <a:ext cx="1719072" cy="384048"/>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YES: Infeed = Yes on 5 parts</a:t>
            </a:r>
            <a:endParaRPr lang="en-US" sz="900" dirty="0"/>
          </a:p>
          <a:p>
            <a:pPr indent="0" marL="0">
              <a:buNone/>
            </a:pP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NO: COMMON, no rule needed</a:t>
            </a:r>
            <a:endParaRPr lang="en-US" sz="900" dirty="0"/>
          </a:p>
        </p:txBody>
      </p:sp>
      <p:sp>
        <p:nvSpPr>
          <p:cNvPr id="16" name="Shape 14"/>
          <p:cNvSpPr/>
          <p:nvPr/>
        </p:nvSpPr>
        <p:spPr>
          <a:xfrm>
            <a:off x="2240280" y="0"/>
            <a:ext cx="6720840" cy="384048"/>
          </a:xfrm>
          <a:prstGeom prst="rect">
            <a:avLst/>
          </a:prstGeom>
          <a:solidFill>
            <a:srgbClr val="0D7A6B"/>
          </a:solidFill>
          <a:ln w="12700">
            <a:solidFill>
              <a:srgbClr val="0D7A6B"/>
            </a:solidFill>
            <a:prstDash val="solid"/>
          </a:ln>
        </p:spPr>
      </p:sp>
      <p:sp>
        <p:nvSpPr>
          <p:cNvPr id="17" name="Text 15"/>
          <p:cNvSpPr/>
          <p:nvPr/>
        </p:nvSpPr>
        <p:spPr>
          <a:xfrm>
            <a:off x="2377440" y="0"/>
            <a:ext cx="64465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Infeed Module — Does Infeed = No exist?</a:t>
            </a:r>
            <a:endParaRPr lang="en-US" sz="1400" dirty="0"/>
          </a:p>
        </p:txBody>
      </p:sp>
      <p:sp>
        <p:nvSpPr>
          <p:cNvPr id="18" name="Shape 16"/>
          <p:cNvSpPr/>
          <p:nvPr/>
        </p:nvSpPr>
        <p:spPr>
          <a:xfrm>
            <a:off x="2240280" y="438912"/>
            <a:ext cx="6720840" cy="822960"/>
          </a:xfrm>
          <a:prstGeom prst="rect">
            <a:avLst/>
          </a:prstGeom>
          <a:solidFill>
            <a:srgbClr val="FFFFFF"/>
          </a:solidFill>
          <a:ln w="12700">
            <a:solidFill>
              <a:srgbClr val="CBD5E1"/>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2240280" y="438912"/>
            <a:ext cx="54864" cy="822960"/>
          </a:xfrm>
          <a:prstGeom prst="rect">
            <a:avLst/>
          </a:prstGeom>
          <a:solidFill>
            <a:srgbClr val="1B2A4A"/>
          </a:solidFill>
          <a:ln w="12700">
            <a:solidFill>
              <a:srgbClr val="1B2A4A"/>
            </a:solidFill>
            <a:prstDash val="solid"/>
          </a:ln>
        </p:spPr>
      </p:sp>
      <p:sp>
        <p:nvSpPr>
          <p:cNvPr id="20" name="Text 18"/>
          <p:cNvSpPr/>
          <p:nvPr/>
        </p:nvSpPr>
        <p:spPr>
          <a:xfrm>
            <a:off x="2377440" y="493776"/>
            <a:ext cx="1097280" cy="182880"/>
          </a:xfrm>
          <a:prstGeom prst="rect">
            <a:avLst/>
          </a:prstGeom>
          <a:noFill/>
          <a:ln/>
        </p:spPr>
        <p:txBody>
          <a:bodyPr wrap="square" lIns="0" tIns="0" rIns="0" bIns="0" rtlCol="0" anchor="ctr"/>
          <a:lstStyle/>
          <a:p>
            <a:pPr indent="0" marL="0">
              <a:buNone/>
            </a:pPr>
            <a:r>
              <a:rPr lang="en-US" sz="700" b="1" spc="200" kern="0" dirty="0">
                <a:solidFill>
                  <a:srgbClr val="1B2A4A"/>
                </a:solidFill>
                <a:latin typeface="Calibri" pitchFamily="34" charset="0"/>
                <a:ea typeface="Calibri" pitchFamily="34" charset="-122"/>
                <a:cs typeface="Calibri" pitchFamily="34" charset="-120"/>
              </a:rPr>
              <a:t>SAY TO OPEN</a:t>
            </a:r>
            <a:endParaRPr lang="en-US" sz="700" dirty="0"/>
          </a:p>
        </p:txBody>
      </p:sp>
      <p:sp>
        <p:nvSpPr>
          <p:cNvPr id="21" name="Text 19"/>
          <p:cNvSpPr/>
          <p:nvPr/>
        </p:nvSpPr>
        <p:spPr>
          <a:xfrm>
            <a:off x="2377440" y="694944"/>
            <a:ext cx="6492240" cy="521208"/>
          </a:xfrm>
          <a:prstGeom prst="rect">
            <a:avLst/>
          </a:prstGeom>
          <a:noFill/>
          <a:ln/>
        </p:spPr>
        <p:txBody>
          <a:bodyPr wrap="square" lIns="0" tIns="0" rIns="0" bIns="0" rtlCol="0" anchor="t"/>
          <a:lstStyle/>
          <a:p>
            <a:pPr indent="0" marL="0">
              <a:buNone/>
            </a:pPr>
            <a:r>
              <a:rPr lang="en-US" sz="1200" i="1" dirty="0">
                <a:solidFill>
                  <a:srgbClr val="1B2A4A"/>
                </a:solidFill>
                <a:latin typeface="Calibri" pitchFamily="34" charset="0"/>
                <a:ea typeface="Calibri" pitchFamily="34" charset="-122"/>
                <a:cs typeface="Calibri" pitchFamily="34" charset="-120"/>
              </a:rPr>
              <a:t>Every BOM we have — 6FT EU, 32FT LH, 10FT LH — contains the infeed module at Level 2 inside the TLA. It has never been absent from any configuration we have seen.</a:t>
            </a:r>
            <a:endParaRPr lang="en-US" sz="1200" dirty="0"/>
          </a:p>
        </p:txBody>
      </p:sp>
      <p:sp>
        <p:nvSpPr>
          <p:cNvPr id="22" name="Shape 20"/>
          <p:cNvSpPr/>
          <p:nvPr/>
        </p:nvSpPr>
        <p:spPr>
          <a:xfrm>
            <a:off x="2240280" y="1298448"/>
            <a:ext cx="6720840" cy="530352"/>
          </a:xfrm>
          <a:prstGeom prst="rect">
            <a:avLst/>
          </a:prstGeom>
          <a:solidFill>
            <a:srgbClr val="EFF6FF"/>
          </a:solidFill>
          <a:ln w="12700">
            <a:solidFill>
              <a:srgbClr val="BFDBFE"/>
            </a:solidFill>
            <a:prstDash val="solid"/>
          </a:ln>
        </p:spPr>
      </p:sp>
      <p:sp>
        <p:nvSpPr>
          <p:cNvPr id="23" name="Text 21"/>
          <p:cNvSpPr/>
          <p:nvPr/>
        </p:nvSpPr>
        <p:spPr>
          <a:xfrm>
            <a:off x="2377440" y="1362456"/>
            <a:ext cx="1828800" cy="182880"/>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SHOW ON BOM VIEWER</a:t>
            </a:r>
            <a:endParaRPr lang="en-US" sz="700" dirty="0"/>
          </a:p>
        </p:txBody>
      </p:sp>
      <p:sp>
        <p:nvSpPr>
          <p:cNvPr id="24" name="Text 22"/>
          <p:cNvSpPr/>
          <p:nvPr/>
        </p:nvSpPr>
        <p:spPr>
          <a:xfrm>
            <a:off x="2377440" y="1554480"/>
            <a:ext cx="6492240" cy="228600"/>
          </a:xfrm>
          <a:prstGeom prst="rect">
            <a:avLst/>
          </a:prstGeom>
          <a:noFill/>
          <a:ln/>
        </p:spPr>
        <p:txBody>
          <a:bodyPr wrap="square" lIns="0" tIns="0" rIns="0" bIns="0" rtlCol="0" anchor="t"/>
          <a:lstStyle/>
          <a:p>
            <a:pPr indent="0" marL="0">
              <a:buNone/>
            </a:pPr>
            <a:r>
              <a:rPr lang="en-US" sz="1100" dirty="0">
                <a:solidFill>
                  <a:srgbClr val="1E40AF"/>
                </a:solidFill>
                <a:latin typeface="Consolas" pitchFamily="34" charset="0"/>
                <a:ea typeface="Consolas" pitchFamily="34" charset="-122"/>
                <a:cs typeface="Consolas" pitchFamily="34" charset="-120"/>
              </a:rPr>
              <a:t>Search A00021088 in 150% BOM viewer → show it sitting in all 3 source branches</a:t>
            </a:r>
            <a:endParaRPr lang="en-US" sz="1100" dirty="0"/>
          </a:p>
        </p:txBody>
      </p:sp>
      <p:sp>
        <p:nvSpPr>
          <p:cNvPr id="25" name="Shape 23"/>
          <p:cNvSpPr/>
          <p:nvPr/>
        </p:nvSpPr>
        <p:spPr>
          <a:xfrm>
            <a:off x="2240280" y="1865376"/>
            <a:ext cx="6720840" cy="621792"/>
          </a:xfrm>
          <a:prstGeom prst="rect">
            <a:avLst/>
          </a:prstGeom>
          <a:solidFill>
            <a:srgbClr val="1B2A4A"/>
          </a:solidFill>
          <a:ln w="12700">
            <a:solidFill>
              <a:srgbClr val="1B2A4A"/>
            </a:solidFill>
            <a:prstDash val="solid"/>
          </a:ln>
        </p:spPr>
      </p:sp>
      <p:sp>
        <p:nvSpPr>
          <p:cNvPr id="26" name="Text 24"/>
          <p:cNvSpPr/>
          <p:nvPr/>
        </p:nvSpPr>
        <p:spPr>
          <a:xfrm>
            <a:off x="2377440" y="1929384"/>
            <a:ext cx="1828800" cy="182880"/>
          </a:xfrm>
          <a:prstGeom prst="rect">
            <a:avLst/>
          </a:prstGeom>
          <a:noFill/>
          <a:ln/>
        </p:spPr>
        <p:txBody>
          <a:bodyPr wrap="square" lIns="0" tIns="0" rIns="0" bIns="0" rtlCol="0" anchor="ctr"/>
          <a:lstStyle/>
          <a:p>
            <a:pPr indent="0" marL="0">
              <a:buNone/>
            </a:pPr>
            <a:r>
              <a:rPr lang="en-US" sz="700" b="1" spc="200" kern="0" dirty="0">
                <a:solidFill>
                  <a:srgbClr val="94A3B8"/>
                </a:solidFill>
                <a:latin typeface="Calibri" pitchFamily="34" charset="0"/>
                <a:ea typeface="Calibri" pitchFamily="34" charset="-122"/>
                <a:cs typeface="Calibri" pitchFamily="34" charset="-120"/>
              </a:rPr>
              <a:t>ASK EXACTLY THIS</a:t>
            </a:r>
            <a:endParaRPr lang="en-US" sz="700" dirty="0"/>
          </a:p>
        </p:txBody>
      </p:sp>
      <p:sp>
        <p:nvSpPr>
          <p:cNvPr id="27" name="Text 25"/>
          <p:cNvSpPr/>
          <p:nvPr/>
        </p:nvSpPr>
        <p:spPr>
          <a:xfrm>
            <a:off x="2377440" y="2103120"/>
            <a:ext cx="6492240" cy="347472"/>
          </a:xfrm>
          <a:prstGeom prst="rect">
            <a:avLst/>
          </a:prstGeom>
          <a:noFill/>
          <a:ln/>
        </p:spPr>
        <p:txBody>
          <a:bodyPr wrap="square" lIns="0" tIns="0" rIns="0" bIns="0" rtlCol="0" anchor="t"/>
          <a:lstStyle/>
          <a:p>
            <a:pPr indent="0" marL="0">
              <a:buNone/>
            </a:pPr>
            <a:r>
              <a:rPr lang="en-US" sz="1200" b="1" i="1" dirty="0">
                <a:solidFill>
                  <a:srgbClr val="FFFFFF"/>
                </a:solidFill>
                <a:latin typeface="Calibri" pitchFamily="34" charset="0"/>
                <a:ea typeface="Calibri" pitchFamily="34" charset="-122"/>
                <a:cs typeface="Calibri" pitchFamily="34" charset="-120"/>
              </a:rPr>
              <a:t>"Does a PLB configuration exist where the machine ships without an infeed module?"</a:t>
            </a:r>
            <a:endParaRPr lang="en-US" sz="1200" dirty="0"/>
          </a:p>
        </p:txBody>
      </p:sp>
      <p:sp>
        <p:nvSpPr>
          <p:cNvPr id="28" name="Shape 26"/>
          <p:cNvSpPr/>
          <p:nvPr/>
        </p:nvSpPr>
        <p:spPr>
          <a:xfrm>
            <a:off x="2240280" y="2542032"/>
            <a:ext cx="3332988" cy="2423160"/>
          </a:xfrm>
          <a:prstGeom prst="rect">
            <a:avLst/>
          </a:prstGeom>
          <a:solidFill>
            <a:srgbClr val="FFFFFF"/>
          </a:solidFill>
          <a:ln w="12700">
            <a:solidFill>
              <a:srgbClr val="86EFAC"/>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240280" y="2542032"/>
            <a:ext cx="3332988" cy="256032"/>
          </a:xfrm>
          <a:prstGeom prst="rect">
            <a:avLst/>
          </a:prstGeom>
          <a:solidFill>
            <a:srgbClr val="065F46"/>
          </a:solidFill>
          <a:ln w="12700">
            <a:solidFill>
              <a:srgbClr val="065F46"/>
            </a:solidFill>
            <a:prstDash val="solid"/>
          </a:ln>
        </p:spPr>
      </p:sp>
      <p:sp>
        <p:nvSpPr>
          <p:cNvPr id="30" name="Text 28"/>
          <p:cNvSpPr/>
          <p:nvPr/>
        </p:nvSpPr>
        <p:spPr>
          <a:xfrm>
            <a:off x="2350008"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YES</a:t>
            </a:r>
            <a:endParaRPr lang="en-US" sz="900" dirty="0"/>
          </a:p>
        </p:txBody>
      </p:sp>
      <p:sp>
        <p:nvSpPr>
          <p:cNvPr id="31" name="Text 29"/>
          <p:cNvSpPr/>
          <p:nvPr/>
        </p:nvSpPr>
        <p:spPr>
          <a:xfrm>
            <a:off x="2350008" y="2834640"/>
            <a:ext cx="3150108" cy="694944"/>
          </a:xfrm>
          <a:prstGeom prst="rect">
            <a:avLst/>
          </a:prstGeom>
          <a:noFill/>
          <a:ln/>
        </p:spPr>
        <p:txBody>
          <a:bodyPr wrap="square" lIns="0" tIns="0" rIns="0" bIns="0" rtlCol="0" anchor="t"/>
          <a:lstStyle/>
          <a:p>
            <a:pPr indent="0" marL="0">
              <a:buNone/>
            </a:pPr>
            <a:r>
              <a:rPr lang="en-US" sz="1100" dirty="0">
                <a:solidFill>
                  <a:srgbClr val="166534"/>
                </a:solidFill>
                <a:latin typeface="Calibri" pitchFamily="34" charset="0"/>
                <a:ea typeface="Calibri" pitchFamily="34" charset="-122"/>
                <a:cs typeface="Calibri" pitchFamily="34" charset="-120"/>
              </a:rPr>
              <a:t>SME says: some orders ship without infeed</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TC action: tag ASSY_KIT_INFEED with Infeed = Yes</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5 sub-assemblies also get Infeed = Yes</a:t>
            </a:r>
            <a:endParaRPr lang="en-US" sz="1100" dirty="0"/>
          </a:p>
        </p:txBody>
      </p:sp>
      <p:sp>
        <p:nvSpPr>
          <p:cNvPr id="32" name="Shape 30"/>
          <p:cNvSpPr/>
          <p:nvPr/>
        </p:nvSpPr>
        <p:spPr>
          <a:xfrm>
            <a:off x="2350008" y="3575304"/>
            <a:ext cx="3113532" cy="0"/>
          </a:xfrm>
          <a:prstGeom prst="line">
            <a:avLst/>
          </a:prstGeom>
          <a:noFill/>
          <a:ln w="12700">
            <a:solidFill>
              <a:srgbClr val="86EFAC"/>
            </a:solidFill>
            <a:prstDash val="dash"/>
          </a:ln>
        </p:spPr>
      </p:sp>
      <p:sp>
        <p:nvSpPr>
          <p:cNvPr id="33" name="Text 31"/>
          <p:cNvSpPr/>
          <p:nvPr/>
        </p:nvSpPr>
        <p:spPr>
          <a:xfrm>
            <a:off x="2350008" y="3648456"/>
            <a:ext cx="3150108" cy="201168"/>
          </a:xfrm>
          <a:prstGeom prst="rect">
            <a:avLst/>
          </a:prstGeom>
          <a:noFill/>
          <a:ln/>
        </p:spPr>
        <p:txBody>
          <a:bodyPr wrap="square" lIns="0" tIns="0" rIns="0" bIns="0" rtlCol="0" anchor="ctr"/>
          <a:lstStyle/>
          <a:p>
            <a:pPr indent="0" marL="0">
              <a:buNone/>
            </a:pPr>
            <a:r>
              <a:rPr lang="en-US" sz="700" b="1" spc="200" kern="0" dirty="0">
                <a:solidFill>
                  <a:srgbClr val="065F46"/>
                </a:solidFill>
                <a:latin typeface="Calibri" pitchFamily="34" charset="0"/>
                <a:ea typeface="Calibri" pitchFamily="34" charset="-122"/>
                <a:cs typeface="Calibri" pitchFamily="34" charset="-120"/>
              </a:rPr>
              <a:t>IF YES — UPDATE TC</a:t>
            </a:r>
            <a:endParaRPr lang="en-US" sz="700" dirty="0"/>
          </a:p>
        </p:txBody>
      </p:sp>
      <p:sp>
        <p:nvSpPr>
          <p:cNvPr id="34" name="Text 32"/>
          <p:cNvSpPr/>
          <p:nvPr/>
        </p:nvSpPr>
        <p:spPr>
          <a:xfrm>
            <a:off x="2350008" y="3877056"/>
            <a:ext cx="3150108" cy="1014984"/>
          </a:xfrm>
          <a:prstGeom prst="rect">
            <a:avLst/>
          </a:prstGeom>
          <a:noFill/>
          <a:ln/>
        </p:spPr>
        <p:txBody>
          <a:bodyPr wrap="square" lIns="0" tIns="0" rIns="0" bIns="0" rtlCol="0" anchor="t"/>
          <a:lstStyle/>
          <a:p>
            <a:pPr marL="342900" indent="-342900">
              <a:buSzPct val="100000"/>
              <a:buChar char="•"/>
            </a:pPr>
            <a:r>
              <a:rPr lang="en-US" sz="1000" dirty="0">
                <a:solidFill>
                  <a:srgbClr val="166534"/>
                </a:solidFill>
                <a:latin typeface="Calibri" pitchFamily="34" charset="0"/>
                <a:ea typeface="Calibri" pitchFamily="34" charset="-122"/>
                <a:cs typeface="Calibri" pitchFamily="34" charset="-120"/>
              </a:rPr>
              <a:t>Infeed = Yes on 5 parts</a:t>
            </a:r>
            <a:endParaRPr lang="en-US" sz="1000" dirty="0"/>
          </a:p>
        </p:txBody>
      </p:sp>
      <p:sp>
        <p:nvSpPr>
          <p:cNvPr id="35" name="Shape 33"/>
          <p:cNvSpPr/>
          <p:nvPr/>
        </p:nvSpPr>
        <p:spPr>
          <a:xfrm>
            <a:off x="5628132" y="2542032"/>
            <a:ext cx="3332988" cy="242316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0000"/>
              </a:srgbClr>
            </a:outerShdw>
          </a:effectLst>
        </p:spPr>
      </p:sp>
      <p:sp>
        <p:nvSpPr>
          <p:cNvPr id="36" name="Shape 34"/>
          <p:cNvSpPr/>
          <p:nvPr/>
        </p:nvSpPr>
        <p:spPr>
          <a:xfrm>
            <a:off x="5628132" y="2542032"/>
            <a:ext cx="3332988" cy="256032"/>
          </a:xfrm>
          <a:prstGeom prst="rect">
            <a:avLst/>
          </a:prstGeom>
          <a:solidFill>
            <a:srgbClr val="991B1B"/>
          </a:solidFill>
          <a:ln w="12700">
            <a:solidFill>
              <a:srgbClr val="991B1B"/>
            </a:solidFill>
            <a:prstDash val="solid"/>
          </a:ln>
        </p:spPr>
      </p:sp>
      <p:sp>
        <p:nvSpPr>
          <p:cNvPr id="37" name="Text 35"/>
          <p:cNvSpPr/>
          <p:nvPr/>
        </p:nvSpPr>
        <p:spPr>
          <a:xfrm>
            <a:off x="5737860"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NO</a:t>
            </a:r>
            <a:endParaRPr lang="en-US" sz="900" dirty="0"/>
          </a:p>
        </p:txBody>
      </p:sp>
      <p:sp>
        <p:nvSpPr>
          <p:cNvPr id="38" name="Text 36"/>
          <p:cNvSpPr/>
          <p:nvPr/>
        </p:nvSpPr>
        <p:spPr>
          <a:xfrm>
            <a:off x="5737860" y="2834640"/>
            <a:ext cx="3113532" cy="694944"/>
          </a:xfrm>
          <a:prstGeom prst="rect">
            <a:avLst/>
          </a:prstGeom>
          <a:noFill/>
          <a:ln/>
        </p:spPr>
        <p:txBody>
          <a:bodyPr wrap="square" lIns="0" tIns="0" rIns="0" bIns="0" rtlCol="0" anchor="t"/>
          <a:lstStyle/>
          <a:p>
            <a:pPr indent="0" marL="0">
              <a:buNone/>
            </a:pPr>
            <a:r>
              <a:rPr lang="en-US" sz="1100" dirty="0">
                <a:solidFill>
                  <a:srgbClr val="991B1B"/>
                </a:solidFill>
                <a:latin typeface="Calibri" pitchFamily="34" charset="0"/>
                <a:ea typeface="Calibri" pitchFamily="34" charset="-122"/>
                <a:cs typeface="Calibri" pitchFamily="34" charset="-120"/>
              </a:rPr>
              <a:t>SME says: infeed always ships</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TC action: ASSY_KIT_INFEED becomes COMMON — no variant condition needed</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5 PENDING_SME parts resolved immediately</a:t>
            </a:r>
            <a:endParaRPr lang="en-US" sz="1100" dirty="0"/>
          </a:p>
        </p:txBody>
      </p:sp>
      <p:sp>
        <p:nvSpPr>
          <p:cNvPr id="39" name="Shape 37"/>
          <p:cNvSpPr/>
          <p:nvPr/>
        </p:nvSpPr>
        <p:spPr>
          <a:xfrm>
            <a:off x="5737860" y="3575304"/>
            <a:ext cx="3076956" cy="0"/>
          </a:xfrm>
          <a:prstGeom prst="line">
            <a:avLst/>
          </a:prstGeom>
          <a:noFill/>
          <a:ln w="12700">
            <a:solidFill>
              <a:srgbClr val="FCA5A5"/>
            </a:solidFill>
            <a:prstDash val="dash"/>
          </a:ln>
        </p:spPr>
      </p:sp>
      <p:sp>
        <p:nvSpPr>
          <p:cNvPr id="40" name="Text 38"/>
          <p:cNvSpPr/>
          <p:nvPr/>
        </p:nvSpPr>
        <p:spPr>
          <a:xfrm>
            <a:off x="5737860" y="3648456"/>
            <a:ext cx="3113532" cy="201168"/>
          </a:xfrm>
          <a:prstGeom prst="rect">
            <a:avLst/>
          </a:prstGeom>
          <a:noFill/>
          <a:ln/>
        </p:spPr>
        <p:txBody>
          <a:bodyPr wrap="square" lIns="0" tIns="0" rIns="0" bIns="0" rtlCol="0" anchor="ctr"/>
          <a:lstStyle/>
          <a:p>
            <a:pPr indent="0" marL="0">
              <a:buNone/>
            </a:pPr>
            <a:r>
              <a:rPr lang="en-US" sz="700" b="1" spc="200" kern="0" dirty="0">
                <a:solidFill>
                  <a:srgbClr val="991B1B"/>
                </a:solidFill>
                <a:latin typeface="Calibri" pitchFamily="34" charset="0"/>
                <a:ea typeface="Calibri" pitchFamily="34" charset="-122"/>
                <a:cs typeface="Calibri" pitchFamily="34" charset="-120"/>
              </a:rPr>
              <a:t>IF NO — UPDATE TC</a:t>
            </a:r>
            <a:endParaRPr lang="en-US" sz="700" dirty="0"/>
          </a:p>
        </p:txBody>
      </p:sp>
      <p:sp>
        <p:nvSpPr>
          <p:cNvPr id="41" name="Text 39"/>
          <p:cNvSpPr/>
          <p:nvPr/>
        </p:nvSpPr>
        <p:spPr>
          <a:xfrm>
            <a:off x="5737860" y="3877056"/>
            <a:ext cx="3113532" cy="1014984"/>
          </a:xfrm>
          <a:prstGeom prst="rect">
            <a:avLst/>
          </a:prstGeom>
          <a:noFill/>
          <a:ln/>
        </p:spPr>
        <p:txBody>
          <a:bodyPr wrap="square" lIns="0" tIns="0" rIns="0" bIns="0" rtlCol="0" anchor="t"/>
          <a:lstStyle/>
          <a:p>
            <a:pPr marL="342900" indent="-342900">
              <a:buSzPct val="100000"/>
              <a:buChar char="•"/>
            </a:pPr>
            <a:r>
              <a:rPr lang="en-US" sz="1000" dirty="0">
                <a:solidFill>
                  <a:srgbClr val="991B1B"/>
                </a:solidFill>
                <a:latin typeface="Calibri" pitchFamily="34" charset="0"/>
                <a:ea typeface="Calibri" pitchFamily="34" charset="-122"/>
                <a:cs typeface="Calibri" pitchFamily="34" charset="-120"/>
              </a:rPr>
              <a:t>COMMON, no rule needed</a:t>
            </a:r>
            <a:endParaRPr lang="en-US" sz="1000" dirty="0"/>
          </a:p>
        </p:txBody>
      </p:sp>
      <p:sp>
        <p:nvSpPr>
          <p:cNvPr id="42" name="Shape 40"/>
          <p:cNvSpPr/>
          <p:nvPr/>
        </p:nvSpPr>
        <p:spPr>
          <a:xfrm>
            <a:off x="0" y="4974336"/>
            <a:ext cx="9144000" cy="169164"/>
          </a:xfrm>
          <a:prstGeom prst="rect">
            <a:avLst/>
          </a:prstGeom>
          <a:solidFill>
            <a:srgbClr val="0D7A6B"/>
          </a:solidFill>
          <a:ln w="12700">
            <a:solidFill>
              <a:srgbClr val="0D7A6B"/>
            </a:solidFill>
            <a:prstDash val="solid"/>
          </a:ln>
        </p:spPr>
      </p:sp>
      <p:sp>
        <p:nvSpPr>
          <p:cNvPr id="43" name="Text 41"/>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1B2A4A"/>
          </a:solidFill>
          <a:ln w="12700">
            <a:solidFill>
              <a:srgbClr val="1B2A4A"/>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800" b="1" dirty="0">
                <a:solidFill>
                  <a:srgbClr val="FFFFFF"/>
                </a:solidFill>
                <a:latin typeface="Consolas" pitchFamily="34" charset="0"/>
                <a:ea typeface="Consolas" pitchFamily="34" charset="-122"/>
                <a:cs typeface="Consolas" pitchFamily="34" charset="-120"/>
              </a:rPr>
              <a:t>Q2</a:t>
            </a:r>
            <a:endParaRPr lang="en-US" sz="68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FEE2E2"/>
          </a:solidFill>
          <a:ln w="12700">
            <a:solidFill>
              <a:srgbClr val="991B1B"/>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991B1B"/>
                </a:solidFill>
                <a:latin typeface="Calibri" pitchFamily="34" charset="0"/>
                <a:ea typeface="Calibri" pitchFamily="34" charset="-122"/>
                <a:cs typeface="Calibri" pitchFamily="34" charset="-120"/>
              </a:rPr>
              <a:t>HIGH</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64748B"/>
                </a:solidFill>
                <a:latin typeface="Calibri" pitchFamily="34" charset="0"/>
                <a:ea typeface="Calibri" pitchFamily="34" charset="-122"/>
                <a:cs typeface="Calibri" pitchFamily="34" charset="-120"/>
              </a:rPr>
              <a:t>INFEED</a:t>
            </a:r>
            <a:endParaRPr lang="en-US" sz="800" dirty="0"/>
          </a:p>
        </p:txBody>
      </p:sp>
      <p:sp>
        <p:nvSpPr>
          <p:cNvPr id="8" name="Shape 6"/>
          <p:cNvSpPr/>
          <p:nvPr/>
        </p:nvSpPr>
        <p:spPr>
          <a:xfrm>
            <a:off x="256032" y="2267712"/>
            <a:ext cx="1591056" cy="347472"/>
          </a:xfrm>
          <a:prstGeom prst="rect">
            <a:avLst/>
          </a:prstGeom>
          <a:solidFill>
            <a:srgbClr val="0F3460"/>
          </a:solidFill>
          <a:ln w="12700">
            <a:solidFill>
              <a:srgbClr val="0F3460"/>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5 min</a:t>
            </a:r>
            <a:endParaRPr lang="en-US" sz="1300" dirty="0"/>
          </a:p>
        </p:txBody>
      </p:sp>
      <p:sp>
        <p:nvSpPr>
          <p:cNvPr id="10" name="Shape 8"/>
          <p:cNvSpPr/>
          <p:nvPr/>
        </p:nvSpPr>
        <p:spPr>
          <a:xfrm>
            <a:off x="164592" y="2788920"/>
            <a:ext cx="1773936" cy="1417320"/>
          </a:xfrm>
          <a:prstGeom prst="rect">
            <a:avLst/>
          </a:prstGeom>
          <a:solidFill>
            <a:srgbClr val="1E3A5F"/>
          </a:solidFill>
          <a:ln w="12700">
            <a:solidFill>
              <a:srgbClr val="1E3A5F"/>
            </a:solidFill>
            <a:prstDash val="solid"/>
          </a:ln>
        </p:spPr>
      </p:sp>
      <p:sp>
        <p:nvSpPr>
          <p:cNvPr id="11" name="Text 9"/>
          <p:cNvSpPr/>
          <p:nvPr/>
        </p:nvSpPr>
        <p:spPr>
          <a:xfrm>
            <a:off x="164592" y="2834640"/>
            <a:ext cx="1773936" cy="201168"/>
          </a:xfrm>
          <a:prstGeom prst="rect">
            <a:avLst/>
          </a:prstGeom>
          <a:noFill/>
          <a:ln/>
        </p:spPr>
        <p:txBody>
          <a:bodyPr wrap="square" lIns="0" tIns="0" rIns="0" bIns="0" rtlCol="0" anchor="ctr"/>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IF STUCK</a:t>
            </a:r>
            <a:endParaRPr lang="en-US" sz="700" dirty="0"/>
          </a:p>
        </p:txBody>
      </p:sp>
      <p:sp>
        <p:nvSpPr>
          <p:cNvPr id="12" name="Text 10"/>
          <p:cNvSpPr/>
          <p:nvPr/>
        </p:nvSpPr>
        <p:spPr>
          <a:xfrm>
            <a:off x="228600" y="3054096"/>
            <a:ext cx="1645920" cy="1097280"/>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Show the evidence:</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"Same Part ID in both 32FT and 10FT — that is why I believe it is Infeed driven, not Length driven."</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Ask them to confirm or correct.</a:t>
            </a:r>
            <a:endParaRPr lang="en-US" sz="900" dirty="0"/>
          </a:p>
        </p:txBody>
      </p:sp>
      <p:sp>
        <p:nvSpPr>
          <p:cNvPr id="13" name="Shape 11"/>
          <p:cNvSpPr/>
          <p:nvPr/>
        </p:nvSpPr>
        <p:spPr>
          <a:xfrm>
            <a:off x="164592" y="4315968"/>
            <a:ext cx="1773936" cy="658368"/>
          </a:xfrm>
          <a:prstGeom prst="rect">
            <a:avLst/>
          </a:prstGeom>
          <a:solidFill>
            <a:srgbClr val="0D7A6B"/>
          </a:solidFill>
          <a:ln w="12700">
            <a:solidFill>
              <a:srgbClr val="0D7A6B"/>
            </a:solidFill>
            <a:prstDash val="solid"/>
          </a:ln>
        </p:spPr>
      </p:sp>
      <p:sp>
        <p:nvSpPr>
          <p:cNvPr id="14" name="Text 12"/>
          <p:cNvSpPr/>
          <p:nvPr/>
        </p:nvSpPr>
        <p:spPr>
          <a:xfrm>
            <a:off x="164592" y="4343400"/>
            <a:ext cx="1773936" cy="201168"/>
          </a:xfrm>
          <a:prstGeom prst="rect">
            <a:avLst/>
          </a:prstGeom>
          <a:noFill/>
          <a:ln/>
        </p:spPr>
        <p:txBody>
          <a:bodyPr wrap="square" lIns="0" tIns="0" rIns="0" bIns="0" rtlCol="0" anchor="ctr"/>
          <a:lstStyle/>
          <a:p>
            <a:pPr algn="ctr" indent="0" marL="0">
              <a:buNone/>
            </a:pPr>
            <a:r>
              <a:rPr lang="en-US" sz="700" spc="200" kern="0" dirty="0">
                <a:solidFill>
                  <a:srgbClr val="A7F3D0"/>
                </a:solidFill>
                <a:latin typeface="Calibri" pitchFamily="34" charset="0"/>
                <a:ea typeface="Calibri" pitchFamily="34" charset="-122"/>
                <a:cs typeface="Calibri" pitchFamily="34" charset="-120"/>
              </a:rPr>
              <a:t>TC ACTION</a:t>
            </a:r>
            <a:endParaRPr lang="en-US" sz="700" dirty="0"/>
          </a:p>
        </p:txBody>
      </p:sp>
      <p:sp>
        <p:nvSpPr>
          <p:cNvPr id="15" name="Text 13"/>
          <p:cNvSpPr/>
          <p:nvPr/>
        </p:nvSpPr>
        <p:spPr>
          <a:xfrm>
            <a:off x="201168" y="4553712"/>
            <a:ext cx="1719072" cy="384048"/>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YES: Infeed = Yes — Rule 16 confirmed</a:t>
            </a:r>
            <a:endParaRPr lang="en-US" sz="900" dirty="0"/>
          </a:p>
          <a:p>
            <a:pPr indent="0" marL="0">
              <a:buNone/>
            </a:pP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NO: Ask which lengths — update formula to Length = X AND Infeed = Yes</a:t>
            </a:r>
            <a:endParaRPr lang="en-US" sz="900" dirty="0"/>
          </a:p>
        </p:txBody>
      </p:sp>
      <p:sp>
        <p:nvSpPr>
          <p:cNvPr id="16" name="Shape 14"/>
          <p:cNvSpPr/>
          <p:nvPr/>
        </p:nvSpPr>
        <p:spPr>
          <a:xfrm>
            <a:off x="2240280" y="0"/>
            <a:ext cx="6720840" cy="384048"/>
          </a:xfrm>
          <a:prstGeom prst="rect">
            <a:avLst/>
          </a:prstGeom>
          <a:solidFill>
            <a:srgbClr val="0D7A6B"/>
          </a:solidFill>
          <a:ln w="12700">
            <a:solidFill>
              <a:srgbClr val="0D7A6B"/>
            </a:solidFill>
            <a:prstDash val="solid"/>
          </a:ln>
        </p:spPr>
      </p:sp>
      <p:sp>
        <p:nvSpPr>
          <p:cNvPr id="17" name="Text 15"/>
          <p:cNvSpPr/>
          <p:nvPr/>
        </p:nvSpPr>
        <p:spPr>
          <a:xfrm>
            <a:off x="2377440" y="0"/>
            <a:ext cx="64465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Infeed Extension — What drives inclusion?</a:t>
            </a:r>
            <a:endParaRPr lang="en-US" sz="1400" dirty="0"/>
          </a:p>
        </p:txBody>
      </p:sp>
      <p:sp>
        <p:nvSpPr>
          <p:cNvPr id="18" name="Shape 16"/>
          <p:cNvSpPr/>
          <p:nvPr/>
        </p:nvSpPr>
        <p:spPr>
          <a:xfrm>
            <a:off x="2240280" y="438912"/>
            <a:ext cx="6720840" cy="822960"/>
          </a:xfrm>
          <a:prstGeom prst="rect">
            <a:avLst/>
          </a:prstGeom>
          <a:solidFill>
            <a:srgbClr val="FFFFFF"/>
          </a:solidFill>
          <a:ln w="12700">
            <a:solidFill>
              <a:srgbClr val="CBD5E1"/>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2240280" y="438912"/>
            <a:ext cx="54864" cy="822960"/>
          </a:xfrm>
          <a:prstGeom prst="rect">
            <a:avLst/>
          </a:prstGeom>
          <a:solidFill>
            <a:srgbClr val="1B2A4A"/>
          </a:solidFill>
          <a:ln w="12700">
            <a:solidFill>
              <a:srgbClr val="1B2A4A"/>
            </a:solidFill>
            <a:prstDash val="solid"/>
          </a:ln>
        </p:spPr>
      </p:sp>
      <p:sp>
        <p:nvSpPr>
          <p:cNvPr id="20" name="Text 18"/>
          <p:cNvSpPr/>
          <p:nvPr/>
        </p:nvSpPr>
        <p:spPr>
          <a:xfrm>
            <a:off x="2377440" y="493776"/>
            <a:ext cx="1097280" cy="182880"/>
          </a:xfrm>
          <a:prstGeom prst="rect">
            <a:avLst/>
          </a:prstGeom>
          <a:noFill/>
          <a:ln/>
        </p:spPr>
        <p:txBody>
          <a:bodyPr wrap="square" lIns="0" tIns="0" rIns="0" bIns="0" rtlCol="0" anchor="ctr"/>
          <a:lstStyle/>
          <a:p>
            <a:pPr indent="0" marL="0">
              <a:buNone/>
            </a:pPr>
            <a:r>
              <a:rPr lang="en-US" sz="700" b="1" spc="200" kern="0" dirty="0">
                <a:solidFill>
                  <a:srgbClr val="1B2A4A"/>
                </a:solidFill>
                <a:latin typeface="Calibri" pitchFamily="34" charset="0"/>
                <a:ea typeface="Calibri" pitchFamily="34" charset="-122"/>
                <a:cs typeface="Calibri" pitchFamily="34" charset="-120"/>
              </a:rPr>
              <a:t>SAY TO OPEN</a:t>
            </a:r>
            <a:endParaRPr lang="en-US" sz="700" dirty="0"/>
          </a:p>
        </p:txBody>
      </p:sp>
      <p:sp>
        <p:nvSpPr>
          <p:cNvPr id="21" name="Text 19"/>
          <p:cNvSpPr/>
          <p:nvPr/>
        </p:nvSpPr>
        <p:spPr>
          <a:xfrm>
            <a:off x="2377440" y="694944"/>
            <a:ext cx="6492240" cy="521208"/>
          </a:xfrm>
          <a:prstGeom prst="rect">
            <a:avLst/>
          </a:prstGeom>
          <a:noFill/>
          <a:ln/>
        </p:spPr>
        <p:txBody>
          <a:bodyPr wrap="square" lIns="0" tIns="0" rIns="0" bIns="0" rtlCol="0" anchor="t"/>
          <a:lstStyle/>
          <a:p>
            <a:pPr indent="0" marL="0">
              <a:buNone/>
            </a:pPr>
            <a:r>
              <a:rPr lang="en-US" sz="1200" i="1" dirty="0">
                <a:solidFill>
                  <a:srgbClr val="1B2A4A"/>
                </a:solidFill>
                <a:latin typeface="Calibri" pitchFamily="34" charset="0"/>
                <a:ea typeface="Calibri" pitchFamily="34" charset="-122"/>
                <a:cs typeface="Calibri" pitchFamily="34" charset="-120"/>
              </a:rPr>
              <a:t>We originally assumed the infeed extension was driven by Length = 32Ft. But when we added the 10FT BOM, the exact same Part ID appeared there too — which proves Length is not the driver.</a:t>
            </a:r>
            <a:endParaRPr lang="en-US" sz="1200" dirty="0"/>
          </a:p>
        </p:txBody>
      </p:sp>
      <p:sp>
        <p:nvSpPr>
          <p:cNvPr id="22" name="Shape 20"/>
          <p:cNvSpPr/>
          <p:nvPr/>
        </p:nvSpPr>
        <p:spPr>
          <a:xfrm>
            <a:off x="2240280" y="1298448"/>
            <a:ext cx="6720840" cy="530352"/>
          </a:xfrm>
          <a:prstGeom prst="rect">
            <a:avLst/>
          </a:prstGeom>
          <a:solidFill>
            <a:srgbClr val="EFF6FF"/>
          </a:solidFill>
          <a:ln w="12700">
            <a:solidFill>
              <a:srgbClr val="BFDBFE"/>
            </a:solidFill>
            <a:prstDash val="solid"/>
          </a:ln>
        </p:spPr>
      </p:sp>
      <p:sp>
        <p:nvSpPr>
          <p:cNvPr id="23" name="Text 21"/>
          <p:cNvSpPr/>
          <p:nvPr/>
        </p:nvSpPr>
        <p:spPr>
          <a:xfrm>
            <a:off x="2377440" y="1362456"/>
            <a:ext cx="1828800" cy="182880"/>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SHOW ON BOM VIEWER</a:t>
            </a:r>
            <a:endParaRPr lang="en-US" sz="700" dirty="0"/>
          </a:p>
        </p:txBody>
      </p:sp>
      <p:sp>
        <p:nvSpPr>
          <p:cNvPr id="24" name="Text 22"/>
          <p:cNvSpPr/>
          <p:nvPr/>
        </p:nvSpPr>
        <p:spPr>
          <a:xfrm>
            <a:off x="2377440" y="1554480"/>
            <a:ext cx="6492240" cy="228600"/>
          </a:xfrm>
          <a:prstGeom prst="rect">
            <a:avLst/>
          </a:prstGeom>
          <a:noFill/>
          <a:ln/>
        </p:spPr>
        <p:txBody>
          <a:bodyPr wrap="square" lIns="0" tIns="0" rIns="0" bIns="0" rtlCol="0" anchor="t"/>
          <a:lstStyle/>
          <a:p>
            <a:pPr indent="0" marL="0">
              <a:buNone/>
            </a:pPr>
            <a:r>
              <a:rPr lang="en-US" sz="1100" dirty="0">
                <a:solidFill>
                  <a:srgbClr val="1E40AF"/>
                </a:solidFill>
                <a:latin typeface="Consolas" pitchFamily="34" charset="0"/>
                <a:ea typeface="Consolas" pitchFamily="34" charset="-122"/>
                <a:cs typeface="Consolas" pitchFamily="34" charset="-120"/>
              </a:rPr>
              <a:t>Search A00031581 → show it appears in both 32FT LH and 10FT LH branches — NOT in 6FT EU</a:t>
            </a:r>
            <a:endParaRPr lang="en-US" sz="1100" dirty="0"/>
          </a:p>
        </p:txBody>
      </p:sp>
      <p:sp>
        <p:nvSpPr>
          <p:cNvPr id="25" name="Shape 23"/>
          <p:cNvSpPr/>
          <p:nvPr/>
        </p:nvSpPr>
        <p:spPr>
          <a:xfrm>
            <a:off x="2240280" y="1865376"/>
            <a:ext cx="6720840" cy="621792"/>
          </a:xfrm>
          <a:prstGeom prst="rect">
            <a:avLst/>
          </a:prstGeom>
          <a:solidFill>
            <a:srgbClr val="1B2A4A"/>
          </a:solidFill>
          <a:ln w="12700">
            <a:solidFill>
              <a:srgbClr val="1B2A4A"/>
            </a:solidFill>
            <a:prstDash val="solid"/>
          </a:ln>
        </p:spPr>
      </p:sp>
      <p:sp>
        <p:nvSpPr>
          <p:cNvPr id="26" name="Text 24"/>
          <p:cNvSpPr/>
          <p:nvPr/>
        </p:nvSpPr>
        <p:spPr>
          <a:xfrm>
            <a:off x="2377440" y="1929384"/>
            <a:ext cx="1828800" cy="182880"/>
          </a:xfrm>
          <a:prstGeom prst="rect">
            <a:avLst/>
          </a:prstGeom>
          <a:noFill/>
          <a:ln/>
        </p:spPr>
        <p:txBody>
          <a:bodyPr wrap="square" lIns="0" tIns="0" rIns="0" bIns="0" rtlCol="0" anchor="ctr"/>
          <a:lstStyle/>
          <a:p>
            <a:pPr indent="0" marL="0">
              <a:buNone/>
            </a:pPr>
            <a:r>
              <a:rPr lang="en-US" sz="700" b="1" spc="200" kern="0" dirty="0">
                <a:solidFill>
                  <a:srgbClr val="94A3B8"/>
                </a:solidFill>
                <a:latin typeface="Calibri" pitchFamily="34" charset="0"/>
                <a:ea typeface="Calibri" pitchFamily="34" charset="-122"/>
                <a:cs typeface="Calibri" pitchFamily="34" charset="-120"/>
              </a:rPr>
              <a:t>ASK EXACTLY THIS</a:t>
            </a:r>
            <a:endParaRPr lang="en-US" sz="700" dirty="0"/>
          </a:p>
        </p:txBody>
      </p:sp>
      <p:sp>
        <p:nvSpPr>
          <p:cNvPr id="27" name="Text 25"/>
          <p:cNvSpPr/>
          <p:nvPr/>
        </p:nvSpPr>
        <p:spPr>
          <a:xfrm>
            <a:off x="2377440" y="2103120"/>
            <a:ext cx="6492240" cy="347472"/>
          </a:xfrm>
          <a:prstGeom prst="rect">
            <a:avLst/>
          </a:prstGeom>
          <a:noFill/>
          <a:ln/>
        </p:spPr>
        <p:txBody>
          <a:bodyPr wrap="square" lIns="0" tIns="0" rIns="0" bIns="0" rtlCol="0" anchor="t"/>
          <a:lstStyle/>
          <a:p>
            <a:pPr indent="0" marL="0">
              <a:buNone/>
            </a:pPr>
            <a:r>
              <a:rPr lang="en-US" sz="1200" b="1" i="1" dirty="0">
                <a:solidFill>
                  <a:srgbClr val="FFFFFF"/>
                </a:solidFill>
                <a:latin typeface="Calibri" pitchFamily="34" charset="0"/>
                <a:ea typeface="Calibri" pitchFamily="34" charset="-122"/>
                <a:cs typeface="Calibri" pitchFamily="34" charset="-120"/>
              </a:rPr>
              <a:t>"Is the infeed extension included whenever Infeed = Yes — regardless of machine length?"</a:t>
            </a:r>
            <a:endParaRPr lang="en-US" sz="1200" dirty="0"/>
          </a:p>
        </p:txBody>
      </p:sp>
      <p:sp>
        <p:nvSpPr>
          <p:cNvPr id="28" name="Shape 26"/>
          <p:cNvSpPr/>
          <p:nvPr/>
        </p:nvSpPr>
        <p:spPr>
          <a:xfrm>
            <a:off x="2240280" y="2542032"/>
            <a:ext cx="3332988" cy="2423160"/>
          </a:xfrm>
          <a:prstGeom prst="rect">
            <a:avLst/>
          </a:prstGeom>
          <a:solidFill>
            <a:srgbClr val="FFFFFF"/>
          </a:solidFill>
          <a:ln w="12700">
            <a:solidFill>
              <a:srgbClr val="86EFAC"/>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240280" y="2542032"/>
            <a:ext cx="3332988" cy="256032"/>
          </a:xfrm>
          <a:prstGeom prst="rect">
            <a:avLst/>
          </a:prstGeom>
          <a:solidFill>
            <a:srgbClr val="065F46"/>
          </a:solidFill>
          <a:ln w="12700">
            <a:solidFill>
              <a:srgbClr val="065F46"/>
            </a:solidFill>
            <a:prstDash val="solid"/>
          </a:ln>
        </p:spPr>
      </p:sp>
      <p:sp>
        <p:nvSpPr>
          <p:cNvPr id="30" name="Text 28"/>
          <p:cNvSpPr/>
          <p:nvPr/>
        </p:nvSpPr>
        <p:spPr>
          <a:xfrm>
            <a:off x="2350008"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YES</a:t>
            </a:r>
            <a:endParaRPr lang="en-US" sz="900" dirty="0"/>
          </a:p>
        </p:txBody>
      </p:sp>
      <p:sp>
        <p:nvSpPr>
          <p:cNvPr id="31" name="Text 29"/>
          <p:cNvSpPr/>
          <p:nvPr/>
        </p:nvSpPr>
        <p:spPr>
          <a:xfrm>
            <a:off x="2350008" y="2834640"/>
            <a:ext cx="3150108" cy="694944"/>
          </a:xfrm>
          <a:prstGeom prst="rect">
            <a:avLst/>
          </a:prstGeom>
          <a:noFill/>
          <a:ln/>
        </p:spPr>
        <p:txBody>
          <a:bodyPr wrap="square" lIns="0" tIns="0" rIns="0" bIns="0" rtlCol="0" anchor="t"/>
          <a:lstStyle/>
          <a:p>
            <a:pPr indent="0" marL="0">
              <a:buNone/>
            </a:pPr>
            <a:r>
              <a:rPr lang="en-US" sz="1100" dirty="0">
                <a:solidFill>
                  <a:srgbClr val="166534"/>
                </a:solidFill>
                <a:latin typeface="Calibri" pitchFamily="34" charset="0"/>
                <a:ea typeface="Calibri" pitchFamily="34" charset="-122"/>
                <a:cs typeface="Calibri" pitchFamily="34" charset="-120"/>
              </a:rPr>
              <a:t>SME says: yes, extension comes with infeed on any length</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TC action: formula = Infeed = Yes</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Covers 4 parts: A00031581, A00029953, A00032894, A00032762</a:t>
            </a:r>
            <a:endParaRPr lang="en-US" sz="1100" dirty="0"/>
          </a:p>
        </p:txBody>
      </p:sp>
      <p:sp>
        <p:nvSpPr>
          <p:cNvPr id="32" name="Shape 30"/>
          <p:cNvSpPr/>
          <p:nvPr/>
        </p:nvSpPr>
        <p:spPr>
          <a:xfrm>
            <a:off x="2350008" y="3575304"/>
            <a:ext cx="3113532" cy="0"/>
          </a:xfrm>
          <a:prstGeom prst="line">
            <a:avLst/>
          </a:prstGeom>
          <a:noFill/>
          <a:ln w="12700">
            <a:solidFill>
              <a:srgbClr val="86EFAC"/>
            </a:solidFill>
            <a:prstDash val="dash"/>
          </a:ln>
        </p:spPr>
      </p:sp>
      <p:sp>
        <p:nvSpPr>
          <p:cNvPr id="33" name="Text 31"/>
          <p:cNvSpPr/>
          <p:nvPr/>
        </p:nvSpPr>
        <p:spPr>
          <a:xfrm>
            <a:off x="2350008" y="3648456"/>
            <a:ext cx="3150108" cy="201168"/>
          </a:xfrm>
          <a:prstGeom prst="rect">
            <a:avLst/>
          </a:prstGeom>
          <a:noFill/>
          <a:ln/>
        </p:spPr>
        <p:txBody>
          <a:bodyPr wrap="square" lIns="0" tIns="0" rIns="0" bIns="0" rtlCol="0" anchor="ctr"/>
          <a:lstStyle/>
          <a:p>
            <a:pPr indent="0" marL="0">
              <a:buNone/>
            </a:pPr>
            <a:r>
              <a:rPr lang="en-US" sz="700" b="1" spc="200" kern="0" dirty="0">
                <a:solidFill>
                  <a:srgbClr val="065F46"/>
                </a:solidFill>
                <a:latin typeface="Calibri" pitchFamily="34" charset="0"/>
                <a:ea typeface="Calibri" pitchFamily="34" charset="-122"/>
                <a:cs typeface="Calibri" pitchFamily="34" charset="-120"/>
              </a:rPr>
              <a:t>IF YES — UPDATE TC</a:t>
            </a:r>
            <a:endParaRPr lang="en-US" sz="700" dirty="0"/>
          </a:p>
        </p:txBody>
      </p:sp>
      <p:sp>
        <p:nvSpPr>
          <p:cNvPr id="34" name="Text 32"/>
          <p:cNvSpPr/>
          <p:nvPr/>
        </p:nvSpPr>
        <p:spPr>
          <a:xfrm>
            <a:off x="2350008" y="3877056"/>
            <a:ext cx="3150108" cy="1014984"/>
          </a:xfrm>
          <a:prstGeom prst="rect">
            <a:avLst/>
          </a:prstGeom>
          <a:noFill/>
          <a:ln/>
        </p:spPr>
        <p:txBody>
          <a:bodyPr wrap="square" lIns="0" tIns="0" rIns="0" bIns="0" rtlCol="0" anchor="t"/>
          <a:lstStyle/>
          <a:p>
            <a:pPr marL="342900" indent="-342900">
              <a:buSzPct val="100000"/>
              <a:buChar char="•"/>
            </a:pPr>
            <a:r>
              <a:rPr lang="en-US" sz="1000" dirty="0">
                <a:solidFill>
                  <a:srgbClr val="166534"/>
                </a:solidFill>
                <a:latin typeface="Calibri" pitchFamily="34" charset="0"/>
                <a:ea typeface="Calibri" pitchFamily="34" charset="-122"/>
                <a:cs typeface="Calibri" pitchFamily="34" charset="-120"/>
              </a:rPr>
              <a:t>Infeed = Yes — Rule 16 confirmed</a:t>
            </a:r>
            <a:endParaRPr lang="en-US" sz="1000" dirty="0"/>
          </a:p>
        </p:txBody>
      </p:sp>
      <p:sp>
        <p:nvSpPr>
          <p:cNvPr id="35" name="Shape 33"/>
          <p:cNvSpPr/>
          <p:nvPr/>
        </p:nvSpPr>
        <p:spPr>
          <a:xfrm>
            <a:off x="5628132" y="2542032"/>
            <a:ext cx="3332988" cy="242316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0000"/>
              </a:srgbClr>
            </a:outerShdw>
          </a:effectLst>
        </p:spPr>
      </p:sp>
      <p:sp>
        <p:nvSpPr>
          <p:cNvPr id="36" name="Shape 34"/>
          <p:cNvSpPr/>
          <p:nvPr/>
        </p:nvSpPr>
        <p:spPr>
          <a:xfrm>
            <a:off x="5628132" y="2542032"/>
            <a:ext cx="3332988" cy="256032"/>
          </a:xfrm>
          <a:prstGeom prst="rect">
            <a:avLst/>
          </a:prstGeom>
          <a:solidFill>
            <a:srgbClr val="991B1B"/>
          </a:solidFill>
          <a:ln w="12700">
            <a:solidFill>
              <a:srgbClr val="991B1B"/>
            </a:solidFill>
            <a:prstDash val="solid"/>
          </a:ln>
        </p:spPr>
      </p:sp>
      <p:sp>
        <p:nvSpPr>
          <p:cNvPr id="37" name="Text 35"/>
          <p:cNvSpPr/>
          <p:nvPr/>
        </p:nvSpPr>
        <p:spPr>
          <a:xfrm>
            <a:off x="5737860"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NO</a:t>
            </a:r>
            <a:endParaRPr lang="en-US" sz="900" dirty="0"/>
          </a:p>
        </p:txBody>
      </p:sp>
      <p:sp>
        <p:nvSpPr>
          <p:cNvPr id="38" name="Text 36"/>
          <p:cNvSpPr/>
          <p:nvPr/>
        </p:nvSpPr>
        <p:spPr>
          <a:xfrm>
            <a:off x="5737860" y="2834640"/>
            <a:ext cx="3113532" cy="694944"/>
          </a:xfrm>
          <a:prstGeom prst="rect">
            <a:avLst/>
          </a:prstGeom>
          <a:noFill/>
          <a:ln/>
        </p:spPr>
        <p:txBody>
          <a:bodyPr wrap="square" lIns="0" tIns="0" rIns="0" bIns="0" rtlCol="0" anchor="t"/>
          <a:lstStyle/>
          <a:p>
            <a:pPr indent="0" marL="0">
              <a:buNone/>
            </a:pPr>
            <a:r>
              <a:rPr lang="en-US" sz="1100" dirty="0">
                <a:solidFill>
                  <a:srgbClr val="991B1B"/>
                </a:solidFill>
                <a:latin typeface="Calibri" pitchFamily="34" charset="0"/>
                <a:ea typeface="Calibri" pitchFamily="34" charset="-122"/>
                <a:cs typeface="Calibri" pitchFamily="34" charset="-120"/>
              </a:rPr>
              <a:t>SME says: extension is only on certain lengths</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TC action: ask which lengths — update formula to Length = X AND Infeed = Yes</a:t>
            </a:r>
            <a:endParaRPr lang="en-US" sz="1100" dirty="0"/>
          </a:p>
        </p:txBody>
      </p:sp>
      <p:sp>
        <p:nvSpPr>
          <p:cNvPr id="39" name="Shape 37"/>
          <p:cNvSpPr/>
          <p:nvPr/>
        </p:nvSpPr>
        <p:spPr>
          <a:xfrm>
            <a:off x="5737860" y="3575304"/>
            <a:ext cx="3076956" cy="0"/>
          </a:xfrm>
          <a:prstGeom prst="line">
            <a:avLst/>
          </a:prstGeom>
          <a:noFill/>
          <a:ln w="12700">
            <a:solidFill>
              <a:srgbClr val="FCA5A5"/>
            </a:solidFill>
            <a:prstDash val="dash"/>
          </a:ln>
        </p:spPr>
      </p:sp>
      <p:sp>
        <p:nvSpPr>
          <p:cNvPr id="40" name="Text 38"/>
          <p:cNvSpPr/>
          <p:nvPr/>
        </p:nvSpPr>
        <p:spPr>
          <a:xfrm>
            <a:off x="5737860" y="3648456"/>
            <a:ext cx="3113532" cy="201168"/>
          </a:xfrm>
          <a:prstGeom prst="rect">
            <a:avLst/>
          </a:prstGeom>
          <a:noFill/>
          <a:ln/>
        </p:spPr>
        <p:txBody>
          <a:bodyPr wrap="square" lIns="0" tIns="0" rIns="0" bIns="0" rtlCol="0" anchor="ctr"/>
          <a:lstStyle/>
          <a:p>
            <a:pPr indent="0" marL="0">
              <a:buNone/>
            </a:pPr>
            <a:r>
              <a:rPr lang="en-US" sz="700" b="1" spc="200" kern="0" dirty="0">
                <a:solidFill>
                  <a:srgbClr val="991B1B"/>
                </a:solidFill>
                <a:latin typeface="Calibri" pitchFamily="34" charset="0"/>
                <a:ea typeface="Calibri" pitchFamily="34" charset="-122"/>
                <a:cs typeface="Calibri" pitchFamily="34" charset="-120"/>
              </a:rPr>
              <a:t>IF NO — UPDATE TC</a:t>
            </a:r>
            <a:endParaRPr lang="en-US" sz="700" dirty="0"/>
          </a:p>
        </p:txBody>
      </p:sp>
      <p:sp>
        <p:nvSpPr>
          <p:cNvPr id="41" name="Text 39"/>
          <p:cNvSpPr/>
          <p:nvPr/>
        </p:nvSpPr>
        <p:spPr>
          <a:xfrm>
            <a:off x="5737860" y="3877056"/>
            <a:ext cx="3113532" cy="1014984"/>
          </a:xfrm>
          <a:prstGeom prst="rect">
            <a:avLst/>
          </a:prstGeom>
          <a:noFill/>
          <a:ln/>
        </p:spPr>
        <p:txBody>
          <a:bodyPr wrap="square" lIns="0" tIns="0" rIns="0" bIns="0" rtlCol="0" anchor="t"/>
          <a:lstStyle/>
          <a:p>
            <a:pPr marL="342900" indent="-342900">
              <a:buSzPct val="100000"/>
              <a:buChar char="•"/>
            </a:pPr>
            <a:r>
              <a:rPr lang="en-US" sz="1000" dirty="0">
                <a:solidFill>
                  <a:srgbClr val="991B1B"/>
                </a:solidFill>
                <a:latin typeface="Calibri" pitchFamily="34" charset="0"/>
                <a:ea typeface="Calibri" pitchFamily="34" charset="-122"/>
                <a:cs typeface="Calibri" pitchFamily="34" charset="-120"/>
              </a:rPr>
              <a:t>Ask which lengths — update formula to Length = X AND Infeed = Yes</a:t>
            </a:r>
            <a:endParaRPr lang="en-US" sz="1000" dirty="0"/>
          </a:p>
        </p:txBody>
      </p:sp>
      <p:sp>
        <p:nvSpPr>
          <p:cNvPr id="42" name="Shape 40"/>
          <p:cNvSpPr/>
          <p:nvPr/>
        </p:nvSpPr>
        <p:spPr>
          <a:xfrm>
            <a:off x="0" y="4974336"/>
            <a:ext cx="9144000" cy="169164"/>
          </a:xfrm>
          <a:prstGeom prst="rect">
            <a:avLst/>
          </a:prstGeom>
          <a:solidFill>
            <a:srgbClr val="0D7A6B"/>
          </a:solidFill>
          <a:ln w="12700">
            <a:solidFill>
              <a:srgbClr val="0D7A6B"/>
            </a:solidFill>
            <a:prstDash val="solid"/>
          </a:ln>
        </p:spPr>
      </p:sp>
      <p:sp>
        <p:nvSpPr>
          <p:cNvPr id="43" name="Text 41"/>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1B2A4A"/>
          </a:solidFill>
          <a:ln w="12700">
            <a:solidFill>
              <a:srgbClr val="1B2A4A"/>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800" b="1" dirty="0">
                <a:solidFill>
                  <a:srgbClr val="FFFFFF"/>
                </a:solidFill>
                <a:latin typeface="Consolas" pitchFamily="34" charset="0"/>
                <a:ea typeface="Consolas" pitchFamily="34" charset="-122"/>
                <a:cs typeface="Consolas" pitchFamily="34" charset="-120"/>
              </a:rPr>
              <a:t>Q3</a:t>
            </a:r>
            <a:endParaRPr lang="en-US" sz="68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FEE2E2"/>
          </a:solidFill>
          <a:ln w="12700">
            <a:solidFill>
              <a:srgbClr val="991B1B"/>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991B1B"/>
                </a:solidFill>
                <a:latin typeface="Calibri" pitchFamily="34" charset="0"/>
                <a:ea typeface="Calibri" pitchFamily="34" charset="-122"/>
                <a:cs typeface="Calibri" pitchFamily="34" charset="-120"/>
              </a:rPr>
              <a:t>HIGH</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64748B"/>
                </a:solidFill>
                <a:latin typeface="Calibri" pitchFamily="34" charset="0"/>
                <a:ea typeface="Calibri" pitchFamily="34" charset="-122"/>
                <a:cs typeface="Calibri" pitchFamily="34" charset="-120"/>
              </a:rPr>
              <a:t>LABEL APPLICATOR</a:t>
            </a:r>
            <a:endParaRPr lang="en-US" sz="800" dirty="0"/>
          </a:p>
        </p:txBody>
      </p:sp>
      <p:sp>
        <p:nvSpPr>
          <p:cNvPr id="8" name="Shape 6"/>
          <p:cNvSpPr/>
          <p:nvPr/>
        </p:nvSpPr>
        <p:spPr>
          <a:xfrm>
            <a:off x="256032" y="2267712"/>
            <a:ext cx="1591056" cy="347472"/>
          </a:xfrm>
          <a:prstGeom prst="rect">
            <a:avLst/>
          </a:prstGeom>
          <a:solidFill>
            <a:srgbClr val="0F3460"/>
          </a:solidFill>
          <a:ln w="12700">
            <a:solidFill>
              <a:srgbClr val="0F3460"/>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8 min</a:t>
            </a:r>
            <a:endParaRPr lang="en-US" sz="1300" dirty="0"/>
          </a:p>
        </p:txBody>
      </p:sp>
      <p:sp>
        <p:nvSpPr>
          <p:cNvPr id="10" name="Shape 8"/>
          <p:cNvSpPr/>
          <p:nvPr/>
        </p:nvSpPr>
        <p:spPr>
          <a:xfrm>
            <a:off x="164592" y="2788920"/>
            <a:ext cx="1773936" cy="1417320"/>
          </a:xfrm>
          <a:prstGeom prst="rect">
            <a:avLst/>
          </a:prstGeom>
          <a:solidFill>
            <a:srgbClr val="1E3A5F"/>
          </a:solidFill>
          <a:ln w="12700">
            <a:solidFill>
              <a:srgbClr val="1E3A5F"/>
            </a:solidFill>
            <a:prstDash val="solid"/>
          </a:ln>
        </p:spPr>
      </p:sp>
      <p:sp>
        <p:nvSpPr>
          <p:cNvPr id="11" name="Text 9"/>
          <p:cNvSpPr/>
          <p:nvPr/>
        </p:nvSpPr>
        <p:spPr>
          <a:xfrm>
            <a:off x="164592" y="2834640"/>
            <a:ext cx="1773936" cy="201168"/>
          </a:xfrm>
          <a:prstGeom prst="rect">
            <a:avLst/>
          </a:prstGeom>
          <a:noFill/>
          <a:ln/>
        </p:spPr>
        <p:txBody>
          <a:bodyPr wrap="square" lIns="0" tIns="0" rIns="0" bIns="0" rtlCol="0" anchor="ctr"/>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IF STUCK</a:t>
            </a:r>
            <a:endParaRPr lang="en-US" sz="700" dirty="0"/>
          </a:p>
        </p:txBody>
      </p:sp>
      <p:sp>
        <p:nvSpPr>
          <p:cNvPr id="12" name="Text 10"/>
          <p:cNvSpPr/>
          <p:nvPr/>
        </p:nvSpPr>
        <p:spPr>
          <a:xfrm>
            <a:off x="228600" y="3054096"/>
            <a:ext cx="1645920" cy="1097280"/>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Rephrase:</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"Can a 6FT RH EU machine apply labels in LH orientation — or is the mechanism fixed at the time of order?"</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If still unsure:</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Escalate — this blocks 19 parts. Do not guess.</a:t>
            </a:r>
            <a:endParaRPr lang="en-US" sz="900" dirty="0"/>
          </a:p>
        </p:txBody>
      </p:sp>
      <p:sp>
        <p:nvSpPr>
          <p:cNvPr id="13" name="Shape 11"/>
          <p:cNvSpPr/>
          <p:nvPr/>
        </p:nvSpPr>
        <p:spPr>
          <a:xfrm>
            <a:off x="164592" y="4315968"/>
            <a:ext cx="1773936" cy="658368"/>
          </a:xfrm>
          <a:prstGeom prst="rect">
            <a:avLst/>
          </a:prstGeom>
          <a:solidFill>
            <a:srgbClr val="0D7A6B"/>
          </a:solidFill>
          <a:ln w="12700">
            <a:solidFill>
              <a:srgbClr val="0D7A6B"/>
            </a:solidFill>
            <a:prstDash val="solid"/>
          </a:ln>
        </p:spPr>
      </p:sp>
      <p:sp>
        <p:nvSpPr>
          <p:cNvPr id="14" name="Text 12"/>
          <p:cNvSpPr/>
          <p:nvPr/>
        </p:nvSpPr>
        <p:spPr>
          <a:xfrm>
            <a:off x="164592" y="4343400"/>
            <a:ext cx="1773936" cy="201168"/>
          </a:xfrm>
          <a:prstGeom prst="rect">
            <a:avLst/>
          </a:prstGeom>
          <a:noFill/>
          <a:ln/>
        </p:spPr>
        <p:txBody>
          <a:bodyPr wrap="square" lIns="0" tIns="0" rIns="0" bIns="0" rtlCol="0" anchor="ctr"/>
          <a:lstStyle/>
          <a:p>
            <a:pPr algn="ctr" indent="0" marL="0">
              <a:buNone/>
            </a:pPr>
            <a:r>
              <a:rPr lang="en-US" sz="700" spc="200" kern="0" dirty="0">
                <a:solidFill>
                  <a:srgbClr val="A7F3D0"/>
                </a:solidFill>
                <a:latin typeface="Calibri" pitchFamily="34" charset="0"/>
                <a:ea typeface="Calibri" pitchFamily="34" charset="-122"/>
                <a:cs typeface="Calibri" pitchFamily="34" charset="-120"/>
              </a:rPr>
              <a:t>TC ACTION</a:t>
            </a:r>
            <a:endParaRPr lang="en-US" sz="700" dirty="0"/>
          </a:p>
        </p:txBody>
      </p:sp>
      <p:sp>
        <p:nvSpPr>
          <p:cNvPr id="15" name="Text 13"/>
          <p:cNvSpPr/>
          <p:nvPr/>
        </p:nvSpPr>
        <p:spPr>
          <a:xfrm>
            <a:off x="201168" y="4553712"/>
            <a:ext cx="1719072" cy="384048"/>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YES: 19 parts become COMMON — no variant condition</a:t>
            </a:r>
            <a:endParaRPr lang="en-US" sz="900" dirty="0"/>
          </a:p>
          <a:p>
            <a:pPr indent="0" marL="0">
              <a:buNone/>
            </a:pP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NO: 19 parts get Orientation = RH or LH individually</a:t>
            </a:r>
            <a:endParaRPr lang="en-US" sz="900" dirty="0"/>
          </a:p>
        </p:txBody>
      </p:sp>
      <p:sp>
        <p:nvSpPr>
          <p:cNvPr id="16" name="Shape 14"/>
          <p:cNvSpPr/>
          <p:nvPr/>
        </p:nvSpPr>
        <p:spPr>
          <a:xfrm>
            <a:off x="2240280" y="0"/>
            <a:ext cx="6720840" cy="384048"/>
          </a:xfrm>
          <a:prstGeom prst="rect">
            <a:avLst/>
          </a:prstGeom>
          <a:solidFill>
            <a:srgbClr val="0D7A6B"/>
          </a:solidFill>
          <a:ln w="12700">
            <a:solidFill>
              <a:srgbClr val="0D7A6B"/>
            </a:solidFill>
            <a:prstDash val="solid"/>
          </a:ln>
        </p:spPr>
      </p:sp>
      <p:sp>
        <p:nvSpPr>
          <p:cNvPr id="17" name="Text 15"/>
          <p:cNvSpPr/>
          <p:nvPr/>
        </p:nvSpPr>
        <p:spPr>
          <a:xfrm>
            <a:off x="2377440" y="0"/>
            <a:ext cx="64465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Label Applicator — Do both RH and LH mechanisms always ship together?</a:t>
            </a:r>
            <a:endParaRPr lang="en-US" sz="1400" dirty="0"/>
          </a:p>
        </p:txBody>
      </p:sp>
      <p:sp>
        <p:nvSpPr>
          <p:cNvPr id="18" name="Shape 16"/>
          <p:cNvSpPr/>
          <p:nvPr/>
        </p:nvSpPr>
        <p:spPr>
          <a:xfrm>
            <a:off x="2240280" y="438912"/>
            <a:ext cx="6720840" cy="822960"/>
          </a:xfrm>
          <a:prstGeom prst="rect">
            <a:avLst/>
          </a:prstGeom>
          <a:solidFill>
            <a:srgbClr val="FFFFFF"/>
          </a:solidFill>
          <a:ln w="12700">
            <a:solidFill>
              <a:srgbClr val="CBD5E1"/>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2240280" y="438912"/>
            <a:ext cx="54864" cy="822960"/>
          </a:xfrm>
          <a:prstGeom prst="rect">
            <a:avLst/>
          </a:prstGeom>
          <a:solidFill>
            <a:srgbClr val="1B2A4A"/>
          </a:solidFill>
          <a:ln w="12700">
            <a:solidFill>
              <a:srgbClr val="1B2A4A"/>
            </a:solidFill>
            <a:prstDash val="solid"/>
          </a:ln>
        </p:spPr>
      </p:sp>
      <p:sp>
        <p:nvSpPr>
          <p:cNvPr id="20" name="Text 18"/>
          <p:cNvSpPr/>
          <p:nvPr/>
        </p:nvSpPr>
        <p:spPr>
          <a:xfrm>
            <a:off x="2377440" y="493776"/>
            <a:ext cx="1097280" cy="182880"/>
          </a:xfrm>
          <a:prstGeom prst="rect">
            <a:avLst/>
          </a:prstGeom>
          <a:noFill/>
          <a:ln/>
        </p:spPr>
        <p:txBody>
          <a:bodyPr wrap="square" lIns="0" tIns="0" rIns="0" bIns="0" rtlCol="0" anchor="ctr"/>
          <a:lstStyle/>
          <a:p>
            <a:pPr indent="0" marL="0">
              <a:buNone/>
            </a:pPr>
            <a:r>
              <a:rPr lang="en-US" sz="700" b="1" spc="200" kern="0" dirty="0">
                <a:solidFill>
                  <a:srgbClr val="1B2A4A"/>
                </a:solidFill>
                <a:latin typeface="Calibri" pitchFamily="34" charset="0"/>
                <a:ea typeface="Calibri" pitchFamily="34" charset="-122"/>
                <a:cs typeface="Calibri" pitchFamily="34" charset="-120"/>
              </a:rPr>
              <a:t>SAY TO OPEN</a:t>
            </a:r>
            <a:endParaRPr lang="en-US" sz="700" dirty="0"/>
          </a:p>
        </p:txBody>
      </p:sp>
      <p:sp>
        <p:nvSpPr>
          <p:cNvPr id="21" name="Text 19"/>
          <p:cNvSpPr/>
          <p:nvPr/>
        </p:nvSpPr>
        <p:spPr>
          <a:xfrm>
            <a:off x="2377440" y="694944"/>
            <a:ext cx="6492240" cy="521208"/>
          </a:xfrm>
          <a:prstGeom prst="rect">
            <a:avLst/>
          </a:prstGeom>
          <a:noFill/>
          <a:ln/>
        </p:spPr>
        <p:txBody>
          <a:bodyPr wrap="square" lIns="0" tIns="0" rIns="0" bIns="0" rtlCol="0" anchor="t"/>
          <a:lstStyle/>
          <a:p>
            <a:pPr indent="0" marL="0">
              <a:buNone/>
            </a:pPr>
            <a:r>
              <a:rPr lang="en-US" sz="1200" i="1" dirty="0">
                <a:solidFill>
                  <a:srgbClr val="1B2A4A"/>
                </a:solidFill>
                <a:latin typeface="Calibri" pitchFamily="34" charset="0"/>
                <a:ea typeface="Calibri" pitchFamily="34" charset="-122"/>
                <a:cs typeface="Calibri" pitchFamily="34" charset="-120"/>
              </a:rPr>
              <a:t>Inside the Label Applicator kit we found something unusual — both the RH and LH print mechanisms appear in every BOM, including the LH machine. Normally we would expect an RH machine to have RH parts only. This is the biggest open question in the 150% BOM right now — it affects 19 parts.</a:t>
            </a:r>
            <a:endParaRPr lang="en-US" sz="1200" dirty="0"/>
          </a:p>
        </p:txBody>
      </p:sp>
      <p:sp>
        <p:nvSpPr>
          <p:cNvPr id="22" name="Shape 20"/>
          <p:cNvSpPr/>
          <p:nvPr/>
        </p:nvSpPr>
        <p:spPr>
          <a:xfrm>
            <a:off x="2240280" y="1298448"/>
            <a:ext cx="6720840" cy="530352"/>
          </a:xfrm>
          <a:prstGeom prst="rect">
            <a:avLst/>
          </a:prstGeom>
          <a:solidFill>
            <a:srgbClr val="EFF6FF"/>
          </a:solidFill>
          <a:ln w="12700">
            <a:solidFill>
              <a:srgbClr val="BFDBFE"/>
            </a:solidFill>
            <a:prstDash val="solid"/>
          </a:ln>
        </p:spPr>
      </p:sp>
      <p:sp>
        <p:nvSpPr>
          <p:cNvPr id="23" name="Text 21"/>
          <p:cNvSpPr/>
          <p:nvPr/>
        </p:nvSpPr>
        <p:spPr>
          <a:xfrm>
            <a:off x="2377440" y="1362456"/>
            <a:ext cx="1828800" cy="182880"/>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SHOW ON BOM VIEWER</a:t>
            </a:r>
            <a:endParaRPr lang="en-US" sz="700" dirty="0"/>
          </a:p>
        </p:txBody>
      </p:sp>
      <p:sp>
        <p:nvSpPr>
          <p:cNvPr id="24" name="Text 22"/>
          <p:cNvSpPr/>
          <p:nvPr/>
        </p:nvSpPr>
        <p:spPr>
          <a:xfrm>
            <a:off x="2377440" y="1554480"/>
            <a:ext cx="6492240" cy="228600"/>
          </a:xfrm>
          <a:prstGeom prst="rect">
            <a:avLst/>
          </a:prstGeom>
          <a:noFill/>
          <a:ln/>
        </p:spPr>
        <p:txBody>
          <a:bodyPr wrap="square" lIns="0" tIns="0" rIns="0" bIns="0" rtlCol="0" anchor="t"/>
          <a:lstStyle/>
          <a:p>
            <a:pPr indent="0" marL="0">
              <a:buNone/>
            </a:pPr>
            <a:r>
              <a:rPr lang="en-US" sz="1100" dirty="0">
                <a:solidFill>
                  <a:srgbClr val="1E40AF"/>
                </a:solidFill>
                <a:latin typeface="Consolas" pitchFamily="34" charset="0"/>
                <a:ea typeface="Consolas" pitchFamily="34" charset="-122"/>
                <a:cs typeface="Consolas" pitchFamily="34" charset="-120"/>
              </a:rPr>
              <a:t>Search MECHANISM_PRINT_RH in 150% BOM → show it marked PENDING_SME in all 3 configs</a:t>
            </a:r>
            <a:endParaRPr lang="en-US" sz="1100" dirty="0"/>
          </a:p>
          <a:p>
            <a:pPr indent="0" marL="0">
              <a:buNone/>
            </a:pPr>
            <a:r>
              <a:rPr lang="en-US" sz="1100" dirty="0">
                <a:solidFill>
                  <a:srgbClr val="1E40AF"/>
                </a:solidFill>
                <a:latin typeface="Consolas" pitchFamily="34" charset="0"/>
                <a:ea typeface="Consolas" pitchFamily="34" charset="-122"/>
                <a:cs typeface="Consolas" pitchFamily="34" charset="-120"/>
              </a:rPr>
              <a:t>Search MECHANISM_PRINT_LH → same result — both in every BOM</a:t>
            </a:r>
            <a:endParaRPr lang="en-US" sz="1100" dirty="0"/>
          </a:p>
        </p:txBody>
      </p:sp>
      <p:sp>
        <p:nvSpPr>
          <p:cNvPr id="25" name="Shape 23"/>
          <p:cNvSpPr/>
          <p:nvPr/>
        </p:nvSpPr>
        <p:spPr>
          <a:xfrm>
            <a:off x="2240280" y="1865376"/>
            <a:ext cx="6720840" cy="621792"/>
          </a:xfrm>
          <a:prstGeom prst="rect">
            <a:avLst/>
          </a:prstGeom>
          <a:solidFill>
            <a:srgbClr val="1B2A4A"/>
          </a:solidFill>
          <a:ln w="12700">
            <a:solidFill>
              <a:srgbClr val="1B2A4A"/>
            </a:solidFill>
            <a:prstDash val="solid"/>
          </a:ln>
        </p:spPr>
      </p:sp>
      <p:sp>
        <p:nvSpPr>
          <p:cNvPr id="26" name="Text 24"/>
          <p:cNvSpPr/>
          <p:nvPr/>
        </p:nvSpPr>
        <p:spPr>
          <a:xfrm>
            <a:off x="2377440" y="1929384"/>
            <a:ext cx="1828800" cy="182880"/>
          </a:xfrm>
          <a:prstGeom prst="rect">
            <a:avLst/>
          </a:prstGeom>
          <a:noFill/>
          <a:ln/>
        </p:spPr>
        <p:txBody>
          <a:bodyPr wrap="square" lIns="0" tIns="0" rIns="0" bIns="0" rtlCol="0" anchor="ctr"/>
          <a:lstStyle/>
          <a:p>
            <a:pPr indent="0" marL="0">
              <a:buNone/>
            </a:pPr>
            <a:r>
              <a:rPr lang="en-US" sz="700" b="1" spc="200" kern="0" dirty="0">
                <a:solidFill>
                  <a:srgbClr val="94A3B8"/>
                </a:solidFill>
                <a:latin typeface="Calibri" pitchFamily="34" charset="0"/>
                <a:ea typeface="Calibri" pitchFamily="34" charset="-122"/>
                <a:cs typeface="Calibri" pitchFamily="34" charset="-120"/>
              </a:rPr>
              <a:t>ASK EXACTLY THIS</a:t>
            </a:r>
            <a:endParaRPr lang="en-US" sz="700" dirty="0"/>
          </a:p>
        </p:txBody>
      </p:sp>
      <p:sp>
        <p:nvSpPr>
          <p:cNvPr id="27" name="Text 25"/>
          <p:cNvSpPr/>
          <p:nvPr/>
        </p:nvSpPr>
        <p:spPr>
          <a:xfrm>
            <a:off x="2377440" y="2103120"/>
            <a:ext cx="6492240" cy="347472"/>
          </a:xfrm>
          <a:prstGeom prst="rect">
            <a:avLst/>
          </a:prstGeom>
          <a:noFill/>
          <a:ln/>
        </p:spPr>
        <p:txBody>
          <a:bodyPr wrap="square" lIns="0" tIns="0" rIns="0" bIns="0" rtlCol="0" anchor="t"/>
          <a:lstStyle/>
          <a:p>
            <a:pPr indent="0" marL="0">
              <a:buNone/>
            </a:pPr>
            <a:r>
              <a:rPr lang="en-US" sz="1200" b="1" i="1" dirty="0">
                <a:solidFill>
                  <a:srgbClr val="FFFFFF"/>
                </a:solidFill>
                <a:latin typeface="Calibri" pitchFamily="34" charset="0"/>
                <a:ea typeface="Calibri" pitchFamily="34" charset="-122"/>
                <a:cs typeface="Calibri" pitchFamily="34" charset="-120"/>
              </a:rPr>
              <a:t>"Does the Label Applicator always ship with BOTH RH and LH print mechanisms — regardless of machine orientation?"</a:t>
            </a:r>
            <a:endParaRPr lang="en-US" sz="1200" dirty="0"/>
          </a:p>
        </p:txBody>
      </p:sp>
      <p:sp>
        <p:nvSpPr>
          <p:cNvPr id="28" name="Shape 26"/>
          <p:cNvSpPr/>
          <p:nvPr/>
        </p:nvSpPr>
        <p:spPr>
          <a:xfrm>
            <a:off x="2240280" y="2542032"/>
            <a:ext cx="3332988" cy="2423160"/>
          </a:xfrm>
          <a:prstGeom prst="rect">
            <a:avLst/>
          </a:prstGeom>
          <a:solidFill>
            <a:srgbClr val="FFFFFF"/>
          </a:solidFill>
          <a:ln w="12700">
            <a:solidFill>
              <a:srgbClr val="86EFAC"/>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240280" y="2542032"/>
            <a:ext cx="3332988" cy="256032"/>
          </a:xfrm>
          <a:prstGeom prst="rect">
            <a:avLst/>
          </a:prstGeom>
          <a:solidFill>
            <a:srgbClr val="065F46"/>
          </a:solidFill>
          <a:ln w="12700">
            <a:solidFill>
              <a:srgbClr val="065F46"/>
            </a:solidFill>
            <a:prstDash val="solid"/>
          </a:ln>
        </p:spPr>
      </p:sp>
      <p:sp>
        <p:nvSpPr>
          <p:cNvPr id="30" name="Text 28"/>
          <p:cNvSpPr/>
          <p:nvPr/>
        </p:nvSpPr>
        <p:spPr>
          <a:xfrm>
            <a:off x="2350008"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YES</a:t>
            </a:r>
            <a:endParaRPr lang="en-US" sz="900" dirty="0"/>
          </a:p>
        </p:txBody>
      </p:sp>
      <p:sp>
        <p:nvSpPr>
          <p:cNvPr id="31" name="Text 29"/>
          <p:cNvSpPr/>
          <p:nvPr/>
        </p:nvSpPr>
        <p:spPr>
          <a:xfrm>
            <a:off x="2350008" y="2834640"/>
            <a:ext cx="3150108" cy="694944"/>
          </a:xfrm>
          <a:prstGeom prst="rect">
            <a:avLst/>
          </a:prstGeom>
          <a:noFill/>
          <a:ln/>
        </p:spPr>
        <p:txBody>
          <a:bodyPr wrap="square" lIns="0" tIns="0" rIns="0" bIns="0" rtlCol="0" anchor="t"/>
          <a:lstStyle/>
          <a:p>
            <a:pPr indent="0" marL="0">
              <a:buNone/>
            </a:pPr>
            <a:r>
              <a:rPr lang="en-US" sz="1100" dirty="0">
                <a:solidFill>
                  <a:srgbClr val="166534"/>
                </a:solidFill>
                <a:latin typeface="Calibri" pitchFamily="34" charset="0"/>
                <a:ea typeface="Calibri" pitchFamily="34" charset="-122"/>
                <a:cs typeface="Calibri" pitchFamily="34" charset="-120"/>
              </a:rPr>
              <a:t>SME says: yes, both mechanisms always ship — the applicator handles both orientations internally</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TC: all 19 RH/LH parts inside Label Applicator become COMMON — no variant condition</a:t>
            </a:r>
            <a:endParaRPr lang="en-US" sz="1100" dirty="0"/>
          </a:p>
        </p:txBody>
      </p:sp>
      <p:sp>
        <p:nvSpPr>
          <p:cNvPr id="32" name="Shape 30"/>
          <p:cNvSpPr/>
          <p:nvPr/>
        </p:nvSpPr>
        <p:spPr>
          <a:xfrm>
            <a:off x="2350008" y="3575304"/>
            <a:ext cx="3113532" cy="0"/>
          </a:xfrm>
          <a:prstGeom prst="line">
            <a:avLst/>
          </a:prstGeom>
          <a:noFill/>
          <a:ln w="12700">
            <a:solidFill>
              <a:srgbClr val="86EFAC"/>
            </a:solidFill>
            <a:prstDash val="dash"/>
          </a:ln>
        </p:spPr>
      </p:sp>
      <p:sp>
        <p:nvSpPr>
          <p:cNvPr id="33" name="Text 31"/>
          <p:cNvSpPr/>
          <p:nvPr/>
        </p:nvSpPr>
        <p:spPr>
          <a:xfrm>
            <a:off x="2350008" y="3648456"/>
            <a:ext cx="3150108" cy="201168"/>
          </a:xfrm>
          <a:prstGeom prst="rect">
            <a:avLst/>
          </a:prstGeom>
          <a:noFill/>
          <a:ln/>
        </p:spPr>
        <p:txBody>
          <a:bodyPr wrap="square" lIns="0" tIns="0" rIns="0" bIns="0" rtlCol="0" anchor="ctr"/>
          <a:lstStyle/>
          <a:p>
            <a:pPr indent="0" marL="0">
              <a:buNone/>
            </a:pPr>
            <a:r>
              <a:rPr lang="en-US" sz="700" b="1" spc="200" kern="0" dirty="0">
                <a:solidFill>
                  <a:srgbClr val="065F46"/>
                </a:solidFill>
                <a:latin typeface="Calibri" pitchFamily="34" charset="0"/>
                <a:ea typeface="Calibri" pitchFamily="34" charset="-122"/>
                <a:cs typeface="Calibri" pitchFamily="34" charset="-120"/>
              </a:rPr>
              <a:t>IF YES — UPDATE TC</a:t>
            </a:r>
            <a:endParaRPr lang="en-US" sz="700" dirty="0"/>
          </a:p>
        </p:txBody>
      </p:sp>
      <p:sp>
        <p:nvSpPr>
          <p:cNvPr id="34" name="Text 32"/>
          <p:cNvSpPr/>
          <p:nvPr/>
        </p:nvSpPr>
        <p:spPr>
          <a:xfrm>
            <a:off x="2350008" y="3877056"/>
            <a:ext cx="3150108" cy="1014984"/>
          </a:xfrm>
          <a:prstGeom prst="rect">
            <a:avLst/>
          </a:prstGeom>
          <a:noFill/>
          <a:ln/>
        </p:spPr>
        <p:txBody>
          <a:bodyPr wrap="square" lIns="0" tIns="0" rIns="0" bIns="0" rtlCol="0" anchor="t"/>
          <a:lstStyle/>
          <a:p>
            <a:pPr marL="342900" indent="-342900">
              <a:buSzPct val="100000"/>
              <a:buChar char="•"/>
            </a:pPr>
            <a:r>
              <a:rPr lang="en-US" sz="1000" dirty="0">
                <a:solidFill>
                  <a:srgbClr val="166534"/>
                </a:solidFill>
                <a:latin typeface="Calibri" pitchFamily="34" charset="0"/>
                <a:ea typeface="Calibri" pitchFamily="34" charset="-122"/>
                <a:cs typeface="Calibri" pitchFamily="34" charset="-120"/>
              </a:rPr>
              <a:t>19 parts become COMMON — no variant condition</a:t>
            </a:r>
            <a:endParaRPr lang="en-US" sz="1000" dirty="0"/>
          </a:p>
        </p:txBody>
      </p:sp>
      <p:sp>
        <p:nvSpPr>
          <p:cNvPr id="35" name="Shape 33"/>
          <p:cNvSpPr/>
          <p:nvPr/>
        </p:nvSpPr>
        <p:spPr>
          <a:xfrm>
            <a:off x="5628132" y="2542032"/>
            <a:ext cx="3332988" cy="242316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0000"/>
              </a:srgbClr>
            </a:outerShdw>
          </a:effectLst>
        </p:spPr>
      </p:sp>
      <p:sp>
        <p:nvSpPr>
          <p:cNvPr id="36" name="Shape 34"/>
          <p:cNvSpPr/>
          <p:nvPr/>
        </p:nvSpPr>
        <p:spPr>
          <a:xfrm>
            <a:off x="5628132" y="2542032"/>
            <a:ext cx="3332988" cy="256032"/>
          </a:xfrm>
          <a:prstGeom prst="rect">
            <a:avLst/>
          </a:prstGeom>
          <a:solidFill>
            <a:srgbClr val="991B1B"/>
          </a:solidFill>
          <a:ln w="12700">
            <a:solidFill>
              <a:srgbClr val="991B1B"/>
            </a:solidFill>
            <a:prstDash val="solid"/>
          </a:ln>
        </p:spPr>
      </p:sp>
      <p:sp>
        <p:nvSpPr>
          <p:cNvPr id="37" name="Text 35"/>
          <p:cNvSpPr/>
          <p:nvPr/>
        </p:nvSpPr>
        <p:spPr>
          <a:xfrm>
            <a:off x="5737860"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NO</a:t>
            </a:r>
            <a:endParaRPr lang="en-US" sz="900" dirty="0"/>
          </a:p>
        </p:txBody>
      </p:sp>
      <p:sp>
        <p:nvSpPr>
          <p:cNvPr id="38" name="Text 36"/>
          <p:cNvSpPr/>
          <p:nvPr/>
        </p:nvSpPr>
        <p:spPr>
          <a:xfrm>
            <a:off x="5737860" y="2834640"/>
            <a:ext cx="3113532" cy="694944"/>
          </a:xfrm>
          <a:prstGeom prst="rect">
            <a:avLst/>
          </a:prstGeom>
          <a:noFill/>
          <a:ln/>
        </p:spPr>
        <p:txBody>
          <a:bodyPr wrap="square" lIns="0" tIns="0" rIns="0" bIns="0" rtlCol="0" anchor="t"/>
          <a:lstStyle/>
          <a:p>
            <a:pPr indent="0" marL="0">
              <a:buNone/>
            </a:pPr>
            <a:r>
              <a:rPr lang="en-US" sz="1100" dirty="0">
                <a:solidFill>
                  <a:srgbClr val="991B1B"/>
                </a:solidFill>
                <a:latin typeface="Calibri" pitchFamily="34" charset="0"/>
                <a:ea typeface="Calibri" pitchFamily="34" charset="-122"/>
                <a:cs typeface="Calibri" pitchFamily="34" charset="-120"/>
              </a:rPr>
              <a:t>SME says: only the matching orientation ships</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TC: MECHANISM_PRINT_RH gets Orientation = RH, MECHANISM_PRINT_LH gets Orientation = LH — 19 parts get individual formulas</a:t>
            </a:r>
            <a:endParaRPr lang="en-US" sz="1100" dirty="0"/>
          </a:p>
        </p:txBody>
      </p:sp>
      <p:sp>
        <p:nvSpPr>
          <p:cNvPr id="39" name="Shape 37"/>
          <p:cNvSpPr/>
          <p:nvPr/>
        </p:nvSpPr>
        <p:spPr>
          <a:xfrm>
            <a:off x="5737860" y="3575304"/>
            <a:ext cx="3076956" cy="0"/>
          </a:xfrm>
          <a:prstGeom prst="line">
            <a:avLst/>
          </a:prstGeom>
          <a:noFill/>
          <a:ln w="12700">
            <a:solidFill>
              <a:srgbClr val="FCA5A5"/>
            </a:solidFill>
            <a:prstDash val="dash"/>
          </a:ln>
        </p:spPr>
      </p:sp>
      <p:sp>
        <p:nvSpPr>
          <p:cNvPr id="40" name="Text 38"/>
          <p:cNvSpPr/>
          <p:nvPr/>
        </p:nvSpPr>
        <p:spPr>
          <a:xfrm>
            <a:off x="5737860" y="3648456"/>
            <a:ext cx="3113532" cy="201168"/>
          </a:xfrm>
          <a:prstGeom prst="rect">
            <a:avLst/>
          </a:prstGeom>
          <a:noFill/>
          <a:ln/>
        </p:spPr>
        <p:txBody>
          <a:bodyPr wrap="square" lIns="0" tIns="0" rIns="0" bIns="0" rtlCol="0" anchor="ctr"/>
          <a:lstStyle/>
          <a:p>
            <a:pPr indent="0" marL="0">
              <a:buNone/>
            </a:pPr>
            <a:r>
              <a:rPr lang="en-US" sz="700" b="1" spc="200" kern="0" dirty="0">
                <a:solidFill>
                  <a:srgbClr val="991B1B"/>
                </a:solidFill>
                <a:latin typeface="Calibri" pitchFamily="34" charset="0"/>
                <a:ea typeface="Calibri" pitchFamily="34" charset="-122"/>
                <a:cs typeface="Calibri" pitchFamily="34" charset="-120"/>
              </a:rPr>
              <a:t>IF NO — UPDATE TC</a:t>
            </a:r>
            <a:endParaRPr lang="en-US" sz="700" dirty="0"/>
          </a:p>
        </p:txBody>
      </p:sp>
      <p:sp>
        <p:nvSpPr>
          <p:cNvPr id="41" name="Text 39"/>
          <p:cNvSpPr/>
          <p:nvPr/>
        </p:nvSpPr>
        <p:spPr>
          <a:xfrm>
            <a:off x="5737860" y="3877056"/>
            <a:ext cx="3113532" cy="1014984"/>
          </a:xfrm>
          <a:prstGeom prst="rect">
            <a:avLst/>
          </a:prstGeom>
          <a:noFill/>
          <a:ln/>
        </p:spPr>
        <p:txBody>
          <a:bodyPr wrap="square" lIns="0" tIns="0" rIns="0" bIns="0" rtlCol="0" anchor="t"/>
          <a:lstStyle/>
          <a:p>
            <a:pPr marL="342900" indent="-342900">
              <a:buSzPct val="100000"/>
              <a:buChar char="•"/>
            </a:pPr>
            <a:r>
              <a:rPr lang="en-US" sz="1000" dirty="0">
                <a:solidFill>
                  <a:srgbClr val="991B1B"/>
                </a:solidFill>
                <a:latin typeface="Calibri" pitchFamily="34" charset="0"/>
                <a:ea typeface="Calibri" pitchFamily="34" charset="-122"/>
                <a:cs typeface="Calibri" pitchFamily="34" charset="-120"/>
              </a:rPr>
              <a:t>19 parts get Orientation = RH or LH individually</a:t>
            </a:r>
            <a:endParaRPr lang="en-US" sz="1000" dirty="0"/>
          </a:p>
        </p:txBody>
      </p:sp>
      <p:sp>
        <p:nvSpPr>
          <p:cNvPr id="42" name="Shape 40"/>
          <p:cNvSpPr/>
          <p:nvPr/>
        </p:nvSpPr>
        <p:spPr>
          <a:xfrm>
            <a:off x="0" y="4974336"/>
            <a:ext cx="9144000" cy="169164"/>
          </a:xfrm>
          <a:prstGeom prst="rect">
            <a:avLst/>
          </a:prstGeom>
          <a:solidFill>
            <a:srgbClr val="0D7A6B"/>
          </a:solidFill>
          <a:ln w="12700">
            <a:solidFill>
              <a:srgbClr val="0D7A6B"/>
            </a:solidFill>
            <a:prstDash val="solid"/>
          </a:ln>
        </p:spPr>
      </p:sp>
      <p:sp>
        <p:nvSpPr>
          <p:cNvPr id="43" name="Text 41"/>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1B2A4A"/>
          </a:solidFill>
          <a:ln w="12700">
            <a:solidFill>
              <a:srgbClr val="1B2A4A"/>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800" b="1" dirty="0">
                <a:solidFill>
                  <a:srgbClr val="FFFFFF"/>
                </a:solidFill>
                <a:latin typeface="Consolas" pitchFamily="34" charset="0"/>
                <a:ea typeface="Consolas" pitchFamily="34" charset="-122"/>
                <a:cs typeface="Consolas" pitchFamily="34" charset="-120"/>
              </a:rPr>
              <a:t>Q4</a:t>
            </a:r>
            <a:endParaRPr lang="en-US" sz="68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FEF3C7"/>
          </a:solidFill>
          <a:ln w="12700">
            <a:solidFill>
              <a:srgbClr val="92400E"/>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92400E"/>
                </a:solidFill>
                <a:latin typeface="Calibri" pitchFamily="34" charset="0"/>
                <a:ea typeface="Calibri" pitchFamily="34" charset="-122"/>
                <a:cs typeface="Calibri" pitchFamily="34" charset="-120"/>
              </a:rPr>
              <a:t>MEDIUM</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64748B"/>
                </a:solidFill>
                <a:latin typeface="Calibri" pitchFamily="34" charset="0"/>
                <a:ea typeface="Calibri" pitchFamily="34" charset="-122"/>
                <a:cs typeface="Calibri" pitchFamily="34" charset="-120"/>
              </a:rPr>
              <a:t>OUTFEED</a:t>
            </a:r>
            <a:endParaRPr lang="en-US" sz="800" dirty="0"/>
          </a:p>
        </p:txBody>
      </p:sp>
      <p:sp>
        <p:nvSpPr>
          <p:cNvPr id="8" name="Shape 6"/>
          <p:cNvSpPr/>
          <p:nvPr/>
        </p:nvSpPr>
        <p:spPr>
          <a:xfrm>
            <a:off x="256032" y="2267712"/>
            <a:ext cx="1591056" cy="347472"/>
          </a:xfrm>
          <a:prstGeom prst="rect">
            <a:avLst/>
          </a:prstGeom>
          <a:solidFill>
            <a:srgbClr val="0F3460"/>
          </a:solidFill>
          <a:ln w="12700">
            <a:solidFill>
              <a:srgbClr val="0F3460"/>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5 min</a:t>
            </a:r>
            <a:endParaRPr lang="en-US" sz="1300" dirty="0"/>
          </a:p>
        </p:txBody>
      </p:sp>
      <p:sp>
        <p:nvSpPr>
          <p:cNvPr id="10" name="Shape 8"/>
          <p:cNvSpPr/>
          <p:nvPr/>
        </p:nvSpPr>
        <p:spPr>
          <a:xfrm>
            <a:off x="164592" y="2788920"/>
            <a:ext cx="1773936" cy="1417320"/>
          </a:xfrm>
          <a:prstGeom prst="rect">
            <a:avLst/>
          </a:prstGeom>
          <a:solidFill>
            <a:srgbClr val="1E3A5F"/>
          </a:solidFill>
          <a:ln w="12700">
            <a:solidFill>
              <a:srgbClr val="1E3A5F"/>
            </a:solidFill>
            <a:prstDash val="solid"/>
          </a:ln>
        </p:spPr>
      </p:sp>
      <p:sp>
        <p:nvSpPr>
          <p:cNvPr id="11" name="Text 9"/>
          <p:cNvSpPr/>
          <p:nvPr/>
        </p:nvSpPr>
        <p:spPr>
          <a:xfrm>
            <a:off x="164592" y="2834640"/>
            <a:ext cx="1773936" cy="201168"/>
          </a:xfrm>
          <a:prstGeom prst="rect">
            <a:avLst/>
          </a:prstGeom>
          <a:noFill/>
          <a:ln/>
        </p:spPr>
        <p:txBody>
          <a:bodyPr wrap="square" lIns="0" tIns="0" rIns="0" bIns="0" rtlCol="0" anchor="ctr"/>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IF STUCK</a:t>
            </a:r>
            <a:endParaRPr lang="en-US" sz="700" dirty="0"/>
          </a:p>
        </p:txBody>
      </p:sp>
      <p:sp>
        <p:nvSpPr>
          <p:cNvPr id="12" name="Text 10"/>
          <p:cNvSpPr/>
          <p:nvPr/>
        </p:nvSpPr>
        <p:spPr>
          <a:xfrm>
            <a:off x="228600" y="3054096"/>
            <a:ext cx="1645920" cy="1097280"/>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Ask separately:</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"Does the SWM outfeed use the same sensor as Intralox?"</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"Does the SWM outfeed use the same frame weldment?"</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Answering per-part is fine if the answer differs between the two.</a:t>
            </a:r>
            <a:endParaRPr lang="en-US" sz="900" dirty="0"/>
          </a:p>
        </p:txBody>
      </p:sp>
      <p:sp>
        <p:nvSpPr>
          <p:cNvPr id="13" name="Shape 11"/>
          <p:cNvSpPr/>
          <p:nvPr/>
        </p:nvSpPr>
        <p:spPr>
          <a:xfrm>
            <a:off x="164592" y="4315968"/>
            <a:ext cx="1773936" cy="658368"/>
          </a:xfrm>
          <a:prstGeom prst="rect">
            <a:avLst/>
          </a:prstGeom>
          <a:solidFill>
            <a:srgbClr val="0D7A6B"/>
          </a:solidFill>
          <a:ln w="12700">
            <a:solidFill>
              <a:srgbClr val="0D7A6B"/>
            </a:solidFill>
            <a:prstDash val="solid"/>
          </a:ln>
        </p:spPr>
      </p:sp>
      <p:sp>
        <p:nvSpPr>
          <p:cNvPr id="14" name="Text 12"/>
          <p:cNvSpPr/>
          <p:nvPr/>
        </p:nvSpPr>
        <p:spPr>
          <a:xfrm>
            <a:off x="164592" y="4343400"/>
            <a:ext cx="1773936" cy="201168"/>
          </a:xfrm>
          <a:prstGeom prst="rect">
            <a:avLst/>
          </a:prstGeom>
          <a:noFill/>
          <a:ln/>
        </p:spPr>
        <p:txBody>
          <a:bodyPr wrap="square" lIns="0" tIns="0" rIns="0" bIns="0" rtlCol="0" anchor="ctr"/>
          <a:lstStyle/>
          <a:p>
            <a:pPr algn="ctr" indent="0" marL="0">
              <a:buNone/>
            </a:pPr>
            <a:r>
              <a:rPr lang="en-US" sz="700" spc="200" kern="0" dirty="0">
                <a:solidFill>
                  <a:srgbClr val="A7F3D0"/>
                </a:solidFill>
                <a:latin typeface="Calibri" pitchFamily="34" charset="0"/>
                <a:ea typeface="Calibri" pitchFamily="34" charset="-122"/>
                <a:cs typeface="Calibri" pitchFamily="34" charset="-120"/>
              </a:rPr>
              <a:t>TC ACTION</a:t>
            </a:r>
            <a:endParaRPr lang="en-US" sz="700" dirty="0"/>
          </a:p>
        </p:txBody>
      </p:sp>
      <p:sp>
        <p:nvSpPr>
          <p:cNvPr id="15" name="Text 13"/>
          <p:cNvSpPr/>
          <p:nvPr/>
        </p:nvSpPr>
        <p:spPr>
          <a:xfrm>
            <a:off x="201168" y="4553712"/>
            <a:ext cx="1719072" cy="384048"/>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YES: Both parts COMMON — no variant condition</a:t>
            </a:r>
            <a:endParaRPr lang="en-US" sz="900" dirty="0"/>
          </a:p>
          <a:p>
            <a:pPr indent="0" marL="0">
              <a:buNone/>
            </a:pP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NO: Both parts get Outfeed Type = Intralox</a:t>
            </a:r>
            <a:endParaRPr lang="en-US" sz="900" dirty="0"/>
          </a:p>
        </p:txBody>
      </p:sp>
      <p:sp>
        <p:nvSpPr>
          <p:cNvPr id="16" name="Shape 14"/>
          <p:cNvSpPr/>
          <p:nvPr/>
        </p:nvSpPr>
        <p:spPr>
          <a:xfrm>
            <a:off x="2240280" y="0"/>
            <a:ext cx="6720840" cy="384048"/>
          </a:xfrm>
          <a:prstGeom prst="rect">
            <a:avLst/>
          </a:prstGeom>
          <a:solidFill>
            <a:srgbClr val="0D7A6B"/>
          </a:solidFill>
          <a:ln w="12700">
            <a:solidFill>
              <a:srgbClr val="0D7A6B"/>
            </a:solidFill>
            <a:prstDash val="solid"/>
          </a:ln>
        </p:spPr>
      </p:sp>
      <p:sp>
        <p:nvSpPr>
          <p:cNvPr id="17" name="Text 15"/>
          <p:cNvSpPr/>
          <p:nvPr/>
        </p:nvSpPr>
        <p:spPr>
          <a:xfrm>
            <a:off x="2377440" y="0"/>
            <a:ext cx="64465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Outfeed Sensor &amp; Frame — Common across all outfeed types or Intralox only?</a:t>
            </a:r>
            <a:endParaRPr lang="en-US" sz="1400" dirty="0"/>
          </a:p>
        </p:txBody>
      </p:sp>
      <p:sp>
        <p:nvSpPr>
          <p:cNvPr id="18" name="Shape 16"/>
          <p:cNvSpPr/>
          <p:nvPr/>
        </p:nvSpPr>
        <p:spPr>
          <a:xfrm>
            <a:off x="2240280" y="438912"/>
            <a:ext cx="6720840" cy="822960"/>
          </a:xfrm>
          <a:prstGeom prst="rect">
            <a:avLst/>
          </a:prstGeom>
          <a:solidFill>
            <a:srgbClr val="FFFFFF"/>
          </a:solidFill>
          <a:ln w="12700">
            <a:solidFill>
              <a:srgbClr val="CBD5E1"/>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2240280" y="438912"/>
            <a:ext cx="54864" cy="822960"/>
          </a:xfrm>
          <a:prstGeom prst="rect">
            <a:avLst/>
          </a:prstGeom>
          <a:solidFill>
            <a:srgbClr val="1B2A4A"/>
          </a:solidFill>
          <a:ln w="12700">
            <a:solidFill>
              <a:srgbClr val="1B2A4A"/>
            </a:solidFill>
            <a:prstDash val="solid"/>
          </a:ln>
        </p:spPr>
      </p:sp>
      <p:sp>
        <p:nvSpPr>
          <p:cNvPr id="20" name="Text 18"/>
          <p:cNvSpPr/>
          <p:nvPr/>
        </p:nvSpPr>
        <p:spPr>
          <a:xfrm>
            <a:off x="2377440" y="493776"/>
            <a:ext cx="1097280" cy="182880"/>
          </a:xfrm>
          <a:prstGeom prst="rect">
            <a:avLst/>
          </a:prstGeom>
          <a:noFill/>
          <a:ln/>
        </p:spPr>
        <p:txBody>
          <a:bodyPr wrap="square" lIns="0" tIns="0" rIns="0" bIns="0" rtlCol="0" anchor="ctr"/>
          <a:lstStyle/>
          <a:p>
            <a:pPr indent="0" marL="0">
              <a:buNone/>
            </a:pPr>
            <a:r>
              <a:rPr lang="en-US" sz="700" b="1" spc="200" kern="0" dirty="0">
                <a:solidFill>
                  <a:srgbClr val="1B2A4A"/>
                </a:solidFill>
                <a:latin typeface="Calibri" pitchFamily="34" charset="0"/>
                <a:ea typeface="Calibri" pitchFamily="34" charset="-122"/>
                <a:cs typeface="Calibri" pitchFamily="34" charset="-120"/>
              </a:rPr>
              <a:t>SAY TO OPEN</a:t>
            </a:r>
            <a:endParaRPr lang="en-US" sz="700" dirty="0"/>
          </a:p>
        </p:txBody>
      </p:sp>
      <p:sp>
        <p:nvSpPr>
          <p:cNvPr id="21" name="Text 19"/>
          <p:cNvSpPr/>
          <p:nvPr/>
        </p:nvSpPr>
        <p:spPr>
          <a:xfrm>
            <a:off x="2377440" y="694944"/>
            <a:ext cx="6492240" cy="521208"/>
          </a:xfrm>
          <a:prstGeom prst="rect">
            <a:avLst/>
          </a:prstGeom>
          <a:noFill/>
          <a:ln/>
        </p:spPr>
        <p:txBody>
          <a:bodyPr wrap="square" lIns="0" tIns="0" rIns="0" bIns="0" rtlCol="0" anchor="t"/>
          <a:lstStyle/>
          <a:p>
            <a:pPr indent="0" marL="0">
              <a:buNone/>
            </a:pPr>
            <a:r>
              <a:rPr lang="en-US" sz="1200" i="1" dirty="0">
                <a:solidFill>
                  <a:srgbClr val="1B2A4A"/>
                </a:solidFill>
                <a:latin typeface="Calibri" pitchFamily="34" charset="0"/>
                <a:ea typeface="Calibri" pitchFamily="34" charset="-122"/>
                <a:cs typeface="Calibri" pitchFamily="34" charset="-120"/>
              </a:rPr>
              <a:t>We have two outfeed parts that appear in both the 6FT EU and 32FT LH BOMs — the outfeed sensor and the outfeed frame weldment. Both BOMs are Intralox configurations, so we cannot tell from the data alone whether these parts are universal or Intralox-specific.</a:t>
            </a:r>
            <a:endParaRPr lang="en-US" sz="1200" dirty="0"/>
          </a:p>
        </p:txBody>
      </p:sp>
      <p:sp>
        <p:nvSpPr>
          <p:cNvPr id="22" name="Shape 20"/>
          <p:cNvSpPr/>
          <p:nvPr/>
        </p:nvSpPr>
        <p:spPr>
          <a:xfrm>
            <a:off x="2240280" y="1298448"/>
            <a:ext cx="6720840" cy="530352"/>
          </a:xfrm>
          <a:prstGeom prst="rect">
            <a:avLst/>
          </a:prstGeom>
          <a:solidFill>
            <a:srgbClr val="EFF6FF"/>
          </a:solidFill>
          <a:ln w="12700">
            <a:solidFill>
              <a:srgbClr val="BFDBFE"/>
            </a:solidFill>
            <a:prstDash val="solid"/>
          </a:ln>
        </p:spPr>
      </p:sp>
      <p:sp>
        <p:nvSpPr>
          <p:cNvPr id="23" name="Text 21"/>
          <p:cNvSpPr/>
          <p:nvPr/>
        </p:nvSpPr>
        <p:spPr>
          <a:xfrm>
            <a:off x="2377440" y="1362456"/>
            <a:ext cx="1828800" cy="182880"/>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SHOW ON BOM VIEWER</a:t>
            </a:r>
            <a:endParaRPr lang="en-US" sz="700" dirty="0"/>
          </a:p>
        </p:txBody>
      </p:sp>
      <p:sp>
        <p:nvSpPr>
          <p:cNvPr id="24" name="Text 22"/>
          <p:cNvSpPr/>
          <p:nvPr/>
        </p:nvSpPr>
        <p:spPr>
          <a:xfrm>
            <a:off x="2377440" y="1554480"/>
            <a:ext cx="6492240" cy="228600"/>
          </a:xfrm>
          <a:prstGeom prst="rect">
            <a:avLst/>
          </a:prstGeom>
          <a:noFill/>
          <a:ln/>
        </p:spPr>
        <p:txBody>
          <a:bodyPr wrap="square" lIns="0" tIns="0" rIns="0" bIns="0" rtlCol="0" anchor="t"/>
          <a:lstStyle/>
          <a:p>
            <a:pPr indent="0" marL="0">
              <a:buNone/>
            </a:pPr>
            <a:r>
              <a:rPr lang="en-US" sz="1100" dirty="0">
                <a:solidFill>
                  <a:srgbClr val="1E40AF"/>
                </a:solidFill>
                <a:latin typeface="Consolas" pitchFamily="34" charset="0"/>
                <a:ea typeface="Consolas" pitchFamily="34" charset="-122"/>
                <a:cs typeface="Consolas" pitchFamily="34" charset="-120"/>
              </a:rPr>
              <a:t>Search A00016758 in 150% BOM → show it in both EU and LH branches</a:t>
            </a:r>
            <a:endParaRPr lang="en-US" sz="1100" dirty="0"/>
          </a:p>
          <a:p>
            <a:pPr indent="0" marL="0">
              <a:buNone/>
            </a:pPr>
            <a:r>
              <a:rPr lang="en-US" sz="1100" dirty="0">
                <a:solidFill>
                  <a:srgbClr val="1E40AF"/>
                </a:solidFill>
                <a:latin typeface="Consolas" pitchFamily="34" charset="0"/>
                <a:ea typeface="Consolas" pitchFamily="34" charset="-122"/>
                <a:cs typeface="Consolas" pitchFamily="34" charset="-120"/>
              </a:rPr>
              <a:t>Search A00025728 → same — both branches, no outfeed type keyword in name</a:t>
            </a:r>
            <a:endParaRPr lang="en-US" sz="1100" dirty="0"/>
          </a:p>
        </p:txBody>
      </p:sp>
      <p:sp>
        <p:nvSpPr>
          <p:cNvPr id="25" name="Shape 23"/>
          <p:cNvSpPr/>
          <p:nvPr/>
        </p:nvSpPr>
        <p:spPr>
          <a:xfrm>
            <a:off x="2240280" y="1865376"/>
            <a:ext cx="6720840" cy="621792"/>
          </a:xfrm>
          <a:prstGeom prst="rect">
            <a:avLst/>
          </a:prstGeom>
          <a:solidFill>
            <a:srgbClr val="1B2A4A"/>
          </a:solidFill>
          <a:ln w="12700">
            <a:solidFill>
              <a:srgbClr val="1B2A4A"/>
            </a:solidFill>
            <a:prstDash val="solid"/>
          </a:ln>
        </p:spPr>
      </p:sp>
      <p:sp>
        <p:nvSpPr>
          <p:cNvPr id="26" name="Text 24"/>
          <p:cNvSpPr/>
          <p:nvPr/>
        </p:nvSpPr>
        <p:spPr>
          <a:xfrm>
            <a:off x="2377440" y="1929384"/>
            <a:ext cx="1828800" cy="182880"/>
          </a:xfrm>
          <a:prstGeom prst="rect">
            <a:avLst/>
          </a:prstGeom>
          <a:noFill/>
          <a:ln/>
        </p:spPr>
        <p:txBody>
          <a:bodyPr wrap="square" lIns="0" tIns="0" rIns="0" bIns="0" rtlCol="0" anchor="ctr"/>
          <a:lstStyle/>
          <a:p>
            <a:pPr indent="0" marL="0">
              <a:buNone/>
            </a:pPr>
            <a:r>
              <a:rPr lang="en-US" sz="700" b="1" spc="200" kern="0" dirty="0">
                <a:solidFill>
                  <a:srgbClr val="94A3B8"/>
                </a:solidFill>
                <a:latin typeface="Calibri" pitchFamily="34" charset="0"/>
                <a:ea typeface="Calibri" pitchFamily="34" charset="-122"/>
                <a:cs typeface="Calibri" pitchFamily="34" charset="-120"/>
              </a:rPr>
              <a:t>ASK EXACTLY THIS</a:t>
            </a:r>
            <a:endParaRPr lang="en-US" sz="700" dirty="0"/>
          </a:p>
        </p:txBody>
      </p:sp>
      <p:sp>
        <p:nvSpPr>
          <p:cNvPr id="27" name="Text 25"/>
          <p:cNvSpPr/>
          <p:nvPr/>
        </p:nvSpPr>
        <p:spPr>
          <a:xfrm>
            <a:off x="2377440" y="2103120"/>
            <a:ext cx="6492240" cy="347472"/>
          </a:xfrm>
          <a:prstGeom prst="rect">
            <a:avLst/>
          </a:prstGeom>
          <a:noFill/>
          <a:ln/>
        </p:spPr>
        <p:txBody>
          <a:bodyPr wrap="square" lIns="0" tIns="0" rIns="0" bIns="0" rtlCol="0" anchor="t"/>
          <a:lstStyle/>
          <a:p>
            <a:pPr indent="0" marL="0">
              <a:buNone/>
            </a:pPr>
            <a:r>
              <a:rPr lang="en-US" sz="1200" b="1" i="1" dirty="0">
                <a:solidFill>
                  <a:srgbClr val="FFFFFF"/>
                </a:solidFill>
                <a:latin typeface="Calibri" pitchFamily="34" charset="0"/>
                <a:ea typeface="Calibri" pitchFamily="34" charset="-122"/>
                <a:cs typeface="Calibri" pitchFamily="34" charset="-120"/>
              </a:rPr>
              <a:t>"Are the outfeed sensor and outfeed frame weldment shared across all outfeed types — or are they specific to Intralox only?"</a:t>
            </a:r>
            <a:endParaRPr lang="en-US" sz="1200" dirty="0"/>
          </a:p>
        </p:txBody>
      </p:sp>
      <p:sp>
        <p:nvSpPr>
          <p:cNvPr id="28" name="Shape 26"/>
          <p:cNvSpPr/>
          <p:nvPr/>
        </p:nvSpPr>
        <p:spPr>
          <a:xfrm>
            <a:off x="2240280" y="2542032"/>
            <a:ext cx="3332988" cy="2423160"/>
          </a:xfrm>
          <a:prstGeom prst="rect">
            <a:avLst/>
          </a:prstGeom>
          <a:solidFill>
            <a:srgbClr val="FFFFFF"/>
          </a:solidFill>
          <a:ln w="12700">
            <a:solidFill>
              <a:srgbClr val="86EFAC"/>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240280" y="2542032"/>
            <a:ext cx="3332988" cy="256032"/>
          </a:xfrm>
          <a:prstGeom prst="rect">
            <a:avLst/>
          </a:prstGeom>
          <a:solidFill>
            <a:srgbClr val="065F46"/>
          </a:solidFill>
          <a:ln w="12700">
            <a:solidFill>
              <a:srgbClr val="065F46"/>
            </a:solidFill>
            <a:prstDash val="solid"/>
          </a:ln>
        </p:spPr>
      </p:sp>
      <p:sp>
        <p:nvSpPr>
          <p:cNvPr id="30" name="Text 28"/>
          <p:cNvSpPr/>
          <p:nvPr/>
        </p:nvSpPr>
        <p:spPr>
          <a:xfrm>
            <a:off x="2350008"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YES</a:t>
            </a:r>
            <a:endParaRPr lang="en-US" sz="900" dirty="0"/>
          </a:p>
        </p:txBody>
      </p:sp>
      <p:sp>
        <p:nvSpPr>
          <p:cNvPr id="31" name="Text 29"/>
          <p:cNvSpPr/>
          <p:nvPr/>
        </p:nvSpPr>
        <p:spPr>
          <a:xfrm>
            <a:off x="2350008" y="2834640"/>
            <a:ext cx="3150108" cy="694944"/>
          </a:xfrm>
          <a:prstGeom prst="rect">
            <a:avLst/>
          </a:prstGeom>
          <a:noFill/>
          <a:ln/>
        </p:spPr>
        <p:txBody>
          <a:bodyPr wrap="square" lIns="0" tIns="0" rIns="0" bIns="0" rtlCol="0" anchor="t"/>
          <a:lstStyle/>
          <a:p>
            <a:pPr indent="0" marL="0">
              <a:buNone/>
            </a:pPr>
            <a:r>
              <a:rPr lang="en-US" sz="1100" dirty="0">
                <a:solidFill>
                  <a:srgbClr val="166534"/>
                </a:solidFill>
                <a:latin typeface="Calibri" pitchFamily="34" charset="0"/>
                <a:ea typeface="Calibri" pitchFamily="34" charset="-122"/>
                <a:cs typeface="Calibri" pitchFamily="34" charset="-120"/>
              </a:rPr>
              <a:t>SME says: these parts are on every outfeed type</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TC: both become COMMON — no variant condition needed</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Simplifies the outfeed rules significantly</a:t>
            </a:r>
            <a:endParaRPr lang="en-US" sz="1100" dirty="0"/>
          </a:p>
        </p:txBody>
      </p:sp>
      <p:sp>
        <p:nvSpPr>
          <p:cNvPr id="32" name="Shape 30"/>
          <p:cNvSpPr/>
          <p:nvPr/>
        </p:nvSpPr>
        <p:spPr>
          <a:xfrm>
            <a:off x="2350008" y="3575304"/>
            <a:ext cx="3113532" cy="0"/>
          </a:xfrm>
          <a:prstGeom prst="line">
            <a:avLst/>
          </a:prstGeom>
          <a:noFill/>
          <a:ln w="12700">
            <a:solidFill>
              <a:srgbClr val="86EFAC"/>
            </a:solidFill>
            <a:prstDash val="dash"/>
          </a:ln>
        </p:spPr>
      </p:sp>
      <p:sp>
        <p:nvSpPr>
          <p:cNvPr id="33" name="Text 31"/>
          <p:cNvSpPr/>
          <p:nvPr/>
        </p:nvSpPr>
        <p:spPr>
          <a:xfrm>
            <a:off x="2350008" y="3648456"/>
            <a:ext cx="3150108" cy="201168"/>
          </a:xfrm>
          <a:prstGeom prst="rect">
            <a:avLst/>
          </a:prstGeom>
          <a:noFill/>
          <a:ln/>
        </p:spPr>
        <p:txBody>
          <a:bodyPr wrap="square" lIns="0" tIns="0" rIns="0" bIns="0" rtlCol="0" anchor="ctr"/>
          <a:lstStyle/>
          <a:p>
            <a:pPr indent="0" marL="0">
              <a:buNone/>
            </a:pPr>
            <a:r>
              <a:rPr lang="en-US" sz="700" b="1" spc="200" kern="0" dirty="0">
                <a:solidFill>
                  <a:srgbClr val="065F46"/>
                </a:solidFill>
                <a:latin typeface="Calibri" pitchFamily="34" charset="0"/>
                <a:ea typeface="Calibri" pitchFamily="34" charset="-122"/>
                <a:cs typeface="Calibri" pitchFamily="34" charset="-120"/>
              </a:rPr>
              <a:t>IF YES — UPDATE TC</a:t>
            </a:r>
            <a:endParaRPr lang="en-US" sz="700" dirty="0"/>
          </a:p>
        </p:txBody>
      </p:sp>
      <p:sp>
        <p:nvSpPr>
          <p:cNvPr id="34" name="Text 32"/>
          <p:cNvSpPr/>
          <p:nvPr/>
        </p:nvSpPr>
        <p:spPr>
          <a:xfrm>
            <a:off x="2350008" y="3877056"/>
            <a:ext cx="3150108" cy="1014984"/>
          </a:xfrm>
          <a:prstGeom prst="rect">
            <a:avLst/>
          </a:prstGeom>
          <a:noFill/>
          <a:ln/>
        </p:spPr>
        <p:txBody>
          <a:bodyPr wrap="square" lIns="0" tIns="0" rIns="0" bIns="0" rtlCol="0" anchor="t"/>
          <a:lstStyle/>
          <a:p>
            <a:pPr marL="342900" indent="-342900">
              <a:buSzPct val="100000"/>
              <a:buChar char="•"/>
            </a:pPr>
            <a:r>
              <a:rPr lang="en-US" sz="1000" dirty="0">
                <a:solidFill>
                  <a:srgbClr val="166534"/>
                </a:solidFill>
                <a:latin typeface="Calibri" pitchFamily="34" charset="0"/>
                <a:ea typeface="Calibri" pitchFamily="34" charset="-122"/>
                <a:cs typeface="Calibri" pitchFamily="34" charset="-120"/>
              </a:rPr>
              <a:t>Both parts COMMON — no variant condition</a:t>
            </a:r>
            <a:endParaRPr lang="en-US" sz="1000" dirty="0"/>
          </a:p>
        </p:txBody>
      </p:sp>
      <p:sp>
        <p:nvSpPr>
          <p:cNvPr id="35" name="Shape 33"/>
          <p:cNvSpPr/>
          <p:nvPr/>
        </p:nvSpPr>
        <p:spPr>
          <a:xfrm>
            <a:off x="5628132" y="2542032"/>
            <a:ext cx="3332988" cy="242316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0000"/>
              </a:srgbClr>
            </a:outerShdw>
          </a:effectLst>
        </p:spPr>
      </p:sp>
      <p:sp>
        <p:nvSpPr>
          <p:cNvPr id="36" name="Shape 34"/>
          <p:cNvSpPr/>
          <p:nvPr/>
        </p:nvSpPr>
        <p:spPr>
          <a:xfrm>
            <a:off x="5628132" y="2542032"/>
            <a:ext cx="3332988" cy="256032"/>
          </a:xfrm>
          <a:prstGeom prst="rect">
            <a:avLst/>
          </a:prstGeom>
          <a:solidFill>
            <a:srgbClr val="991B1B"/>
          </a:solidFill>
          <a:ln w="12700">
            <a:solidFill>
              <a:srgbClr val="991B1B"/>
            </a:solidFill>
            <a:prstDash val="solid"/>
          </a:ln>
        </p:spPr>
      </p:sp>
      <p:sp>
        <p:nvSpPr>
          <p:cNvPr id="37" name="Text 35"/>
          <p:cNvSpPr/>
          <p:nvPr/>
        </p:nvSpPr>
        <p:spPr>
          <a:xfrm>
            <a:off x="5737860"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NO</a:t>
            </a:r>
            <a:endParaRPr lang="en-US" sz="900" dirty="0"/>
          </a:p>
        </p:txBody>
      </p:sp>
      <p:sp>
        <p:nvSpPr>
          <p:cNvPr id="38" name="Text 36"/>
          <p:cNvSpPr/>
          <p:nvPr/>
        </p:nvSpPr>
        <p:spPr>
          <a:xfrm>
            <a:off x="5737860" y="2834640"/>
            <a:ext cx="3113532" cy="694944"/>
          </a:xfrm>
          <a:prstGeom prst="rect">
            <a:avLst/>
          </a:prstGeom>
          <a:noFill/>
          <a:ln/>
        </p:spPr>
        <p:txBody>
          <a:bodyPr wrap="square" lIns="0" tIns="0" rIns="0" bIns="0" rtlCol="0" anchor="t"/>
          <a:lstStyle/>
          <a:p>
            <a:pPr indent="0" marL="0">
              <a:buNone/>
            </a:pPr>
            <a:r>
              <a:rPr lang="en-US" sz="1100" dirty="0">
                <a:solidFill>
                  <a:srgbClr val="991B1B"/>
                </a:solidFill>
                <a:latin typeface="Calibri" pitchFamily="34" charset="0"/>
                <a:ea typeface="Calibri" pitchFamily="34" charset="-122"/>
                <a:cs typeface="Calibri" pitchFamily="34" charset="-120"/>
              </a:rPr>
              <a:t>SME says: these are Intralox-specific parts</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TC: both get Outfeed Type = Intralox formula</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SWM would use different sensor and frame</a:t>
            </a:r>
            <a:endParaRPr lang="en-US" sz="1100" dirty="0"/>
          </a:p>
        </p:txBody>
      </p:sp>
      <p:sp>
        <p:nvSpPr>
          <p:cNvPr id="39" name="Shape 37"/>
          <p:cNvSpPr/>
          <p:nvPr/>
        </p:nvSpPr>
        <p:spPr>
          <a:xfrm>
            <a:off x="5737860" y="3575304"/>
            <a:ext cx="3076956" cy="0"/>
          </a:xfrm>
          <a:prstGeom prst="line">
            <a:avLst/>
          </a:prstGeom>
          <a:noFill/>
          <a:ln w="12700">
            <a:solidFill>
              <a:srgbClr val="FCA5A5"/>
            </a:solidFill>
            <a:prstDash val="dash"/>
          </a:ln>
        </p:spPr>
      </p:sp>
      <p:sp>
        <p:nvSpPr>
          <p:cNvPr id="40" name="Text 38"/>
          <p:cNvSpPr/>
          <p:nvPr/>
        </p:nvSpPr>
        <p:spPr>
          <a:xfrm>
            <a:off x="5737860" y="3648456"/>
            <a:ext cx="3113532" cy="201168"/>
          </a:xfrm>
          <a:prstGeom prst="rect">
            <a:avLst/>
          </a:prstGeom>
          <a:noFill/>
          <a:ln/>
        </p:spPr>
        <p:txBody>
          <a:bodyPr wrap="square" lIns="0" tIns="0" rIns="0" bIns="0" rtlCol="0" anchor="ctr"/>
          <a:lstStyle/>
          <a:p>
            <a:pPr indent="0" marL="0">
              <a:buNone/>
            </a:pPr>
            <a:r>
              <a:rPr lang="en-US" sz="700" b="1" spc="200" kern="0" dirty="0">
                <a:solidFill>
                  <a:srgbClr val="991B1B"/>
                </a:solidFill>
                <a:latin typeface="Calibri" pitchFamily="34" charset="0"/>
                <a:ea typeface="Calibri" pitchFamily="34" charset="-122"/>
                <a:cs typeface="Calibri" pitchFamily="34" charset="-120"/>
              </a:rPr>
              <a:t>IF NO — UPDATE TC</a:t>
            </a:r>
            <a:endParaRPr lang="en-US" sz="700" dirty="0"/>
          </a:p>
        </p:txBody>
      </p:sp>
      <p:sp>
        <p:nvSpPr>
          <p:cNvPr id="41" name="Text 39"/>
          <p:cNvSpPr/>
          <p:nvPr/>
        </p:nvSpPr>
        <p:spPr>
          <a:xfrm>
            <a:off x="5737860" y="3877056"/>
            <a:ext cx="3113532" cy="1014984"/>
          </a:xfrm>
          <a:prstGeom prst="rect">
            <a:avLst/>
          </a:prstGeom>
          <a:noFill/>
          <a:ln/>
        </p:spPr>
        <p:txBody>
          <a:bodyPr wrap="square" lIns="0" tIns="0" rIns="0" bIns="0" rtlCol="0" anchor="t"/>
          <a:lstStyle/>
          <a:p>
            <a:pPr marL="342900" indent="-342900">
              <a:buSzPct val="100000"/>
              <a:buChar char="•"/>
            </a:pPr>
            <a:r>
              <a:rPr lang="en-US" sz="1000" dirty="0">
                <a:solidFill>
                  <a:srgbClr val="991B1B"/>
                </a:solidFill>
                <a:latin typeface="Calibri" pitchFamily="34" charset="0"/>
                <a:ea typeface="Calibri" pitchFamily="34" charset="-122"/>
                <a:cs typeface="Calibri" pitchFamily="34" charset="-120"/>
              </a:rPr>
              <a:t>Both parts get Outfeed Type = Intralox</a:t>
            </a:r>
            <a:endParaRPr lang="en-US" sz="1000" dirty="0"/>
          </a:p>
        </p:txBody>
      </p:sp>
      <p:sp>
        <p:nvSpPr>
          <p:cNvPr id="42" name="Shape 40"/>
          <p:cNvSpPr/>
          <p:nvPr/>
        </p:nvSpPr>
        <p:spPr>
          <a:xfrm>
            <a:off x="0" y="4974336"/>
            <a:ext cx="9144000" cy="169164"/>
          </a:xfrm>
          <a:prstGeom prst="rect">
            <a:avLst/>
          </a:prstGeom>
          <a:solidFill>
            <a:srgbClr val="0D7A6B"/>
          </a:solidFill>
          <a:ln w="12700">
            <a:solidFill>
              <a:srgbClr val="0D7A6B"/>
            </a:solidFill>
            <a:prstDash val="solid"/>
          </a:ln>
        </p:spPr>
      </p:sp>
      <p:sp>
        <p:nvSpPr>
          <p:cNvPr id="43" name="Text 41"/>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1B2A4A"/>
          </a:solidFill>
          <a:ln w="12700">
            <a:solidFill>
              <a:srgbClr val="1B2A4A"/>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800" b="1" dirty="0">
                <a:solidFill>
                  <a:srgbClr val="FFFFFF"/>
                </a:solidFill>
                <a:latin typeface="Consolas" pitchFamily="34" charset="0"/>
                <a:ea typeface="Consolas" pitchFamily="34" charset="-122"/>
                <a:cs typeface="Consolas" pitchFamily="34" charset="-120"/>
              </a:rPr>
              <a:t>Q5</a:t>
            </a:r>
            <a:endParaRPr lang="en-US" sz="68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FEF3C7"/>
          </a:solidFill>
          <a:ln w="12700">
            <a:solidFill>
              <a:srgbClr val="92400E"/>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92400E"/>
                </a:solidFill>
                <a:latin typeface="Calibri" pitchFamily="34" charset="0"/>
                <a:ea typeface="Calibri" pitchFamily="34" charset="-122"/>
                <a:cs typeface="Calibri" pitchFamily="34" charset="-120"/>
              </a:rPr>
              <a:t>MEDIUM</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64748B"/>
                </a:solidFill>
                <a:latin typeface="Calibri" pitchFamily="34" charset="0"/>
                <a:ea typeface="Calibri" pitchFamily="34" charset="-122"/>
                <a:cs typeface="Calibri" pitchFamily="34" charset="-120"/>
              </a:rPr>
              <a:t>OUTFEED</a:t>
            </a:r>
            <a:endParaRPr lang="en-US" sz="800" dirty="0"/>
          </a:p>
        </p:txBody>
      </p:sp>
      <p:sp>
        <p:nvSpPr>
          <p:cNvPr id="8" name="Shape 6"/>
          <p:cNvSpPr/>
          <p:nvPr/>
        </p:nvSpPr>
        <p:spPr>
          <a:xfrm>
            <a:off x="256032" y="2267712"/>
            <a:ext cx="1591056" cy="347472"/>
          </a:xfrm>
          <a:prstGeom prst="rect">
            <a:avLst/>
          </a:prstGeom>
          <a:solidFill>
            <a:srgbClr val="0F3460"/>
          </a:solidFill>
          <a:ln w="12700">
            <a:solidFill>
              <a:srgbClr val="0F3460"/>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5 min</a:t>
            </a:r>
            <a:endParaRPr lang="en-US" sz="1300" dirty="0"/>
          </a:p>
        </p:txBody>
      </p:sp>
      <p:sp>
        <p:nvSpPr>
          <p:cNvPr id="10" name="Shape 8"/>
          <p:cNvSpPr/>
          <p:nvPr/>
        </p:nvSpPr>
        <p:spPr>
          <a:xfrm>
            <a:off x="164592" y="2788920"/>
            <a:ext cx="1773936" cy="1417320"/>
          </a:xfrm>
          <a:prstGeom prst="rect">
            <a:avLst/>
          </a:prstGeom>
          <a:solidFill>
            <a:srgbClr val="1E3A5F"/>
          </a:solidFill>
          <a:ln w="12700">
            <a:solidFill>
              <a:srgbClr val="1E3A5F"/>
            </a:solidFill>
            <a:prstDash val="solid"/>
          </a:ln>
        </p:spPr>
      </p:sp>
      <p:sp>
        <p:nvSpPr>
          <p:cNvPr id="11" name="Text 9"/>
          <p:cNvSpPr/>
          <p:nvPr/>
        </p:nvSpPr>
        <p:spPr>
          <a:xfrm>
            <a:off x="164592" y="2834640"/>
            <a:ext cx="1773936" cy="201168"/>
          </a:xfrm>
          <a:prstGeom prst="rect">
            <a:avLst/>
          </a:prstGeom>
          <a:noFill/>
          <a:ln/>
        </p:spPr>
        <p:txBody>
          <a:bodyPr wrap="square" lIns="0" tIns="0" rIns="0" bIns="0" rtlCol="0" anchor="ctr"/>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IF STUCK</a:t>
            </a:r>
            <a:endParaRPr lang="en-US" sz="700" dirty="0"/>
          </a:p>
        </p:txBody>
      </p:sp>
      <p:sp>
        <p:nvSpPr>
          <p:cNvPr id="12" name="Text 10"/>
          <p:cNvSpPr/>
          <p:nvPr/>
        </p:nvSpPr>
        <p:spPr>
          <a:xfrm>
            <a:off x="228600" y="3054096"/>
            <a:ext cx="1645920" cy="1097280"/>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Show the 3 Part IDs side by side:</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"6FT, 32FT, and 10FT each have a different panel. Does an SWM machine use one of these same panels — or a completely different one?"</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The answer tells you if outfeed type or length is the driver.</a:t>
            </a:r>
            <a:endParaRPr lang="en-US" sz="900" dirty="0"/>
          </a:p>
        </p:txBody>
      </p:sp>
      <p:sp>
        <p:nvSpPr>
          <p:cNvPr id="13" name="Shape 11"/>
          <p:cNvSpPr/>
          <p:nvPr/>
        </p:nvSpPr>
        <p:spPr>
          <a:xfrm>
            <a:off x="164592" y="4315968"/>
            <a:ext cx="1773936" cy="658368"/>
          </a:xfrm>
          <a:prstGeom prst="rect">
            <a:avLst/>
          </a:prstGeom>
          <a:solidFill>
            <a:srgbClr val="0D7A6B"/>
          </a:solidFill>
          <a:ln w="12700">
            <a:solidFill>
              <a:srgbClr val="0D7A6B"/>
            </a:solidFill>
            <a:prstDash val="solid"/>
          </a:ln>
        </p:spPr>
      </p:sp>
      <p:sp>
        <p:nvSpPr>
          <p:cNvPr id="14" name="Text 12"/>
          <p:cNvSpPr/>
          <p:nvPr/>
        </p:nvSpPr>
        <p:spPr>
          <a:xfrm>
            <a:off x="164592" y="4343400"/>
            <a:ext cx="1773936" cy="201168"/>
          </a:xfrm>
          <a:prstGeom prst="rect">
            <a:avLst/>
          </a:prstGeom>
          <a:noFill/>
          <a:ln/>
        </p:spPr>
        <p:txBody>
          <a:bodyPr wrap="square" lIns="0" tIns="0" rIns="0" bIns="0" rtlCol="0" anchor="ctr"/>
          <a:lstStyle/>
          <a:p>
            <a:pPr algn="ctr" indent="0" marL="0">
              <a:buNone/>
            </a:pPr>
            <a:r>
              <a:rPr lang="en-US" sz="700" spc="200" kern="0" dirty="0">
                <a:solidFill>
                  <a:srgbClr val="A7F3D0"/>
                </a:solidFill>
                <a:latin typeface="Calibri" pitchFamily="34" charset="0"/>
                <a:ea typeface="Calibri" pitchFamily="34" charset="-122"/>
                <a:cs typeface="Calibri" pitchFamily="34" charset="-120"/>
              </a:rPr>
              <a:t>TC ACTION</a:t>
            </a:r>
            <a:endParaRPr lang="en-US" sz="700" dirty="0"/>
          </a:p>
        </p:txBody>
      </p:sp>
      <p:sp>
        <p:nvSpPr>
          <p:cNvPr id="15" name="Text 13"/>
          <p:cNvSpPr/>
          <p:nvPr/>
        </p:nvSpPr>
        <p:spPr>
          <a:xfrm>
            <a:off x="201168" y="4553712"/>
            <a:ext cx="1719072" cy="384048"/>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YES: All 3 panels get Outfeed Type = Intralox formula</a:t>
            </a:r>
            <a:endParaRPr lang="en-US" sz="900" dirty="0"/>
          </a:p>
          <a:p>
            <a:pPr indent="0" marL="0">
              <a:buNone/>
            </a:pP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NO: A00036378 → L=6Ft, A00034157 → L=32Ft, A00025617 → L=10Ft</a:t>
            </a:r>
            <a:endParaRPr lang="en-US" sz="900" dirty="0"/>
          </a:p>
        </p:txBody>
      </p:sp>
      <p:sp>
        <p:nvSpPr>
          <p:cNvPr id="16" name="Shape 14"/>
          <p:cNvSpPr/>
          <p:nvPr/>
        </p:nvSpPr>
        <p:spPr>
          <a:xfrm>
            <a:off x="2240280" y="0"/>
            <a:ext cx="6720840" cy="384048"/>
          </a:xfrm>
          <a:prstGeom prst="rect">
            <a:avLst/>
          </a:prstGeom>
          <a:solidFill>
            <a:srgbClr val="0D7A6B"/>
          </a:solidFill>
          <a:ln w="12700">
            <a:solidFill>
              <a:srgbClr val="0D7A6B"/>
            </a:solidFill>
            <a:prstDash val="solid"/>
          </a:ln>
        </p:spPr>
      </p:sp>
      <p:sp>
        <p:nvSpPr>
          <p:cNvPr id="17" name="Text 15"/>
          <p:cNvSpPr/>
          <p:nvPr/>
        </p:nvSpPr>
        <p:spPr>
          <a:xfrm>
            <a:off x="2377440" y="0"/>
            <a:ext cx="64465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Outfeed Panel — Intralox specific or standard across all outfeed types?</a:t>
            </a:r>
            <a:endParaRPr lang="en-US" sz="1400" dirty="0"/>
          </a:p>
        </p:txBody>
      </p:sp>
      <p:sp>
        <p:nvSpPr>
          <p:cNvPr id="18" name="Shape 16"/>
          <p:cNvSpPr/>
          <p:nvPr/>
        </p:nvSpPr>
        <p:spPr>
          <a:xfrm>
            <a:off x="2240280" y="438912"/>
            <a:ext cx="6720840" cy="822960"/>
          </a:xfrm>
          <a:prstGeom prst="rect">
            <a:avLst/>
          </a:prstGeom>
          <a:solidFill>
            <a:srgbClr val="FFFFFF"/>
          </a:solidFill>
          <a:ln w="12700">
            <a:solidFill>
              <a:srgbClr val="CBD5E1"/>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2240280" y="438912"/>
            <a:ext cx="54864" cy="822960"/>
          </a:xfrm>
          <a:prstGeom prst="rect">
            <a:avLst/>
          </a:prstGeom>
          <a:solidFill>
            <a:srgbClr val="1B2A4A"/>
          </a:solidFill>
          <a:ln w="12700">
            <a:solidFill>
              <a:srgbClr val="1B2A4A"/>
            </a:solidFill>
            <a:prstDash val="solid"/>
          </a:ln>
        </p:spPr>
      </p:sp>
      <p:sp>
        <p:nvSpPr>
          <p:cNvPr id="20" name="Text 18"/>
          <p:cNvSpPr/>
          <p:nvPr/>
        </p:nvSpPr>
        <p:spPr>
          <a:xfrm>
            <a:off x="2377440" y="493776"/>
            <a:ext cx="1097280" cy="182880"/>
          </a:xfrm>
          <a:prstGeom prst="rect">
            <a:avLst/>
          </a:prstGeom>
          <a:noFill/>
          <a:ln/>
        </p:spPr>
        <p:txBody>
          <a:bodyPr wrap="square" lIns="0" tIns="0" rIns="0" bIns="0" rtlCol="0" anchor="ctr"/>
          <a:lstStyle/>
          <a:p>
            <a:pPr indent="0" marL="0">
              <a:buNone/>
            </a:pPr>
            <a:r>
              <a:rPr lang="en-US" sz="700" b="1" spc="200" kern="0" dirty="0">
                <a:solidFill>
                  <a:srgbClr val="1B2A4A"/>
                </a:solidFill>
                <a:latin typeface="Calibri" pitchFamily="34" charset="0"/>
                <a:ea typeface="Calibri" pitchFamily="34" charset="-122"/>
                <a:cs typeface="Calibri" pitchFamily="34" charset="-120"/>
              </a:rPr>
              <a:t>SAY TO OPEN</a:t>
            </a:r>
            <a:endParaRPr lang="en-US" sz="700" dirty="0"/>
          </a:p>
        </p:txBody>
      </p:sp>
      <p:sp>
        <p:nvSpPr>
          <p:cNvPr id="21" name="Text 19"/>
          <p:cNvSpPr/>
          <p:nvPr/>
        </p:nvSpPr>
        <p:spPr>
          <a:xfrm>
            <a:off x="2377440" y="694944"/>
            <a:ext cx="6492240" cy="521208"/>
          </a:xfrm>
          <a:prstGeom prst="rect">
            <a:avLst/>
          </a:prstGeom>
          <a:noFill/>
          <a:ln/>
        </p:spPr>
        <p:txBody>
          <a:bodyPr wrap="square" lIns="0" tIns="0" rIns="0" bIns="0" rtlCol="0" anchor="t"/>
          <a:lstStyle/>
          <a:p>
            <a:pPr indent="0" marL="0">
              <a:buNone/>
            </a:pPr>
            <a:r>
              <a:rPr lang="en-US" sz="1200" i="1" dirty="0">
                <a:solidFill>
                  <a:srgbClr val="1B2A4A"/>
                </a:solidFill>
                <a:latin typeface="Calibri" pitchFamily="34" charset="0"/>
                <a:ea typeface="Calibri" pitchFamily="34" charset="-122"/>
                <a:cs typeface="Calibri" pitchFamily="34" charset="-120"/>
              </a:rPr>
              <a:t>We have three different outfeed panel Part IDs across the three BOMs — one per configuration. None have an outfeed type keyword in their name. The 6FT EU panel sits inside an INTRALOX kit, but the 32FT and 10FT panels have no such parent — so the BOM alone cannot tell us what drives the difference.</a:t>
            </a:r>
            <a:endParaRPr lang="en-US" sz="1200" dirty="0"/>
          </a:p>
        </p:txBody>
      </p:sp>
      <p:sp>
        <p:nvSpPr>
          <p:cNvPr id="22" name="Shape 20"/>
          <p:cNvSpPr/>
          <p:nvPr/>
        </p:nvSpPr>
        <p:spPr>
          <a:xfrm>
            <a:off x="2240280" y="1298448"/>
            <a:ext cx="6720840" cy="530352"/>
          </a:xfrm>
          <a:prstGeom prst="rect">
            <a:avLst/>
          </a:prstGeom>
          <a:solidFill>
            <a:srgbClr val="EFF6FF"/>
          </a:solidFill>
          <a:ln w="12700">
            <a:solidFill>
              <a:srgbClr val="BFDBFE"/>
            </a:solidFill>
            <a:prstDash val="solid"/>
          </a:ln>
        </p:spPr>
      </p:sp>
      <p:sp>
        <p:nvSpPr>
          <p:cNvPr id="23" name="Text 21"/>
          <p:cNvSpPr/>
          <p:nvPr/>
        </p:nvSpPr>
        <p:spPr>
          <a:xfrm>
            <a:off x="2377440" y="1362456"/>
            <a:ext cx="1828800" cy="182880"/>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SHOW ON BOM VIEWER</a:t>
            </a:r>
            <a:endParaRPr lang="en-US" sz="700" dirty="0"/>
          </a:p>
        </p:txBody>
      </p:sp>
      <p:sp>
        <p:nvSpPr>
          <p:cNvPr id="24" name="Text 22"/>
          <p:cNvSpPr/>
          <p:nvPr/>
        </p:nvSpPr>
        <p:spPr>
          <a:xfrm>
            <a:off x="2377440" y="1554480"/>
            <a:ext cx="6492240" cy="228600"/>
          </a:xfrm>
          <a:prstGeom prst="rect">
            <a:avLst/>
          </a:prstGeom>
          <a:noFill/>
          <a:ln/>
        </p:spPr>
        <p:txBody>
          <a:bodyPr wrap="square" lIns="0" tIns="0" rIns="0" bIns="0" rtlCol="0" anchor="t"/>
          <a:lstStyle/>
          <a:p>
            <a:pPr indent="0" marL="0">
              <a:buNone/>
            </a:pPr>
            <a:r>
              <a:rPr lang="en-US" sz="1100" dirty="0">
                <a:solidFill>
                  <a:srgbClr val="1E40AF"/>
                </a:solidFill>
                <a:latin typeface="Consolas" pitchFamily="34" charset="0"/>
                <a:ea typeface="Consolas" pitchFamily="34" charset="-122"/>
                <a:cs typeface="Consolas" pitchFamily="34" charset="-120"/>
              </a:rPr>
              <a:t>Search ASSY_OUTFEED_PANEL in 150% BOM → show 3 different Part IDs:</a:t>
            </a:r>
            <a:endParaRPr lang="en-US" sz="1100" dirty="0"/>
          </a:p>
          <a:p>
            <a:pPr indent="0" marL="0">
              <a:buNone/>
            </a:pPr>
            <a:r>
              <a:rPr lang="en-US" sz="1100" dirty="0">
                <a:solidFill>
                  <a:srgbClr val="1E40AF"/>
                </a:solidFill>
                <a:latin typeface="Consolas" pitchFamily="34" charset="0"/>
                <a:ea typeface="Consolas" pitchFamily="34" charset="-122"/>
                <a:cs typeface="Consolas" pitchFamily="34" charset="-120"/>
              </a:rPr>
              <a:t>A00036378 in 6FT EU · A00034157 in 32FT LH · A00025617 in 10FT LH</a:t>
            </a:r>
            <a:endParaRPr lang="en-US" sz="1100" dirty="0"/>
          </a:p>
          <a:p>
            <a:pPr indent="0" marL="0">
              <a:buNone/>
            </a:pPr>
            <a:r>
              <a:rPr lang="en-US" sz="1100" dirty="0">
                <a:solidFill>
                  <a:srgbClr val="1E40AF"/>
                </a:solidFill>
                <a:latin typeface="Consolas" pitchFamily="34" charset="0"/>
                <a:ea typeface="Consolas" pitchFamily="34" charset="-122"/>
                <a:cs typeface="Consolas" pitchFamily="34" charset="-120"/>
              </a:rPr>
              <a:t>Note: none tagged — all showing PENDING</a:t>
            </a:r>
            <a:endParaRPr lang="en-US" sz="1100" dirty="0"/>
          </a:p>
        </p:txBody>
      </p:sp>
      <p:sp>
        <p:nvSpPr>
          <p:cNvPr id="25" name="Shape 23"/>
          <p:cNvSpPr/>
          <p:nvPr/>
        </p:nvSpPr>
        <p:spPr>
          <a:xfrm>
            <a:off x="2240280" y="1865376"/>
            <a:ext cx="6720840" cy="621792"/>
          </a:xfrm>
          <a:prstGeom prst="rect">
            <a:avLst/>
          </a:prstGeom>
          <a:solidFill>
            <a:srgbClr val="1B2A4A"/>
          </a:solidFill>
          <a:ln w="12700">
            <a:solidFill>
              <a:srgbClr val="1B2A4A"/>
            </a:solidFill>
            <a:prstDash val="solid"/>
          </a:ln>
        </p:spPr>
      </p:sp>
      <p:sp>
        <p:nvSpPr>
          <p:cNvPr id="26" name="Text 24"/>
          <p:cNvSpPr/>
          <p:nvPr/>
        </p:nvSpPr>
        <p:spPr>
          <a:xfrm>
            <a:off x="2377440" y="1929384"/>
            <a:ext cx="1828800" cy="182880"/>
          </a:xfrm>
          <a:prstGeom prst="rect">
            <a:avLst/>
          </a:prstGeom>
          <a:noFill/>
          <a:ln/>
        </p:spPr>
        <p:txBody>
          <a:bodyPr wrap="square" lIns="0" tIns="0" rIns="0" bIns="0" rtlCol="0" anchor="ctr"/>
          <a:lstStyle/>
          <a:p>
            <a:pPr indent="0" marL="0">
              <a:buNone/>
            </a:pPr>
            <a:r>
              <a:rPr lang="en-US" sz="700" b="1" spc="200" kern="0" dirty="0">
                <a:solidFill>
                  <a:srgbClr val="94A3B8"/>
                </a:solidFill>
                <a:latin typeface="Calibri" pitchFamily="34" charset="0"/>
                <a:ea typeface="Calibri" pitchFamily="34" charset="-122"/>
                <a:cs typeface="Calibri" pitchFamily="34" charset="-120"/>
              </a:rPr>
              <a:t>ASK EXACTLY THIS</a:t>
            </a:r>
            <a:endParaRPr lang="en-US" sz="700" dirty="0"/>
          </a:p>
        </p:txBody>
      </p:sp>
      <p:sp>
        <p:nvSpPr>
          <p:cNvPr id="27" name="Text 25"/>
          <p:cNvSpPr/>
          <p:nvPr/>
        </p:nvSpPr>
        <p:spPr>
          <a:xfrm>
            <a:off x="2377440" y="2103120"/>
            <a:ext cx="6492240" cy="347472"/>
          </a:xfrm>
          <a:prstGeom prst="rect">
            <a:avLst/>
          </a:prstGeom>
          <a:noFill/>
          <a:ln/>
        </p:spPr>
        <p:txBody>
          <a:bodyPr wrap="square" lIns="0" tIns="0" rIns="0" bIns="0" rtlCol="0" anchor="t"/>
          <a:lstStyle/>
          <a:p>
            <a:pPr indent="0" marL="0">
              <a:buNone/>
            </a:pPr>
            <a:r>
              <a:rPr lang="en-US" sz="1200" b="1" i="1" dirty="0">
                <a:solidFill>
                  <a:srgbClr val="FFFFFF"/>
                </a:solidFill>
                <a:latin typeface="Calibri" pitchFamily="34" charset="0"/>
                <a:ea typeface="Calibri" pitchFamily="34" charset="-122"/>
                <a:cs typeface="Calibri" pitchFamily="34" charset="-120"/>
              </a:rPr>
              <a:t>"Is the outfeed panel specific to the outfeed type — Intralox versus SWM — or is it driven by the machine length?"</a:t>
            </a:r>
            <a:endParaRPr lang="en-US" sz="1200" dirty="0"/>
          </a:p>
        </p:txBody>
      </p:sp>
      <p:sp>
        <p:nvSpPr>
          <p:cNvPr id="28" name="Shape 26"/>
          <p:cNvSpPr/>
          <p:nvPr/>
        </p:nvSpPr>
        <p:spPr>
          <a:xfrm>
            <a:off x="2240280" y="2542032"/>
            <a:ext cx="3332988" cy="2423160"/>
          </a:xfrm>
          <a:prstGeom prst="rect">
            <a:avLst/>
          </a:prstGeom>
          <a:solidFill>
            <a:srgbClr val="FFFFFF"/>
          </a:solidFill>
          <a:ln w="12700">
            <a:solidFill>
              <a:srgbClr val="86EFAC"/>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240280" y="2542032"/>
            <a:ext cx="3332988" cy="256032"/>
          </a:xfrm>
          <a:prstGeom prst="rect">
            <a:avLst/>
          </a:prstGeom>
          <a:solidFill>
            <a:srgbClr val="065F46"/>
          </a:solidFill>
          <a:ln w="12700">
            <a:solidFill>
              <a:srgbClr val="065F46"/>
            </a:solidFill>
            <a:prstDash val="solid"/>
          </a:ln>
        </p:spPr>
      </p:sp>
      <p:sp>
        <p:nvSpPr>
          <p:cNvPr id="30" name="Text 28"/>
          <p:cNvSpPr/>
          <p:nvPr/>
        </p:nvSpPr>
        <p:spPr>
          <a:xfrm>
            <a:off x="2350008"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YES</a:t>
            </a:r>
            <a:endParaRPr lang="en-US" sz="900" dirty="0"/>
          </a:p>
        </p:txBody>
      </p:sp>
      <p:sp>
        <p:nvSpPr>
          <p:cNvPr id="31" name="Text 29"/>
          <p:cNvSpPr/>
          <p:nvPr/>
        </p:nvSpPr>
        <p:spPr>
          <a:xfrm>
            <a:off x="2350008" y="2834640"/>
            <a:ext cx="3150108" cy="694944"/>
          </a:xfrm>
          <a:prstGeom prst="rect">
            <a:avLst/>
          </a:prstGeom>
          <a:noFill/>
          <a:ln/>
        </p:spPr>
        <p:txBody>
          <a:bodyPr wrap="square" lIns="0" tIns="0" rIns="0" bIns="0" rtlCol="0" anchor="t"/>
          <a:lstStyle/>
          <a:p>
            <a:pPr indent="0" marL="0">
              <a:buNone/>
            </a:pPr>
            <a:r>
              <a:rPr lang="en-US" sz="1100" dirty="0">
                <a:solidFill>
                  <a:srgbClr val="166534"/>
                </a:solidFill>
                <a:latin typeface="Calibri" pitchFamily="34" charset="0"/>
                <a:ea typeface="Calibri" pitchFamily="34" charset="-122"/>
                <a:cs typeface="Calibri" pitchFamily="34" charset="-120"/>
              </a:rPr>
              <a:t>SME says: panel is outfeed type driven</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Intralox gets its own panel, SWM gets a different one</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TC: panels get Outfeed Type = Intralox formula</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Length differences are internal design only</a:t>
            </a:r>
            <a:endParaRPr lang="en-US" sz="1100" dirty="0"/>
          </a:p>
        </p:txBody>
      </p:sp>
      <p:sp>
        <p:nvSpPr>
          <p:cNvPr id="32" name="Shape 30"/>
          <p:cNvSpPr/>
          <p:nvPr/>
        </p:nvSpPr>
        <p:spPr>
          <a:xfrm>
            <a:off x="2350008" y="3575304"/>
            <a:ext cx="3113532" cy="0"/>
          </a:xfrm>
          <a:prstGeom prst="line">
            <a:avLst/>
          </a:prstGeom>
          <a:noFill/>
          <a:ln w="12700">
            <a:solidFill>
              <a:srgbClr val="86EFAC"/>
            </a:solidFill>
            <a:prstDash val="dash"/>
          </a:ln>
        </p:spPr>
      </p:sp>
      <p:sp>
        <p:nvSpPr>
          <p:cNvPr id="33" name="Text 31"/>
          <p:cNvSpPr/>
          <p:nvPr/>
        </p:nvSpPr>
        <p:spPr>
          <a:xfrm>
            <a:off x="2350008" y="3648456"/>
            <a:ext cx="3150108" cy="201168"/>
          </a:xfrm>
          <a:prstGeom prst="rect">
            <a:avLst/>
          </a:prstGeom>
          <a:noFill/>
          <a:ln/>
        </p:spPr>
        <p:txBody>
          <a:bodyPr wrap="square" lIns="0" tIns="0" rIns="0" bIns="0" rtlCol="0" anchor="ctr"/>
          <a:lstStyle/>
          <a:p>
            <a:pPr indent="0" marL="0">
              <a:buNone/>
            </a:pPr>
            <a:r>
              <a:rPr lang="en-US" sz="700" b="1" spc="200" kern="0" dirty="0">
                <a:solidFill>
                  <a:srgbClr val="065F46"/>
                </a:solidFill>
                <a:latin typeface="Calibri" pitchFamily="34" charset="0"/>
                <a:ea typeface="Calibri" pitchFamily="34" charset="-122"/>
                <a:cs typeface="Calibri" pitchFamily="34" charset="-120"/>
              </a:rPr>
              <a:t>IF YES — UPDATE TC</a:t>
            </a:r>
            <a:endParaRPr lang="en-US" sz="700" dirty="0"/>
          </a:p>
        </p:txBody>
      </p:sp>
      <p:sp>
        <p:nvSpPr>
          <p:cNvPr id="34" name="Text 32"/>
          <p:cNvSpPr/>
          <p:nvPr/>
        </p:nvSpPr>
        <p:spPr>
          <a:xfrm>
            <a:off x="2350008" y="3877056"/>
            <a:ext cx="3150108" cy="1014984"/>
          </a:xfrm>
          <a:prstGeom prst="rect">
            <a:avLst/>
          </a:prstGeom>
          <a:noFill/>
          <a:ln/>
        </p:spPr>
        <p:txBody>
          <a:bodyPr wrap="square" lIns="0" tIns="0" rIns="0" bIns="0" rtlCol="0" anchor="t"/>
          <a:lstStyle/>
          <a:p>
            <a:pPr marL="342900" indent="-342900">
              <a:buSzPct val="100000"/>
              <a:buChar char="•"/>
            </a:pPr>
            <a:r>
              <a:rPr lang="en-US" sz="1000" dirty="0">
                <a:solidFill>
                  <a:srgbClr val="166534"/>
                </a:solidFill>
                <a:latin typeface="Calibri" pitchFamily="34" charset="0"/>
                <a:ea typeface="Calibri" pitchFamily="34" charset="-122"/>
                <a:cs typeface="Calibri" pitchFamily="34" charset="-120"/>
              </a:rPr>
              <a:t>All 3 panels get Outfeed Type = Intralox formula</a:t>
            </a:r>
            <a:endParaRPr lang="en-US" sz="1000" dirty="0"/>
          </a:p>
        </p:txBody>
      </p:sp>
      <p:sp>
        <p:nvSpPr>
          <p:cNvPr id="35" name="Shape 33"/>
          <p:cNvSpPr/>
          <p:nvPr/>
        </p:nvSpPr>
        <p:spPr>
          <a:xfrm>
            <a:off x="5628132" y="2542032"/>
            <a:ext cx="3332988" cy="242316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0000"/>
              </a:srgbClr>
            </a:outerShdw>
          </a:effectLst>
        </p:spPr>
      </p:sp>
      <p:sp>
        <p:nvSpPr>
          <p:cNvPr id="36" name="Shape 34"/>
          <p:cNvSpPr/>
          <p:nvPr/>
        </p:nvSpPr>
        <p:spPr>
          <a:xfrm>
            <a:off x="5628132" y="2542032"/>
            <a:ext cx="3332988" cy="256032"/>
          </a:xfrm>
          <a:prstGeom prst="rect">
            <a:avLst/>
          </a:prstGeom>
          <a:solidFill>
            <a:srgbClr val="991B1B"/>
          </a:solidFill>
          <a:ln w="12700">
            <a:solidFill>
              <a:srgbClr val="991B1B"/>
            </a:solidFill>
            <a:prstDash val="solid"/>
          </a:ln>
        </p:spPr>
      </p:sp>
      <p:sp>
        <p:nvSpPr>
          <p:cNvPr id="37" name="Text 35"/>
          <p:cNvSpPr/>
          <p:nvPr/>
        </p:nvSpPr>
        <p:spPr>
          <a:xfrm>
            <a:off x="5737860"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NO</a:t>
            </a:r>
            <a:endParaRPr lang="en-US" sz="900" dirty="0"/>
          </a:p>
        </p:txBody>
      </p:sp>
      <p:sp>
        <p:nvSpPr>
          <p:cNvPr id="38" name="Text 36"/>
          <p:cNvSpPr/>
          <p:nvPr/>
        </p:nvSpPr>
        <p:spPr>
          <a:xfrm>
            <a:off x="5737860" y="2834640"/>
            <a:ext cx="3113532" cy="694944"/>
          </a:xfrm>
          <a:prstGeom prst="rect">
            <a:avLst/>
          </a:prstGeom>
          <a:noFill/>
          <a:ln/>
        </p:spPr>
        <p:txBody>
          <a:bodyPr wrap="square" lIns="0" tIns="0" rIns="0" bIns="0" rtlCol="0" anchor="t"/>
          <a:lstStyle/>
          <a:p>
            <a:pPr indent="0" marL="0">
              <a:buNone/>
            </a:pPr>
            <a:r>
              <a:rPr lang="en-US" sz="1100" dirty="0">
                <a:solidFill>
                  <a:srgbClr val="991B1B"/>
                </a:solidFill>
                <a:latin typeface="Calibri" pitchFamily="34" charset="0"/>
                <a:ea typeface="Calibri" pitchFamily="34" charset="-122"/>
                <a:cs typeface="Calibri" pitchFamily="34" charset="-120"/>
              </a:rPr>
              <a:t>SME says: panel is length driven — different panel per machine size</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TC: A00036378 → Length = 6Ft</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A00034157 → Length = 32Ft</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A00025617 → Length = 10Ft</a:t>
            </a:r>
            <a:endParaRPr lang="en-US" sz="1100" dirty="0"/>
          </a:p>
        </p:txBody>
      </p:sp>
      <p:sp>
        <p:nvSpPr>
          <p:cNvPr id="39" name="Shape 37"/>
          <p:cNvSpPr/>
          <p:nvPr/>
        </p:nvSpPr>
        <p:spPr>
          <a:xfrm>
            <a:off x="5737860" y="3575304"/>
            <a:ext cx="3076956" cy="0"/>
          </a:xfrm>
          <a:prstGeom prst="line">
            <a:avLst/>
          </a:prstGeom>
          <a:noFill/>
          <a:ln w="12700">
            <a:solidFill>
              <a:srgbClr val="FCA5A5"/>
            </a:solidFill>
            <a:prstDash val="dash"/>
          </a:ln>
        </p:spPr>
      </p:sp>
      <p:sp>
        <p:nvSpPr>
          <p:cNvPr id="40" name="Text 38"/>
          <p:cNvSpPr/>
          <p:nvPr/>
        </p:nvSpPr>
        <p:spPr>
          <a:xfrm>
            <a:off x="5737860" y="3648456"/>
            <a:ext cx="3113532" cy="201168"/>
          </a:xfrm>
          <a:prstGeom prst="rect">
            <a:avLst/>
          </a:prstGeom>
          <a:noFill/>
          <a:ln/>
        </p:spPr>
        <p:txBody>
          <a:bodyPr wrap="square" lIns="0" tIns="0" rIns="0" bIns="0" rtlCol="0" anchor="ctr"/>
          <a:lstStyle/>
          <a:p>
            <a:pPr indent="0" marL="0">
              <a:buNone/>
            </a:pPr>
            <a:r>
              <a:rPr lang="en-US" sz="700" b="1" spc="200" kern="0" dirty="0">
                <a:solidFill>
                  <a:srgbClr val="991B1B"/>
                </a:solidFill>
                <a:latin typeface="Calibri" pitchFamily="34" charset="0"/>
                <a:ea typeface="Calibri" pitchFamily="34" charset="-122"/>
                <a:cs typeface="Calibri" pitchFamily="34" charset="-120"/>
              </a:rPr>
              <a:t>IF NO — UPDATE TC</a:t>
            </a:r>
            <a:endParaRPr lang="en-US" sz="700" dirty="0"/>
          </a:p>
        </p:txBody>
      </p:sp>
      <p:sp>
        <p:nvSpPr>
          <p:cNvPr id="41" name="Text 39"/>
          <p:cNvSpPr/>
          <p:nvPr/>
        </p:nvSpPr>
        <p:spPr>
          <a:xfrm>
            <a:off x="5737860" y="3877056"/>
            <a:ext cx="3113532" cy="1014984"/>
          </a:xfrm>
          <a:prstGeom prst="rect">
            <a:avLst/>
          </a:prstGeom>
          <a:noFill/>
          <a:ln/>
        </p:spPr>
        <p:txBody>
          <a:bodyPr wrap="square" lIns="0" tIns="0" rIns="0" bIns="0" rtlCol="0" anchor="t"/>
          <a:lstStyle/>
          <a:p>
            <a:pPr marL="342900" indent="-342900">
              <a:buSzPct val="100000"/>
              <a:buChar char="•"/>
            </a:pPr>
            <a:r>
              <a:rPr lang="en-US" sz="1000" dirty="0">
                <a:solidFill>
                  <a:srgbClr val="991B1B"/>
                </a:solidFill>
                <a:latin typeface="Calibri" pitchFamily="34" charset="0"/>
                <a:ea typeface="Calibri" pitchFamily="34" charset="-122"/>
                <a:cs typeface="Calibri" pitchFamily="34" charset="-120"/>
              </a:rPr>
              <a:t>A00036378 → L=6Ft, A00034157 → L=32Ft, A00025617 → L=10Ft</a:t>
            </a:r>
            <a:endParaRPr lang="en-US" sz="1000" dirty="0"/>
          </a:p>
        </p:txBody>
      </p:sp>
      <p:sp>
        <p:nvSpPr>
          <p:cNvPr id="42" name="Shape 40"/>
          <p:cNvSpPr/>
          <p:nvPr/>
        </p:nvSpPr>
        <p:spPr>
          <a:xfrm>
            <a:off x="0" y="4974336"/>
            <a:ext cx="9144000" cy="169164"/>
          </a:xfrm>
          <a:prstGeom prst="rect">
            <a:avLst/>
          </a:prstGeom>
          <a:solidFill>
            <a:srgbClr val="0D7A6B"/>
          </a:solidFill>
          <a:ln w="12700">
            <a:solidFill>
              <a:srgbClr val="0D7A6B"/>
            </a:solidFill>
            <a:prstDash val="solid"/>
          </a:ln>
        </p:spPr>
      </p:sp>
      <p:sp>
        <p:nvSpPr>
          <p:cNvPr id="43" name="Text 41"/>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1B2A4A"/>
          </a:solidFill>
          <a:ln w="12700">
            <a:solidFill>
              <a:srgbClr val="1B2A4A"/>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800" b="1" dirty="0">
                <a:solidFill>
                  <a:srgbClr val="FFFFFF"/>
                </a:solidFill>
                <a:latin typeface="Consolas" pitchFamily="34" charset="0"/>
                <a:ea typeface="Consolas" pitchFamily="34" charset="-122"/>
                <a:cs typeface="Consolas" pitchFamily="34" charset="-120"/>
              </a:rPr>
              <a:t>Q6</a:t>
            </a:r>
            <a:endParaRPr lang="en-US" sz="68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FEF3C7"/>
          </a:solidFill>
          <a:ln w="12700">
            <a:solidFill>
              <a:srgbClr val="92400E"/>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92400E"/>
                </a:solidFill>
                <a:latin typeface="Calibri" pitchFamily="34" charset="0"/>
                <a:ea typeface="Calibri" pitchFamily="34" charset="-122"/>
                <a:cs typeface="Calibri" pitchFamily="34" charset="-120"/>
              </a:rPr>
              <a:t>MEDIUM</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64748B"/>
                </a:solidFill>
                <a:latin typeface="Calibri" pitchFamily="34" charset="0"/>
                <a:ea typeface="Calibri" pitchFamily="34" charset="-122"/>
                <a:cs typeface="Calibri" pitchFamily="34" charset="-120"/>
              </a:rPr>
              <a:t>LENGTH</a:t>
            </a:r>
            <a:endParaRPr lang="en-US" sz="800" dirty="0"/>
          </a:p>
        </p:txBody>
      </p:sp>
      <p:sp>
        <p:nvSpPr>
          <p:cNvPr id="8" name="Shape 6"/>
          <p:cNvSpPr/>
          <p:nvPr/>
        </p:nvSpPr>
        <p:spPr>
          <a:xfrm>
            <a:off x="256032" y="2267712"/>
            <a:ext cx="1591056" cy="347472"/>
          </a:xfrm>
          <a:prstGeom prst="rect">
            <a:avLst/>
          </a:prstGeom>
          <a:solidFill>
            <a:srgbClr val="0F3460"/>
          </a:solidFill>
          <a:ln w="12700">
            <a:solidFill>
              <a:srgbClr val="0F3460"/>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3 min</a:t>
            </a:r>
            <a:endParaRPr lang="en-US" sz="1300" dirty="0"/>
          </a:p>
        </p:txBody>
      </p:sp>
      <p:sp>
        <p:nvSpPr>
          <p:cNvPr id="10" name="Shape 8"/>
          <p:cNvSpPr/>
          <p:nvPr/>
        </p:nvSpPr>
        <p:spPr>
          <a:xfrm>
            <a:off x="164592" y="2788920"/>
            <a:ext cx="1773936" cy="1417320"/>
          </a:xfrm>
          <a:prstGeom prst="rect">
            <a:avLst/>
          </a:prstGeom>
          <a:solidFill>
            <a:srgbClr val="1E3A5F"/>
          </a:solidFill>
          <a:ln w="12700">
            <a:solidFill>
              <a:srgbClr val="1E3A5F"/>
            </a:solidFill>
            <a:prstDash val="solid"/>
          </a:ln>
        </p:spPr>
      </p:sp>
      <p:sp>
        <p:nvSpPr>
          <p:cNvPr id="11" name="Text 9"/>
          <p:cNvSpPr/>
          <p:nvPr/>
        </p:nvSpPr>
        <p:spPr>
          <a:xfrm>
            <a:off x="164592" y="2834640"/>
            <a:ext cx="1773936" cy="201168"/>
          </a:xfrm>
          <a:prstGeom prst="rect">
            <a:avLst/>
          </a:prstGeom>
          <a:noFill/>
          <a:ln/>
        </p:spPr>
        <p:txBody>
          <a:bodyPr wrap="square" lIns="0" tIns="0" rIns="0" bIns="0" rtlCol="0" anchor="ctr"/>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IF STUCK</a:t>
            </a:r>
            <a:endParaRPr lang="en-US" sz="700" dirty="0"/>
          </a:p>
        </p:txBody>
      </p:sp>
      <p:sp>
        <p:nvSpPr>
          <p:cNvPr id="12" name="Text 10"/>
          <p:cNvSpPr/>
          <p:nvPr/>
        </p:nvSpPr>
        <p:spPr>
          <a:xfrm>
            <a:off x="228600" y="3054096"/>
            <a:ext cx="1645920" cy="1097280"/>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Ask:</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"Has a customer ever received a 5Ft PLB — or is this a concept that was never released?"</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This is a quick question — if the SME hesitates more than 30 seconds, park it and come back after the session.</a:t>
            </a:r>
            <a:endParaRPr lang="en-US" sz="900" dirty="0"/>
          </a:p>
        </p:txBody>
      </p:sp>
      <p:sp>
        <p:nvSpPr>
          <p:cNvPr id="13" name="Shape 11"/>
          <p:cNvSpPr/>
          <p:nvPr/>
        </p:nvSpPr>
        <p:spPr>
          <a:xfrm>
            <a:off x="164592" y="4315968"/>
            <a:ext cx="1773936" cy="658368"/>
          </a:xfrm>
          <a:prstGeom prst="rect">
            <a:avLst/>
          </a:prstGeom>
          <a:solidFill>
            <a:srgbClr val="0D7A6B"/>
          </a:solidFill>
          <a:ln w="12700">
            <a:solidFill>
              <a:srgbClr val="0D7A6B"/>
            </a:solidFill>
            <a:prstDash val="solid"/>
          </a:ln>
        </p:spPr>
      </p:sp>
      <p:sp>
        <p:nvSpPr>
          <p:cNvPr id="14" name="Text 12"/>
          <p:cNvSpPr/>
          <p:nvPr/>
        </p:nvSpPr>
        <p:spPr>
          <a:xfrm>
            <a:off x="164592" y="4343400"/>
            <a:ext cx="1773936" cy="201168"/>
          </a:xfrm>
          <a:prstGeom prst="rect">
            <a:avLst/>
          </a:prstGeom>
          <a:noFill/>
          <a:ln/>
        </p:spPr>
        <p:txBody>
          <a:bodyPr wrap="square" lIns="0" tIns="0" rIns="0" bIns="0" rtlCol="0" anchor="ctr"/>
          <a:lstStyle/>
          <a:p>
            <a:pPr algn="ctr" indent="0" marL="0">
              <a:buNone/>
            </a:pPr>
            <a:r>
              <a:rPr lang="en-US" sz="700" spc="200" kern="0" dirty="0">
                <a:solidFill>
                  <a:srgbClr val="A7F3D0"/>
                </a:solidFill>
                <a:latin typeface="Calibri" pitchFamily="34" charset="0"/>
                <a:ea typeface="Calibri" pitchFamily="34" charset="-122"/>
                <a:cs typeface="Calibri" pitchFamily="34" charset="-120"/>
              </a:rPr>
              <a:t>TC ACTION</a:t>
            </a:r>
            <a:endParaRPr lang="en-US" sz="700" dirty="0"/>
          </a:p>
        </p:txBody>
      </p:sp>
      <p:sp>
        <p:nvSpPr>
          <p:cNvPr id="15" name="Text 13"/>
          <p:cNvSpPr/>
          <p:nvPr/>
        </p:nvSpPr>
        <p:spPr>
          <a:xfrm>
            <a:off x="201168" y="4553712"/>
            <a:ext cx="1719072" cy="384048"/>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YES: Add Length = 5Ft to Feature Dictionary + request BOM</a:t>
            </a:r>
            <a:endParaRPr lang="en-US" sz="900" dirty="0"/>
          </a:p>
          <a:p>
            <a:pPr indent="0" marL="0">
              <a:buNone/>
            </a:pP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NO: Remove 5Ft from Feature Dictionary pending values</a:t>
            </a:r>
            <a:endParaRPr lang="en-US" sz="900" dirty="0"/>
          </a:p>
        </p:txBody>
      </p:sp>
      <p:sp>
        <p:nvSpPr>
          <p:cNvPr id="16" name="Shape 14"/>
          <p:cNvSpPr/>
          <p:nvPr/>
        </p:nvSpPr>
        <p:spPr>
          <a:xfrm>
            <a:off x="2240280" y="0"/>
            <a:ext cx="6720840" cy="384048"/>
          </a:xfrm>
          <a:prstGeom prst="rect">
            <a:avLst/>
          </a:prstGeom>
          <a:solidFill>
            <a:srgbClr val="0D7A6B"/>
          </a:solidFill>
          <a:ln w="12700">
            <a:solidFill>
              <a:srgbClr val="0D7A6B"/>
            </a:solidFill>
            <a:prstDash val="solid"/>
          </a:ln>
        </p:spPr>
      </p:sp>
      <p:sp>
        <p:nvSpPr>
          <p:cNvPr id="17" name="Text 15"/>
          <p:cNvSpPr/>
          <p:nvPr/>
        </p:nvSpPr>
        <p:spPr>
          <a:xfrm>
            <a:off x="2377440" y="0"/>
            <a:ext cx="64465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5Ft Configuration — Does it exist in production?</a:t>
            </a:r>
            <a:endParaRPr lang="en-US" sz="1400" dirty="0"/>
          </a:p>
        </p:txBody>
      </p:sp>
      <p:sp>
        <p:nvSpPr>
          <p:cNvPr id="18" name="Shape 16"/>
          <p:cNvSpPr/>
          <p:nvPr/>
        </p:nvSpPr>
        <p:spPr>
          <a:xfrm>
            <a:off x="2240280" y="438912"/>
            <a:ext cx="6720840" cy="822960"/>
          </a:xfrm>
          <a:prstGeom prst="rect">
            <a:avLst/>
          </a:prstGeom>
          <a:solidFill>
            <a:srgbClr val="FFFFFF"/>
          </a:solidFill>
          <a:ln w="12700">
            <a:solidFill>
              <a:srgbClr val="CBD5E1"/>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2240280" y="438912"/>
            <a:ext cx="54864" cy="822960"/>
          </a:xfrm>
          <a:prstGeom prst="rect">
            <a:avLst/>
          </a:prstGeom>
          <a:solidFill>
            <a:srgbClr val="1B2A4A"/>
          </a:solidFill>
          <a:ln w="12700">
            <a:solidFill>
              <a:srgbClr val="1B2A4A"/>
            </a:solidFill>
            <a:prstDash val="solid"/>
          </a:ln>
        </p:spPr>
      </p:sp>
      <p:sp>
        <p:nvSpPr>
          <p:cNvPr id="20" name="Text 18"/>
          <p:cNvSpPr/>
          <p:nvPr/>
        </p:nvSpPr>
        <p:spPr>
          <a:xfrm>
            <a:off x="2377440" y="493776"/>
            <a:ext cx="1097280" cy="182880"/>
          </a:xfrm>
          <a:prstGeom prst="rect">
            <a:avLst/>
          </a:prstGeom>
          <a:noFill/>
          <a:ln/>
        </p:spPr>
        <p:txBody>
          <a:bodyPr wrap="square" lIns="0" tIns="0" rIns="0" bIns="0" rtlCol="0" anchor="ctr"/>
          <a:lstStyle/>
          <a:p>
            <a:pPr indent="0" marL="0">
              <a:buNone/>
            </a:pPr>
            <a:r>
              <a:rPr lang="en-US" sz="700" b="1" spc="200" kern="0" dirty="0">
                <a:solidFill>
                  <a:srgbClr val="1B2A4A"/>
                </a:solidFill>
                <a:latin typeface="Calibri" pitchFamily="34" charset="0"/>
                <a:ea typeface="Calibri" pitchFamily="34" charset="-122"/>
                <a:cs typeface="Calibri" pitchFamily="34" charset="-120"/>
              </a:rPr>
              <a:t>SAY TO OPEN</a:t>
            </a:r>
            <a:endParaRPr lang="en-US" sz="700" dirty="0"/>
          </a:p>
        </p:txBody>
      </p:sp>
      <p:sp>
        <p:nvSpPr>
          <p:cNvPr id="21" name="Text 19"/>
          <p:cNvSpPr/>
          <p:nvPr/>
        </p:nvSpPr>
        <p:spPr>
          <a:xfrm>
            <a:off x="2377440" y="694944"/>
            <a:ext cx="6492240" cy="521208"/>
          </a:xfrm>
          <a:prstGeom prst="rect">
            <a:avLst/>
          </a:prstGeom>
          <a:noFill/>
          <a:ln/>
        </p:spPr>
        <p:txBody>
          <a:bodyPr wrap="square" lIns="0" tIns="0" rIns="0" bIns="0" rtlCol="0" anchor="t"/>
          <a:lstStyle/>
          <a:p>
            <a:pPr indent="0" marL="0">
              <a:buNone/>
            </a:pPr>
            <a:r>
              <a:rPr lang="en-US" sz="1200" i="1" dirty="0">
                <a:solidFill>
                  <a:srgbClr val="1B2A4A"/>
                </a:solidFill>
                <a:latin typeface="Calibri" pitchFamily="34" charset="0"/>
                <a:ea typeface="Calibri" pitchFamily="34" charset="-122"/>
                <a:cs typeface="Calibri" pitchFamily="34" charset="-120"/>
              </a:rPr>
              <a:t>While analysing the 32FT LH BOM we found a reference to an electrical panel part with 5FT in its name. It is buried inside the BOM as a sub-component — not at the top level — but it is there. This is the only evidence we have of a 5Ft machine and we need to know if it is real or historical.</a:t>
            </a:r>
            <a:endParaRPr lang="en-US" sz="1200" dirty="0"/>
          </a:p>
        </p:txBody>
      </p:sp>
      <p:sp>
        <p:nvSpPr>
          <p:cNvPr id="22" name="Shape 20"/>
          <p:cNvSpPr/>
          <p:nvPr/>
        </p:nvSpPr>
        <p:spPr>
          <a:xfrm>
            <a:off x="2240280" y="1298448"/>
            <a:ext cx="6720840" cy="530352"/>
          </a:xfrm>
          <a:prstGeom prst="rect">
            <a:avLst/>
          </a:prstGeom>
          <a:solidFill>
            <a:srgbClr val="EFF6FF"/>
          </a:solidFill>
          <a:ln w="12700">
            <a:solidFill>
              <a:srgbClr val="BFDBFE"/>
            </a:solidFill>
            <a:prstDash val="solid"/>
          </a:ln>
        </p:spPr>
      </p:sp>
      <p:sp>
        <p:nvSpPr>
          <p:cNvPr id="23" name="Text 21"/>
          <p:cNvSpPr/>
          <p:nvPr/>
        </p:nvSpPr>
        <p:spPr>
          <a:xfrm>
            <a:off x="2377440" y="1362456"/>
            <a:ext cx="1828800" cy="182880"/>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SHOW ON BOM VIEWER</a:t>
            </a:r>
            <a:endParaRPr lang="en-US" sz="700" dirty="0"/>
          </a:p>
        </p:txBody>
      </p:sp>
      <p:sp>
        <p:nvSpPr>
          <p:cNvPr id="24" name="Text 22"/>
          <p:cNvSpPr/>
          <p:nvPr/>
        </p:nvSpPr>
        <p:spPr>
          <a:xfrm>
            <a:off x="2377440" y="1554480"/>
            <a:ext cx="6492240" cy="228600"/>
          </a:xfrm>
          <a:prstGeom prst="rect">
            <a:avLst/>
          </a:prstGeom>
          <a:noFill/>
          <a:ln/>
        </p:spPr>
        <p:txBody>
          <a:bodyPr wrap="square" lIns="0" tIns="0" rIns="0" bIns="0" rtlCol="0" anchor="t"/>
          <a:lstStyle/>
          <a:p>
            <a:pPr indent="0" marL="0">
              <a:buNone/>
            </a:pPr>
            <a:r>
              <a:rPr lang="en-US" sz="1100" dirty="0">
                <a:solidFill>
                  <a:srgbClr val="1E40AF"/>
                </a:solidFill>
                <a:latin typeface="Consolas" pitchFamily="34" charset="0"/>
                <a:ea typeface="Consolas" pitchFamily="34" charset="-122"/>
                <a:cs typeface="Consolas" pitchFamily="34" charset="-120"/>
              </a:rPr>
              <a:t>Search A00032878 in 32FT LH BOM → show it buried inside the electrical sub-assembly</a:t>
            </a:r>
            <a:endParaRPr lang="en-US" sz="1100" dirty="0"/>
          </a:p>
          <a:p>
            <a:pPr indent="0" marL="0">
              <a:buNone/>
            </a:pPr>
            <a:r>
              <a:rPr lang="en-US" sz="1100" dirty="0">
                <a:solidFill>
                  <a:srgbClr val="1E40AF"/>
                </a:solidFill>
                <a:latin typeface="Consolas" pitchFamily="34" charset="0"/>
                <a:ea typeface="Consolas" pitchFamily="34" charset="-122"/>
                <a:cs typeface="Consolas" pitchFamily="34" charset="-120"/>
              </a:rPr>
              <a:t>Part name: ASSY_ELECTRICAL_BOM_FOR_A00028494_PWR_PNL_5FT</a:t>
            </a:r>
            <a:endParaRPr lang="en-US" sz="1100" dirty="0"/>
          </a:p>
        </p:txBody>
      </p:sp>
      <p:sp>
        <p:nvSpPr>
          <p:cNvPr id="25" name="Shape 23"/>
          <p:cNvSpPr/>
          <p:nvPr/>
        </p:nvSpPr>
        <p:spPr>
          <a:xfrm>
            <a:off x="2240280" y="1865376"/>
            <a:ext cx="6720840" cy="621792"/>
          </a:xfrm>
          <a:prstGeom prst="rect">
            <a:avLst/>
          </a:prstGeom>
          <a:solidFill>
            <a:srgbClr val="1B2A4A"/>
          </a:solidFill>
          <a:ln w="12700">
            <a:solidFill>
              <a:srgbClr val="1B2A4A"/>
            </a:solidFill>
            <a:prstDash val="solid"/>
          </a:ln>
        </p:spPr>
      </p:sp>
      <p:sp>
        <p:nvSpPr>
          <p:cNvPr id="26" name="Text 24"/>
          <p:cNvSpPr/>
          <p:nvPr/>
        </p:nvSpPr>
        <p:spPr>
          <a:xfrm>
            <a:off x="2377440" y="1929384"/>
            <a:ext cx="1828800" cy="182880"/>
          </a:xfrm>
          <a:prstGeom prst="rect">
            <a:avLst/>
          </a:prstGeom>
          <a:noFill/>
          <a:ln/>
        </p:spPr>
        <p:txBody>
          <a:bodyPr wrap="square" lIns="0" tIns="0" rIns="0" bIns="0" rtlCol="0" anchor="ctr"/>
          <a:lstStyle/>
          <a:p>
            <a:pPr indent="0" marL="0">
              <a:buNone/>
            </a:pPr>
            <a:r>
              <a:rPr lang="en-US" sz="700" b="1" spc="200" kern="0" dirty="0">
                <a:solidFill>
                  <a:srgbClr val="94A3B8"/>
                </a:solidFill>
                <a:latin typeface="Calibri" pitchFamily="34" charset="0"/>
                <a:ea typeface="Calibri" pitchFamily="34" charset="-122"/>
                <a:cs typeface="Calibri" pitchFamily="34" charset="-120"/>
              </a:rPr>
              <a:t>ASK EXACTLY THIS</a:t>
            </a:r>
            <a:endParaRPr lang="en-US" sz="700" dirty="0"/>
          </a:p>
        </p:txBody>
      </p:sp>
      <p:sp>
        <p:nvSpPr>
          <p:cNvPr id="27" name="Text 25"/>
          <p:cNvSpPr/>
          <p:nvPr/>
        </p:nvSpPr>
        <p:spPr>
          <a:xfrm>
            <a:off x="2377440" y="2103120"/>
            <a:ext cx="6492240" cy="347472"/>
          </a:xfrm>
          <a:prstGeom prst="rect">
            <a:avLst/>
          </a:prstGeom>
          <a:noFill/>
          <a:ln/>
        </p:spPr>
        <p:txBody>
          <a:bodyPr wrap="square" lIns="0" tIns="0" rIns="0" bIns="0" rtlCol="0" anchor="t"/>
          <a:lstStyle/>
          <a:p>
            <a:pPr indent="0" marL="0">
              <a:buNone/>
            </a:pPr>
            <a:r>
              <a:rPr lang="en-US" sz="1200" b="1" i="1" dirty="0">
                <a:solidFill>
                  <a:srgbClr val="FFFFFF"/>
                </a:solidFill>
                <a:latin typeface="Calibri" pitchFamily="34" charset="0"/>
                <a:ea typeface="Calibri" pitchFamily="34" charset="-122"/>
                <a:cs typeface="Calibri" pitchFamily="34" charset="-120"/>
              </a:rPr>
              <a:t>"Does a 5Ft PLB configuration exist in production — and if yes, can you provide the BOM?"</a:t>
            </a:r>
            <a:endParaRPr lang="en-US" sz="1200" dirty="0"/>
          </a:p>
        </p:txBody>
      </p:sp>
      <p:sp>
        <p:nvSpPr>
          <p:cNvPr id="28" name="Shape 26"/>
          <p:cNvSpPr/>
          <p:nvPr/>
        </p:nvSpPr>
        <p:spPr>
          <a:xfrm>
            <a:off x="2240280" y="2542032"/>
            <a:ext cx="3332988" cy="2423160"/>
          </a:xfrm>
          <a:prstGeom prst="rect">
            <a:avLst/>
          </a:prstGeom>
          <a:solidFill>
            <a:srgbClr val="FFFFFF"/>
          </a:solidFill>
          <a:ln w="12700">
            <a:solidFill>
              <a:srgbClr val="86EFAC"/>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240280" y="2542032"/>
            <a:ext cx="3332988" cy="256032"/>
          </a:xfrm>
          <a:prstGeom prst="rect">
            <a:avLst/>
          </a:prstGeom>
          <a:solidFill>
            <a:srgbClr val="065F46"/>
          </a:solidFill>
          <a:ln w="12700">
            <a:solidFill>
              <a:srgbClr val="065F46"/>
            </a:solidFill>
            <a:prstDash val="solid"/>
          </a:ln>
        </p:spPr>
      </p:sp>
      <p:sp>
        <p:nvSpPr>
          <p:cNvPr id="30" name="Text 28"/>
          <p:cNvSpPr/>
          <p:nvPr/>
        </p:nvSpPr>
        <p:spPr>
          <a:xfrm>
            <a:off x="2350008"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YES</a:t>
            </a:r>
            <a:endParaRPr lang="en-US" sz="900" dirty="0"/>
          </a:p>
        </p:txBody>
      </p:sp>
      <p:sp>
        <p:nvSpPr>
          <p:cNvPr id="31" name="Text 29"/>
          <p:cNvSpPr/>
          <p:nvPr/>
        </p:nvSpPr>
        <p:spPr>
          <a:xfrm>
            <a:off x="2350008" y="2834640"/>
            <a:ext cx="3150108" cy="694944"/>
          </a:xfrm>
          <a:prstGeom prst="rect">
            <a:avLst/>
          </a:prstGeom>
          <a:noFill/>
          <a:ln/>
        </p:spPr>
        <p:txBody>
          <a:bodyPr wrap="square" lIns="0" tIns="0" rIns="0" bIns="0" rtlCol="0" anchor="t"/>
          <a:lstStyle/>
          <a:p>
            <a:pPr indent="0" marL="0">
              <a:buNone/>
            </a:pPr>
            <a:r>
              <a:rPr lang="en-US" sz="1100" dirty="0">
                <a:solidFill>
                  <a:srgbClr val="166534"/>
                </a:solidFill>
                <a:latin typeface="Calibri" pitchFamily="34" charset="0"/>
                <a:ea typeface="Calibri" pitchFamily="34" charset="-122"/>
                <a:cs typeface="Calibri" pitchFamily="34" charset="-120"/>
              </a:rPr>
              <a:t>SME says: yes, 5Ft exists</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TC: add Length = 5Ft to Feature Dictionary confirmed values</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Request the 5Ft BOM — upload needed before formula can be built</a:t>
            </a:r>
            <a:endParaRPr lang="en-US" sz="1100" dirty="0"/>
          </a:p>
        </p:txBody>
      </p:sp>
      <p:sp>
        <p:nvSpPr>
          <p:cNvPr id="32" name="Shape 30"/>
          <p:cNvSpPr/>
          <p:nvPr/>
        </p:nvSpPr>
        <p:spPr>
          <a:xfrm>
            <a:off x="2350008" y="3575304"/>
            <a:ext cx="3113532" cy="0"/>
          </a:xfrm>
          <a:prstGeom prst="line">
            <a:avLst/>
          </a:prstGeom>
          <a:noFill/>
          <a:ln w="12700">
            <a:solidFill>
              <a:srgbClr val="86EFAC"/>
            </a:solidFill>
            <a:prstDash val="dash"/>
          </a:ln>
        </p:spPr>
      </p:sp>
      <p:sp>
        <p:nvSpPr>
          <p:cNvPr id="33" name="Text 31"/>
          <p:cNvSpPr/>
          <p:nvPr/>
        </p:nvSpPr>
        <p:spPr>
          <a:xfrm>
            <a:off x="2350008" y="3648456"/>
            <a:ext cx="3150108" cy="201168"/>
          </a:xfrm>
          <a:prstGeom prst="rect">
            <a:avLst/>
          </a:prstGeom>
          <a:noFill/>
          <a:ln/>
        </p:spPr>
        <p:txBody>
          <a:bodyPr wrap="square" lIns="0" tIns="0" rIns="0" bIns="0" rtlCol="0" anchor="ctr"/>
          <a:lstStyle/>
          <a:p>
            <a:pPr indent="0" marL="0">
              <a:buNone/>
            </a:pPr>
            <a:r>
              <a:rPr lang="en-US" sz="700" b="1" spc="200" kern="0" dirty="0">
                <a:solidFill>
                  <a:srgbClr val="065F46"/>
                </a:solidFill>
                <a:latin typeface="Calibri" pitchFamily="34" charset="0"/>
                <a:ea typeface="Calibri" pitchFamily="34" charset="-122"/>
                <a:cs typeface="Calibri" pitchFamily="34" charset="-120"/>
              </a:rPr>
              <a:t>IF YES — UPDATE TC</a:t>
            </a:r>
            <a:endParaRPr lang="en-US" sz="700" dirty="0"/>
          </a:p>
        </p:txBody>
      </p:sp>
      <p:sp>
        <p:nvSpPr>
          <p:cNvPr id="34" name="Text 32"/>
          <p:cNvSpPr/>
          <p:nvPr/>
        </p:nvSpPr>
        <p:spPr>
          <a:xfrm>
            <a:off x="2350008" y="3877056"/>
            <a:ext cx="3150108" cy="1014984"/>
          </a:xfrm>
          <a:prstGeom prst="rect">
            <a:avLst/>
          </a:prstGeom>
          <a:noFill/>
          <a:ln/>
        </p:spPr>
        <p:txBody>
          <a:bodyPr wrap="square" lIns="0" tIns="0" rIns="0" bIns="0" rtlCol="0" anchor="t"/>
          <a:lstStyle/>
          <a:p>
            <a:pPr marL="342900" indent="-342900">
              <a:buSzPct val="100000"/>
              <a:buChar char="•"/>
            </a:pPr>
            <a:r>
              <a:rPr lang="en-US" sz="1000" dirty="0">
                <a:solidFill>
                  <a:srgbClr val="166534"/>
                </a:solidFill>
                <a:latin typeface="Calibri" pitchFamily="34" charset="0"/>
                <a:ea typeface="Calibri" pitchFamily="34" charset="-122"/>
                <a:cs typeface="Calibri" pitchFamily="34" charset="-120"/>
              </a:rPr>
              <a:t>Add Length = 5Ft to Feature Dictionary + request BOM</a:t>
            </a:r>
            <a:endParaRPr lang="en-US" sz="1000" dirty="0"/>
          </a:p>
        </p:txBody>
      </p:sp>
      <p:sp>
        <p:nvSpPr>
          <p:cNvPr id="35" name="Shape 33"/>
          <p:cNvSpPr/>
          <p:nvPr/>
        </p:nvSpPr>
        <p:spPr>
          <a:xfrm>
            <a:off x="5628132" y="2542032"/>
            <a:ext cx="3332988" cy="242316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0000"/>
              </a:srgbClr>
            </a:outerShdw>
          </a:effectLst>
        </p:spPr>
      </p:sp>
      <p:sp>
        <p:nvSpPr>
          <p:cNvPr id="36" name="Shape 34"/>
          <p:cNvSpPr/>
          <p:nvPr/>
        </p:nvSpPr>
        <p:spPr>
          <a:xfrm>
            <a:off x="5628132" y="2542032"/>
            <a:ext cx="3332988" cy="256032"/>
          </a:xfrm>
          <a:prstGeom prst="rect">
            <a:avLst/>
          </a:prstGeom>
          <a:solidFill>
            <a:srgbClr val="991B1B"/>
          </a:solidFill>
          <a:ln w="12700">
            <a:solidFill>
              <a:srgbClr val="991B1B"/>
            </a:solidFill>
            <a:prstDash val="solid"/>
          </a:ln>
        </p:spPr>
      </p:sp>
      <p:sp>
        <p:nvSpPr>
          <p:cNvPr id="37" name="Text 35"/>
          <p:cNvSpPr/>
          <p:nvPr/>
        </p:nvSpPr>
        <p:spPr>
          <a:xfrm>
            <a:off x="5737860"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NO</a:t>
            </a:r>
            <a:endParaRPr lang="en-US" sz="900" dirty="0"/>
          </a:p>
        </p:txBody>
      </p:sp>
      <p:sp>
        <p:nvSpPr>
          <p:cNvPr id="38" name="Text 36"/>
          <p:cNvSpPr/>
          <p:nvPr/>
        </p:nvSpPr>
        <p:spPr>
          <a:xfrm>
            <a:off x="5737860" y="2834640"/>
            <a:ext cx="3113532" cy="694944"/>
          </a:xfrm>
          <a:prstGeom prst="rect">
            <a:avLst/>
          </a:prstGeom>
          <a:noFill/>
          <a:ln/>
        </p:spPr>
        <p:txBody>
          <a:bodyPr wrap="square" lIns="0" tIns="0" rIns="0" bIns="0" rtlCol="0" anchor="t"/>
          <a:lstStyle/>
          <a:p>
            <a:pPr indent="0" marL="0">
              <a:buNone/>
            </a:pPr>
            <a:r>
              <a:rPr lang="en-US" sz="1100" dirty="0">
                <a:solidFill>
                  <a:srgbClr val="991B1B"/>
                </a:solidFill>
                <a:latin typeface="Calibri" pitchFamily="34" charset="0"/>
                <a:ea typeface="Calibri" pitchFamily="34" charset="-122"/>
                <a:cs typeface="Calibri" pitchFamily="34" charset="-120"/>
              </a:rPr>
              <a:t>SME says: 5Ft was a prototype or historical reference — does not ship</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TC: remove 5Ft from Feature Dictionary pending values</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A00032878 is a legacy reference only — mark accordingly</a:t>
            </a:r>
            <a:endParaRPr lang="en-US" sz="1100" dirty="0"/>
          </a:p>
        </p:txBody>
      </p:sp>
      <p:sp>
        <p:nvSpPr>
          <p:cNvPr id="39" name="Shape 37"/>
          <p:cNvSpPr/>
          <p:nvPr/>
        </p:nvSpPr>
        <p:spPr>
          <a:xfrm>
            <a:off x="5737860" y="3575304"/>
            <a:ext cx="3076956" cy="0"/>
          </a:xfrm>
          <a:prstGeom prst="line">
            <a:avLst/>
          </a:prstGeom>
          <a:noFill/>
          <a:ln w="12700">
            <a:solidFill>
              <a:srgbClr val="FCA5A5"/>
            </a:solidFill>
            <a:prstDash val="dash"/>
          </a:ln>
        </p:spPr>
      </p:sp>
      <p:sp>
        <p:nvSpPr>
          <p:cNvPr id="40" name="Text 38"/>
          <p:cNvSpPr/>
          <p:nvPr/>
        </p:nvSpPr>
        <p:spPr>
          <a:xfrm>
            <a:off x="5737860" y="3648456"/>
            <a:ext cx="3113532" cy="201168"/>
          </a:xfrm>
          <a:prstGeom prst="rect">
            <a:avLst/>
          </a:prstGeom>
          <a:noFill/>
          <a:ln/>
        </p:spPr>
        <p:txBody>
          <a:bodyPr wrap="square" lIns="0" tIns="0" rIns="0" bIns="0" rtlCol="0" anchor="ctr"/>
          <a:lstStyle/>
          <a:p>
            <a:pPr indent="0" marL="0">
              <a:buNone/>
            </a:pPr>
            <a:r>
              <a:rPr lang="en-US" sz="700" b="1" spc="200" kern="0" dirty="0">
                <a:solidFill>
                  <a:srgbClr val="991B1B"/>
                </a:solidFill>
                <a:latin typeface="Calibri" pitchFamily="34" charset="0"/>
                <a:ea typeface="Calibri" pitchFamily="34" charset="-122"/>
                <a:cs typeface="Calibri" pitchFamily="34" charset="-120"/>
              </a:rPr>
              <a:t>IF NO — UPDATE TC</a:t>
            </a:r>
            <a:endParaRPr lang="en-US" sz="700" dirty="0"/>
          </a:p>
        </p:txBody>
      </p:sp>
      <p:sp>
        <p:nvSpPr>
          <p:cNvPr id="41" name="Text 39"/>
          <p:cNvSpPr/>
          <p:nvPr/>
        </p:nvSpPr>
        <p:spPr>
          <a:xfrm>
            <a:off x="5737860" y="3877056"/>
            <a:ext cx="3113532" cy="1014984"/>
          </a:xfrm>
          <a:prstGeom prst="rect">
            <a:avLst/>
          </a:prstGeom>
          <a:noFill/>
          <a:ln/>
        </p:spPr>
        <p:txBody>
          <a:bodyPr wrap="square" lIns="0" tIns="0" rIns="0" bIns="0" rtlCol="0" anchor="t"/>
          <a:lstStyle/>
          <a:p>
            <a:pPr marL="342900" indent="-342900">
              <a:buSzPct val="100000"/>
              <a:buChar char="•"/>
            </a:pPr>
            <a:r>
              <a:rPr lang="en-US" sz="1000" dirty="0">
                <a:solidFill>
                  <a:srgbClr val="991B1B"/>
                </a:solidFill>
                <a:latin typeface="Calibri" pitchFamily="34" charset="0"/>
                <a:ea typeface="Calibri" pitchFamily="34" charset="-122"/>
                <a:cs typeface="Calibri" pitchFamily="34" charset="-120"/>
              </a:rPr>
              <a:t>Remove 5Ft from Feature Dictionary pending values</a:t>
            </a:r>
            <a:endParaRPr lang="en-US" sz="1000" dirty="0"/>
          </a:p>
        </p:txBody>
      </p:sp>
      <p:sp>
        <p:nvSpPr>
          <p:cNvPr id="42" name="Shape 40"/>
          <p:cNvSpPr/>
          <p:nvPr/>
        </p:nvSpPr>
        <p:spPr>
          <a:xfrm>
            <a:off x="0" y="4974336"/>
            <a:ext cx="9144000" cy="169164"/>
          </a:xfrm>
          <a:prstGeom prst="rect">
            <a:avLst/>
          </a:prstGeom>
          <a:solidFill>
            <a:srgbClr val="0D7A6B"/>
          </a:solidFill>
          <a:ln w="12700">
            <a:solidFill>
              <a:srgbClr val="0D7A6B"/>
            </a:solidFill>
            <a:prstDash val="solid"/>
          </a:ln>
        </p:spPr>
      </p:sp>
      <p:sp>
        <p:nvSpPr>
          <p:cNvPr id="43" name="Text 41"/>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1B2A4A"/>
          </a:solidFill>
          <a:ln w="12700">
            <a:solidFill>
              <a:srgbClr val="1B2A4A"/>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800" b="1" dirty="0">
                <a:solidFill>
                  <a:srgbClr val="FFFFFF"/>
                </a:solidFill>
                <a:latin typeface="Consolas" pitchFamily="34" charset="0"/>
                <a:ea typeface="Consolas" pitchFamily="34" charset="-122"/>
                <a:cs typeface="Consolas" pitchFamily="34" charset="-120"/>
              </a:rPr>
              <a:t>Q7</a:t>
            </a:r>
            <a:endParaRPr lang="en-US" sz="68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D1FAE5"/>
          </a:solidFill>
          <a:ln w="12700">
            <a:solidFill>
              <a:srgbClr val="065F46"/>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065F46"/>
                </a:solidFill>
                <a:latin typeface="Calibri" pitchFamily="34" charset="0"/>
                <a:ea typeface="Calibri" pitchFamily="34" charset="-122"/>
                <a:cs typeface="Calibri" pitchFamily="34" charset="-120"/>
              </a:rPr>
              <a:t>LOW</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64748B"/>
                </a:solidFill>
                <a:latin typeface="Calibri" pitchFamily="34" charset="0"/>
                <a:ea typeface="Calibri" pitchFamily="34" charset="-122"/>
                <a:cs typeface="Calibri" pitchFamily="34" charset="-120"/>
              </a:rPr>
              <a:t>CABLING / ARCHITECTURE</a:t>
            </a:r>
            <a:endParaRPr lang="en-US" sz="800" dirty="0"/>
          </a:p>
        </p:txBody>
      </p:sp>
      <p:sp>
        <p:nvSpPr>
          <p:cNvPr id="8" name="Shape 6"/>
          <p:cNvSpPr/>
          <p:nvPr/>
        </p:nvSpPr>
        <p:spPr>
          <a:xfrm>
            <a:off x="256032" y="2267712"/>
            <a:ext cx="1591056" cy="347472"/>
          </a:xfrm>
          <a:prstGeom prst="rect">
            <a:avLst/>
          </a:prstGeom>
          <a:solidFill>
            <a:srgbClr val="0F3460"/>
          </a:solidFill>
          <a:ln w="12700">
            <a:solidFill>
              <a:srgbClr val="0F3460"/>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3 min</a:t>
            </a:r>
            <a:endParaRPr lang="en-US" sz="1300" dirty="0"/>
          </a:p>
        </p:txBody>
      </p:sp>
      <p:sp>
        <p:nvSpPr>
          <p:cNvPr id="10" name="Shape 8"/>
          <p:cNvSpPr/>
          <p:nvPr/>
        </p:nvSpPr>
        <p:spPr>
          <a:xfrm>
            <a:off x="164592" y="2788920"/>
            <a:ext cx="1773936" cy="1417320"/>
          </a:xfrm>
          <a:prstGeom prst="rect">
            <a:avLst/>
          </a:prstGeom>
          <a:solidFill>
            <a:srgbClr val="1E3A5F"/>
          </a:solidFill>
          <a:ln w="12700">
            <a:solidFill>
              <a:srgbClr val="1E3A5F"/>
            </a:solidFill>
            <a:prstDash val="solid"/>
          </a:ln>
        </p:spPr>
      </p:sp>
      <p:sp>
        <p:nvSpPr>
          <p:cNvPr id="11" name="Text 9"/>
          <p:cNvSpPr/>
          <p:nvPr/>
        </p:nvSpPr>
        <p:spPr>
          <a:xfrm>
            <a:off x="164592" y="2834640"/>
            <a:ext cx="1773936" cy="201168"/>
          </a:xfrm>
          <a:prstGeom prst="rect">
            <a:avLst/>
          </a:prstGeom>
          <a:noFill/>
          <a:ln/>
        </p:spPr>
        <p:txBody>
          <a:bodyPr wrap="square" lIns="0" tIns="0" rIns="0" bIns="0" rtlCol="0" anchor="ctr"/>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IF STUCK</a:t>
            </a:r>
            <a:endParaRPr lang="en-US" sz="700" dirty="0"/>
          </a:p>
        </p:txBody>
      </p:sp>
      <p:sp>
        <p:nvSpPr>
          <p:cNvPr id="12" name="Text 10"/>
          <p:cNvSpPr/>
          <p:nvPr/>
        </p:nvSpPr>
        <p:spPr>
          <a:xfrm>
            <a:off x="228600" y="3054096"/>
            <a:ext cx="1645920" cy="1097280"/>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This is LOW priority — do not spend more than 3 minutes.</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If SME is unsure:</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"Can you check after the session and send us the BOM section?"</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This does not block any variant formula.</a:t>
            </a:r>
            <a:endParaRPr lang="en-US" sz="900" dirty="0"/>
          </a:p>
        </p:txBody>
      </p:sp>
      <p:sp>
        <p:nvSpPr>
          <p:cNvPr id="13" name="Shape 11"/>
          <p:cNvSpPr/>
          <p:nvPr/>
        </p:nvSpPr>
        <p:spPr>
          <a:xfrm>
            <a:off x="164592" y="4315968"/>
            <a:ext cx="1773936" cy="658368"/>
          </a:xfrm>
          <a:prstGeom prst="rect">
            <a:avLst/>
          </a:prstGeom>
          <a:solidFill>
            <a:srgbClr val="0D7A6B"/>
          </a:solidFill>
          <a:ln w="12700">
            <a:solidFill>
              <a:srgbClr val="0D7A6B"/>
            </a:solidFill>
            <a:prstDash val="solid"/>
          </a:ln>
        </p:spPr>
      </p:sp>
      <p:sp>
        <p:nvSpPr>
          <p:cNvPr id="14" name="Text 12"/>
          <p:cNvSpPr/>
          <p:nvPr/>
        </p:nvSpPr>
        <p:spPr>
          <a:xfrm>
            <a:off x="164592" y="4343400"/>
            <a:ext cx="1773936" cy="201168"/>
          </a:xfrm>
          <a:prstGeom prst="rect">
            <a:avLst/>
          </a:prstGeom>
          <a:noFill/>
          <a:ln/>
        </p:spPr>
        <p:txBody>
          <a:bodyPr wrap="square" lIns="0" tIns="0" rIns="0" bIns="0" rtlCol="0" anchor="ctr"/>
          <a:lstStyle/>
          <a:p>
            <a:pPr algn="ctr" indent="0" marL="0">
              <a:buNone/>
            </a:pPr>
            <a:r>
              <a:rPr lang="en-US" sz="700" spc="200" kern="0" dirty="0">
                <a:solidFill>
                  <a:srgbClr val="A7F3D0"/>
                </a:solidFill>
                <a:latin typeface="Calibri" pitchFamily="34" charset="0"/>
                <a:ea typeface="Calibri" pitchFamily="34" charset="-122"/>
                <a:cs typeface="Calibri" pitchFamily="34" charset="-120"/>
              </a:rPr>
              <a:t>TC ACTION</a:t>
            </a:r>
            <a:endParaRPr lang="en-US" sz="700" dirty="0"/>
          </a:p>
        </p:txBody>
      </p:sp>
      <p:sp>
        <p:nvSpPr>
          <p:cNvPr id="15" name="Text 13"/>
          <p:cNvSpPr/>
          <p:nvPr/>
        </p:nvSpPr>
        <p:spPr>
          <a:xfrm>
            <a:off x="201168" y="4553712"/>
            <a:ext cx="1719072" cy="384048"/>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YES: Locate EU cables in BOM — verify tagged EU_RH or COMMON</a:t>
            </a:r>
            <a:endParaRPr lang="en-US" sz="900" dirty="0"/>
          </a:p>
          <a:p>
            <a:pPr indent="0" marL="0">
              <a:buNone/>
            </a:pP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NO: 25 cable assemblies confirmed LH_NA_BOTH — no change needed</a:t>
            </a:r>
            <a:endParaRPr lang="en-US" sz="900" dirty="0"/>
          </a:p>
        </p:txBody>
      </p:sp>
      <p:sp>
        <p:nvSpPr>
          <p:cNvPr id="16" name="Shape 14"/>
          <p:cNvSpPr/>
          <p:nvPr/>
        </p:nvSpPr>
        <p:spPr>
          <a:xfrm>
            <a:off x="2240280" y="0"/>
            <a:ext cx="6720840" cy="384048"/>
          </a:xfrm>
          <a:prstGeom prst="rect">
            <a:avLst/>
          </a:prstGeom>
          <a:solidFill>
            <a:srgbClr val="0D7A6B"/>
          </a:solidFill>
          <a:ln w="12700">
            <a:solidFill>
              <a:srgbClr val="0D7A6B"/>
            </a:solidFill>
            <a:prstDash val="solid"/>
          </a:ln>
        </p:spPr>
      </p:sp>
      <p:sp>
        <p:nvSpPr>
          <p:cNvPr id="17" name="Text 15"/>
          <p:cNvSpPr/>
          <p:nvPr/>
        </p:nvSpPr>
        <p:spPr>
          <a:xfrm>
            <a:off x="2377440" y="0"/>
            <a:ext cx="64465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EU Cable Harnesses — Where are they in the BOM?</a:t>
            </a:r>
            <a:endParaRPr lang="en-US" sz="1400" dirty="0"/>
          </a:p>
        </p:txBody>
      </p:sp>
      <p:sp>
        <p:nvSpPr>
          <p:cNvPr id="18" name="Shape 16"/>
          <p:cNvSpPr/>
          <p:nvPr/>
        </p:nvSpPr>
        <p:spPr>
          <a:xfrm>
            <a:off x="2240280" y="438912"/>
            <a:ext cx="6720840" cy="822960"/>
          </a:xfrm>
          <a:prstGeom prst="rect">
            <a:avLst/>
          </a:prstGeom>
          <a:solidFill>
            <a:srgbClr val="FFFFFF"/>
          </a:solidFill>
          <a:ln w="12700">
            <a:solidFill>
              <a:srgbClr val="CBD5E1"/>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2240280" y="438912"/>
            <a:ext cx="54864" cy="822960"/>
          </a:xfrm>
          <a:prstGeom prst="rect">
            <a:avLst/>
          </a:prstGeom>
          <a:solidFill>
            <a:srgbClr val="1B2A4A"/>
          </a:solidFill>
          <a:ln w="12700">
            <a:solidFill>
              <a:srgbClr val="1B2A4A"/>
            </a:solidFill>
            <a:prstDash val="solid"/>
          </a:ln>
        </p:spPr>
      </p:sp>
      <p:sp>
        <p:nvSpPr>
          <p:cNvPr id="20" name="Text 18"/>
          <p:cNvSpPr/>
          <p:nvPr/>
        </p:nvSpPr>
        <p:spPr>
          <a:xfrm>
            <a:off x="2377440" y="493776"/>
            <a:ext cx="1097280" cy="182880"/>
          </a:xfrm>
          <a:prstGeom prst="rect">
            <a:avLst/>
          </a:prstGeom>
          <a:noFill/>
          <a:ln/>
        </p:spPr>
        <p:txBody>
          <a:bodyPr wrap="square" lIns="0" tIns="0" rIns="0" bIns="0" rtlCol="0" anchor="ctr"/>
          <a:lstStyle/>
          <a:p>
            <a:pPr indent="0" marL="0">
              <a:buNone/>
            </a:pPr>
            <a:r>
              <a:rPr lang="en-US" sz="700" b="1" spc="200" kern="0" dirty="0">
                <a:solidFill>
                  <a:srgbClr val="1B2A4A"/>
                </a:solidFill>
                <a:latin typeface="Calibri" pitchFamily="34" charset="0"/>
                <a:ea typeface="Calibri" pitchFamily="34" charset="-122"/>
                <a:cs typeface="Calibri" pitchFamily="34" charset="-120"/>
              </a:rPr>
              <a:t>SAY TO OPEN</a:t>
            </a:r>
            <a:endParaRPr lang="en-US" sz="700" dirty="0"/>
          </a:p>
        </p:txBody>
      </p:sp>
      <p:sp>
        <p:nvSpPr>
          <p:cNvPr id="21" name="Text 19"/>
          <p:cNvSpPr/>
          <p:nvPr/>
        </p:nvSpPr>
        <p:spPr>
          <a:xfrm>
            <a:off x="2377440" y="694944"/>
            <a:ext cx="6492240" cy="521208"/>
          </a:xfrm>
          <a:prstGeom prst="rect">
            <a:avLst/>
          </a:prstGeom>
          <a:noFill/>
          <a:ln/>
        </p:spPr>
        <p:txBody>
          <a:bodyPr wrap="square" lIns="0" tIns="0" rIns="0" bIns="0" rtlCol="0" anchor="t"/>
          <a:lstStyle/>
          <a:p>
            <a:pPr indent="0" marL="0">
              <a:buNone/>
            </a:pPr>
            <a:r>
              <a:rPr lang="en-US" sz="1200" i="1" dirty="0">
                <a:solidFill>
                  <a:srgbClr val="1B2A4A"/>
                </a:solidFill>
                <a:latin typeface="Calibri" pitchFamily="34" charset="0"/>
                <a:ea typeface="Calibri" pitchFamily="34" charset="-122"/>
                <a:cs typeface="Calibri" pitchFamily="34" charset="-120"/>
              </a:rPr>
              <a:t>The 32FT LH BOM has 25 explicit cable assemblies at Level 2 — ASSY_CABLE_INTERFACE_UPSTREAM, ASSY_CABLE_WEIGHING_CONVEYOR_MOTOR, and 23 more. None appear in the 6FT EU BOM at all.</a:t>
            </a:r>
            <a:endParaRPr lang="en-US" sz="1200" dirty="0"/>
          </a:p>
        </p:txBody>
      </p:sp>
      <p:sp>
        <p:nvSpPr>
          <p:cNvPr id="22" name="Shape 20"/>
          <p:cNvSpPr/>
          <p:nvPr/>
        </p:nvSpPr>
        <p:spPr>
          <a:xfrm>
            <a:off x="2240280" y="1298448"/>
            <a:ext cx="6720840" cy="530352"/>
          </a:xfrm>
          <a:prstGeom prst="rect">
            <a:avLst/>
          </a:prstGeom>
          <a:solidFill>
            <a:srgbClr val="EFF6FF"/>
          </a:solidFill>
          <a:ln w="12700">
            <a:solidFill>
              <a:srgbClr val="BFDBFE"/>
            </a:solidFill>
            <a:prstDash val="solid"/>
          </a:ln>
        </p:spPr>
      </p:sp>
      <p:sp>
        <p:nvSpPr>
          <p:cNvPr id="23" name="Text 21"/>
          <p:cNvSpPr/>
          <p:nvPr/>
        </p:nvSpPr>
        <p:spPr>
          <a:xfrm>
            <a:off x="2377440" y="1362456"/>
            <a:ext cx="1828800" cy="182880"/>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SHOW ON BOM VIEWER</a:t>
            </a:r>
            <a:endParaRPr lang="en-US" sz="700" dirty="0"/>
          </a:p>
        </p:txBody>
      </p:sp>
      <p:sp>
        <p:nvSpPr>
          <p:cNvPr id="24" name="Text 22"/>
          <p:cNvSpPr/>
          <p:nvPr/>
        </p:nvSpPr>
        <p:spPr>
          <a:xfrm>
            <a:off x="2377440" y="1554480"/>
            <a:ext cx="6492240" cy="228600"/>
          </a:xfrm>
          <a:prstGeom prst="rect">
            <a:avLst/>
          </a:prstGeom>
          <a:noFill/>
          <a:ln/>
        </p:spPr>
        <p:txBody>
          <a:bodyPr wrap="square" lIns="0" tIns="0" rIns="0" bIns="0" rtlCol="0" anchor="t"/>
          <a:lstStyle/>
          <a:p>
            <a:pPr indent="0" marL="0">
              <a:buNone/>
            </a:pPr>
            <a:r>
              <a:rPr lang="en-US" sz="1100" dirty="0">
                <a:solidFill>
                  <a:srgbClr val="1E40AF"/>
                </a:solidFill>
                <a:latin typeface="Consolas" pitchFamily="34" charset="0"/>
                <a:ea typeface="Consolas" pitchFamily="34" charset="-122"/>
                <a:cs typeface="Consolas" pitchFamily="34" charset="-120"/>
              </a:rPr>
              <a:t>Filter 150% BOM → Both LH → scroll to L2 cable assemblies</a:t>
            </a:r>
            <a:endParaRPr lang="en-US" sz="1100" dirty="0"/>
          </a:p>
          <a:p>
            <a:pPr indent="0" marL="0">
              <a:buNone/>
            </a:pPr>
            <a:r>
              <a:rPr lang="en-US" sz="1100" dirty="0">
                <a:solidFill>
                  <a:srgbClr val="1E40AF"/>
                </a:solidFill>
                <a:latin typeface="Consolas" pitchFamily="34" charset="0"/>
                <a:ea typeface="Consolas" pitchFamily="34" charset="-122"/>
                <a:cs typeface="Consolas" pitchFamily="34" charset="-120"/>
              </a:rPr>
              <a:t>Then open 6FT EU tab → search ASSY_CABLE → show zero results</a:t>
            </a:r>
            <a:endParaRPr lang="en-US" sz="1100" dirty="0"/>
          </a:p>
        </p:txBody>
      </p:sp>
      <p:sp>
        <p:nvSpPr>
          <p:cNvPr id="25" name="Shape 23"/>
          <p:cNvSpPr/>
          <p:nvPr/>
        </p:nvSpPr>
        <p:spPr>
          <a:xfrm>
            <a:off x="2240280" y="1865376"/>
            <a:ext cx="6720840" cy="621792"/>
          </a:xfrm>
          <a:prstGeom prst="rect">
            <a:avLst/>
          </a:prstGeom>
          <a:solidFill>
            <a:srgbClr val="1B2A4A"/>
          </a:solidFill>
          <a:ln w="12700">
            <a:solidFill>
              <a:srgbClr val="1B2A4A"/>
            </a:solidFill>
            <a:prstDash val="solid"/>
          </a:ln>
        </p:spPr>
      </p:sp>
      <p:sp>
        <p:nvSpPr>
          <p:cNvPr id="26" name="Text 24"/>
          <p:cNvSpPr/>
          <p:nvPr/>
        </p:nvSpPr>
        <p:spPr>
          <a:xfrm>
            <a:off x="2377440" y="1929384"/>
            <a:ext cx="1828800" cy="182880"/>
          </a:xfrm>
          <a:prstGeom prst="rect">
            <a:avLst/>
          </a:prstGeom>
          <a:noFill/>
          <a:ln/>
        </p:spPr>
        <p:txBody>
          <a:bodyPr wrap="square" lIns="0" tIns="0" rIns="0" bIns="0" rtlCol="0" anchor="ctr"/>
          <a:lstStyle/>
          <a:p>
            <a:pPr indent="0" marL="0">
              <a:buNone/>
            </a:pPr>
            <a:r>
              <a:rPr lang="en-US" sz="700" b="1" spc="200" kern="0" dirty="0">
                <a:solidFill>
                  <a:srgbClr val="94A3B8"/>
                </a:solidFill>
                <a:latin typeface="Calibri" pitchFamily="34" charset="0"/>
                <a:ea typeface="Calibri" pitchFamily="34" charset="-122"/>
                <a:cs typeface="Calibri" pitchFamily="34" charset="-120"/>
              </a:rPr>
              <a:t>ASK EXACTLY THIS</a:t>
            </a:r>
            <a:endParaRPr lang="en-US" sz="700" dirty="0"/>
          </a:p>
        </p:txBody>
      </p:sp>
      <p:sp>
        <p:nvSpPr>
          <p:cNvPr id="27" name="Text 25"/>
          <p:cNvSpPr/>
          <p:nvPr/>
        </p:nvSpPr>
        <p:spPr>
          <a:xfrm>
            <a:off x="2377440" y="2103120"/>
            <a:ext cx="6492240" cy="347472"/>
          </a:xfrm>
          <a:prstGeom prst="rect">
            <a:avLst/>
          </a:prstGeom>
          <a:noFill/>
          <a:ln/>
        </p:spPr>
        <p:txBody>
          <a:bodyPr wrap="square" lIns="0" tIns="0" rIns="0" bIns="0" rtlCol="0" anchor="t"/>
          <a:lstStyle/>
          <a:p>
            <a:pPr indent="0" marL="0">
              <a:buNone/>
            </a:pPr>
            <a:r>
              <a:rPr lang="en-US" sz="1200" b="1" i="1" dirty="0">
                <a:solidFill>
                  <a:srgbClr val="FFFFFF"/>
                </a:solidFill>
                <a:latin typeface="Calibri" pitchFamily="34" charset="0"/>
                <a:ea typeface="Calibri" pitchFamily="34" charset="-122"/>
                <a:cs typeface="Calibri" pitchFamily="34" charset="-120"/>
              </a:rPr>
              <a:t>"Does the 6FT EU machine have inter-module cable harnesses — and if yes, where are they structured in the BOM?"</a:t>
            </a:r>
            <a:endParaRPr lang="en-US" sz="1200" dirty="0"/>
          </a:p>
        </p:txBody>
      </p:sp>
      <p:sp>
        <p:nvSpPr>
          <p:cNvPr id="28" name="Shape 26"/>
          <p:cNvSpPr/>
          <p:nvPr/>
        </p:nvSpPr>
        <p:spPr>
          <a:xfrm>
            <a:off x="2240280" y="2542032"/>
            <a:ext cx="3332988" cy="2423160"/>
          </a:xfrm>
          <a:prstGeom prst="rect">
            <a:avLst/>
          </a:prstGeom>
          <a:solidFill>
            <a:srgbClr val="FFFFFF"/>
          </a:solidFill>
          <a:ln w="12700">
            <a:solidFill>
              <a:srgbClr val="86EFAC"/>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240280" y="2542032"/>
            <a:ext cx="3332988" cy="256032"/>
          </a:xfrm>
          <a:prstGeom prst="rect">
            <a:avLst/>
          </a:prstGeom>
          <a:solidFill>
            <a:srgbClr val="065F46"/>
          </a:solidFill>
          <a:ln w="12700">
            <a:solidFill>
              <a:srgbClr val="065F46"/>
            </a:solidFill>
            <a:prstDash val="solid"/>
          </a:ln>
        </p:spPr>
      </p:sp>
      <p:sp>
        <p:nvSpPr>
          <p:cNvPr id="30" name="Text 28"/>
          <p:cNvSpPr/>
          <p:nvPr/>
        </p:nvSpPr>
        <p:spPr>
          <a:xfrm>
            <a:off x="2350008"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YES</a:t>
            </a:r>
            <a:endParaRPr lang="en-US" sz="900" dirty="0"/>
          </a:p>
        </p:txBody>
      </p:sp>
      <p:sp>
        <p:nvSpPr>
          <p:cNvPr id="31" name="Text 29"/>
          <p:cNvSpPr/>
          <p:nvPr/>
        </p:nvSpPr>
        <p:spPr>
          <a:xfrm>
            <a:off x="2350008" y="2834640"/>
            <a:ext cx="3150108" cy="694944"/>
          </a:xfrm>
          <a:prstGeom prst="rect">
            <a:avLst/>
          </a:prstGeom>
          <a:noFill/>
          <a:ln/>
        </p:spPr>
        <p:txBody>
          <a:bodyPr wrap="square" lIns="0" tIns="0" rIns="0" bIns="0" rtlCol="0" anchor="t"/>
          <a:lstStyle/>
          <a:p>
            <a:pPr indent="0" marL="0">
              <a:buNone/>
            </a:pPr>
            <a:r>
              <a:rPr lang="en-US" sz="1100" dirty="0">
                <a:solidFill>
                  <a:srgbClr val="166534"/>
                </a:solidFill>
                <a:latin typeface="Calibri" pitchFamily="34" charset="0"/>
                <a:ea typeface="Calibri" pitchFamily="34" charset="-122"/>
                <a:cs typeface="Calibri" pitchFamily="34" charset="-120"/>
              </a:rPr>
              <a:t>SME says: EU has cables but structured differently</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TC: locate the EU cable assemblies in the BOM — verify they are tagged correctly as EU_RH or COMMON</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May need BOM re-check</a:t>
            </a:r>
            <a:endParaRPr lang="en-US" sz="1100" dirty="0"/>
          </a:p>
        </p:txBody>
      </p:sp>
      <p:sp>
        <p:nvSpPr>
          <p:cNvPr id="32" name="Shape 30"/>
          <p:cNvSpPr/>
          <p:nvPr/>
        </p:nvSpPr>
        <p:spPr>
          <a:xfrm>
            <a:off x="2350008" y="3575304"/>
            <a:ext cx="3113532" cy="0"/>
          </a:xfrm>
          <a:prstGeom prst="line">
            <a:avLst/>
          </a:prstGeom>
          <a:noFill/>
          <a:ln w="12700">
            <a:solidFill>
              <a:srgbClr val="86EFAC"/>
            </a:solidFill>
            <a:prstDash val="dash"/>
          </a:ln>
        </p:spPr>
      </p:sp>
      <p:sp>
        <p:nvSpPr>
          <p:cNvPr id="33" name="Text 31"/>
          <p:cNvSpPr/>
          <p:nvPr/>
        </p:nvSpPr>
        <p:spPr>
          <a:xfrm>
            <a:off x="2350008" y="3648456"/>
            <a:ext cx="3150108" cy="201168"/>
          </a:xfrm>
          <a:prstGeom prst="rect">
            <a:avLst/>
          </a:prstGeom>
          <a:noFill/>
          <a:ln/>
        </p:spPr>
        <p:txBody>
          <a:bodyPr wrap="square" lIns="0" tIns="0" rIns="0" bIns="0" rtlCol="0" anchor="ctr"/>
          <a:lstStyle/>
          <a:p>
            <a:pPr indent="0" marL="0">
              <a:buNone/>
            </a:pPr>
            <a:r>
              <a:rPr lang="en-US" sz="700" b="1" spc="200" kern="0" dirty="0">
                <a:solidFill>
                  <a:srgbClr val="065F46"/>
                </a:solidFill>
                <a:latin typeface="Calibri" pitchFamily="34" charset="0"/>
                <a:ea typeface="Calibri" pitchFamily="34" charset="-122"/>
                <a:cs typeface="Calibri" pitchFamily="34" charset="-120"/>
              </a:rPr>
              <a:t>IF YES — UPDATE TC</a:t>
            </a:r>
            <a:endParaRPr lang="en-US" sz="700" dirty="0"/>
          </a:p>
        </p:txBody>
      </p:sp>
      <p:sp>
        <p:nvSpPr>
          <p:cNvPr id="34" name="Text 32"/>
          <p:cNvSpPr/>
          <p:nvPr/>
        </p:nvSpPr>
        <p:spPr>
          <a:xfrm>
            <a:off x="2350008" y="3877056"/>
            <a:ext cx="3150108" cy="1014984"/>
          </a:xfrm>
          <a:prstGeom prst="rect">
            <a:avLst/>
          </a:prstGeom>
          <a:noFill/>
          <a:ln/>
        </p:spPr>
        <p:txBody>
          <a:bodyPr wrap="square" lIns="0" tIns="0" rIns="0" bIns="0" rtlCol="0" anchor="t"/>
          <a:lstStyle/>
          <a:p>
            <a:pPr marL="342900" indent="-342900">
              <a:buSzPct val="100000"/>
              <a:buChar char="•"/>
            </a:pPr>
            <a:r>
              <a:rPr lang="en-US" sz="1000" dirty="0">
                <a:solidFill>
                  <a:srgbClr val="166534"/>
                </a:solidFill>
                <a:latin typeface="Calibri" pitchFamily="34" charset="0"/>
                <a:ea typeface="Calibri" pitchFamily="34" charset="-122"/>
                <a:cs typeface="Calibri" pitchFamily="34" charset="-120"/>
              </a:rPr>
              <a:t>Locate EU cables in BOM — verify tagged EU_RH or COMMON</a:t>
            </a:r>
            <a:endParaRPr lang="en-US" sz="1000" dirty="0"/>
          </a:p>
        </p:txBody>
      </p:sp>
      <p:sp>
        <p:nvSpPr>
          <p:cNvPr id="35" name="Shape 33"/>
          <p:cNvSpPr/>
          <p:nvPr/>
        </p:nvSpPr>
        <p:spPr>
          <a:xfrm>
            <a:off x="5628132" y="2542032"/>
            <a:ext cx="3332988" cy="242316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0000"/>
              </a:srgbClr>
            </a:outerShdw>
          </a:effectLst>
        </p:spPr>
      </p:sp>
      <p:sp>
        <p:nvSpPr>
          <p:cNvPr id="36" name="Shape 34"/>
          <p:cNvSpPr/>
          <p:nvPr/>
        </p:nvSpPr>
        <p:spPr>
          <a:xfrm>
            <a:off x="5628132" y="2542032"/>
            <a:ext cx="3332988" cy="256032"/>
          </a:xfrm>
          <a:prstGeom prst="rect">
            <a:avLst/>
          </a:prstGeom>
          <a:solidFill>
            <a:srgbClr val="991B1B"/>
          </a:solidFill>
          <a:ln w="12700">
            <a:solidFill>
              <a:srgbClr val="991B1B"/>
            </a:solidFill>
            <a:prstDash val="solid"/>
          </a:ln>
        </p:spPr>
      </p:sp>
      <p:sp>
        <p:nvSpPr>
          <p:cNvPr id="37" name="Text 35"/>
          <p:cNvSpPr/>
          <p:nvPr/>
        </p:nvSpPr>
        <p:spPr>
          <a:xfrm>
            <a:off x="5737860"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NO</a:t>
            </a:r>
            <a:endParaRPr lang="en-US" sz="900" dirty="0"/>
          </a:p>
        </p:txBody>
      </p:sp>
      <p:sp>
        <p:nvSpPr>
          <p:cNvPr id="38" name="Text 36"/>
          <p:cNvSpPr/>
          <p:nvPr/>
        </p:nvSpPr>
        <p:spPr>
          <a:xfrm>
            <a:off x="5737860" y="2834640"/>
            <a:ext cx="3113532" cy="694944"/>
          </a:xfrm>
          <a:prstGeom prst="rect">
            <a:avLst/>
          </a:prstGeom>
          <a:noFill/>
          <a:ln/>
        </p:spPr>
        <p:txBody>
          <a:bodyPr wrap="square" lIns="0" tIns="0" rIns="0" bIns="0" rtlCol="0" anchor="t"/>
          <a:lstStyle/>
          <a:p>
            <a:pPr indent="0" marL="0">
              <a:buNone/>
            </a:pPr>
            <a:r>
              <a:rPr lang="en-US" sz="1100" dirty="0">
                <a:solidFill>
                  <a:srgbClr val="991B1B"/>
                </a:solidFill>
                <a:latin typeface="Calibri" pitchFamily="34" charset="0"/>
                <a:ea typeface="Calibri" pitchFamily="34" charset="-122"/>
                <a:cs typeface="Calibri" pitchFamily="34" charset="-120"/>
              </a:rPr>
              <a:t>SME says: EU machine uses a different cabling architecture — no discrete inter-module harnesses</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TC: 25 cable assemblies confirmed as LH_NA_BOTH — no formula change needed</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This is informational only</a:t>
            </a:r>
            <a:endParaRPr lang="en-US" sz="1100" dirty="0"/>
          </a:p>
        </p:txBody>
      </p:sp>
      <p:sp>
        <p:nvSpPr>
          <p:cNvPr id="39" name="Shape 37"/>
          <p:cNvSpPr/>
          <p:nvPr/>
        </p:nvSpPr>
        <p:spPr>
          <a:xfrm>
            <a:off x="5737860" y="3575304"/>
            <a:ext cx="3076956" cy="0"/>
          </a:xfrm>
          <a:prstGeom prst="line">
            <a:avLst/>
          </a:prstGeom>
          <a:noFill/>
          <a:ln w="12700">
            <a:solidFill>
              <a:srgbClr val="FCA5A5"/>
            </a:solidFill>
            <a:prstDash val="dash"/>
          </a:ln>
        </p:spPr>
      </p:sp>
      <p:sp>
        <p:nvSpPr>
          <p:cNvPr id="40" name="Text 38"/>
          <p:cNvSpPr/>
          <p:nvPr/>
        </p:nvSpPr>
        <p:spPr>
          <a:xfrm>
            <a:off x="5737860" y="3648456"/>
            <a:ext cx="3113532" cy="201168"/>
          </a:xfrm>
          <a:prstGeom prst="rect">
            <a:avLst/>
          </a:prstGeom>
          <a:noFill/>
          <a:ln/>
        </p:spPr>
        <p:txBody>
          <a:bodyPr wrap="square" lIns="0" tIns="0" rIns="0" bIns="0" rtlCol="0" anchor="ctr"/>
          <a:lstStyle/>
          <a:p>
            <a:pPr indent="0" marL="0">
              <a:buNone/>
            </a:pPr>
            <a:r>
              <a:rPr lang="en-US" sz="700" b="1" spc="200" kern="0" dirty="0">
                <a:solidFill>
                  <a:srgbClr val="991B1B"/>
                </a:solidFill>
                <a:latin typeface="Calibri" pitchFamily="34" charset="0"/>
                <a:ea typeface="Calibri" pitchFamily="34" charset="-122"/>
                <a:cs typeface="Calibri" pitchFamily="34" charset="-120"/>
              </a:rPr>
              <a:t>IF NO — UPDATE TC</a:t>
            </a:r>
            <a:endParaRPr lang="en-US" sz="700" dirty="0"/>
          </a:p>
        </p:txBody>
      </p:sp>
      <p:sp>
        <p:nvSpPr>
          <p:cNvPr id="41" name="Text 39"/>
          <p:cNvSpPr/>
          <p:nvPr/>
        </p:nvSpPr>
        <p:spPr>
          <a:xfrm>
            <a:off x="5737860" y="3877056"/>
            <a:ext cx="3113532" cy="1014984"/>
          </a:xfrm>
          <a:prstGeom prst="rect">
            <a:avLst/>
          </a:prstGeom>
          <a:noFill/>
          <a:ln/>
        </p:spPr>
        <p:txBody>
          <a:bodyPr wrap="square" lIns="0" tIns="0" rIns="0" bIns="0" rtlCol="0" anchor="t"/>
          <a:lstStyle/>
          <a:p>
            <a:pPr marL="342900" indent="-342900">
              <a:buSzPct val="100000"/>
              <a:buChar char="•"/>
            </a:pPr>
            <a:r>
              <a:rPr lang="en-US" sz="1000" dirty="0">
                <a:solidFill>
                  <a:srgbClr val="991B1B"/>
                </a:solidFill>
                <a:latin typeface="Calibri" pitchFamily="34" charset="0"/>
                <a:ea typeface="Calibri" pitchFamily="34" charset="-122"/>
                <a:cs typeface="Calibri" pitchFamily="34" charset="-120"/>
              </a:rPr>
              <a:t>25 cable assemblies confirmed LH_NA_BOTH — no change needed</a:t>
            </a:r>
            <a:endParaRPr lang="en-US" sz="1000" dirty="0"/>
          </a:p>
        </p:txBody>
      </p:sp>
      <p:sp>
        <p:nvSpPr>
          <p:cNvPr id="42" name="Shape 40"/>
          <p:cNvSpPr/>
          <p:nvPr/>
        </p:nvSpPr>
        <p:spPr>
          <a:xfrm>
            <a:off x="0" y="4974336"/>
            <a:ext cx="9144000" cy="169164"/>
          </a:xfrm>
          <a:prstGeom prst="rect">
            <a:avLst/>
          </a:prstGeom>
          <a:solidFill>
            <a:srgbClr val="0D7A6B"/>
          </a:solidFill>
          <a:ln w="12700">
            <a:solidFill>
              <a:srgbClr val="0D7A6B"/>
            </a:solidFill>
            <a:prstDash val="solid"/>
          </a:ln>
        </p:spPr>
      </p:sp>
      <p:sp>
        <p:nvSpPr>
          <p:cNvPr id="43" name="Text 41"/>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1B2A4A"/>
          </a:solidFill>
          <a:ln w="12700">
            <a:solidFill>
              <a:srgbClr val="1B2A4A"/>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800" b="1" dirty="0">
                <a:solidFill>
                  <a:srgbClr val="FFFFFF"/>
                </a:solidFill>
                <a:latin typeface="Consolas" pitchFamily="34" charset="0"/>
                <a:ea typeface="Consolas" pitchFamily="34" charset="-122"/>
                <a:cs typeface="Consolas" pitchFamily="34" charset="-120"/>
              </a:rPr>
              <a:t>Q8</a:t>
            </a:r>
            <a:endParaRPr lang="en-US" sz="68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FEF3C7"/>
          </a:solidFill>
          <a:ln w="12700">
            <a:solidFill>
              <a:srgbClr val="92400E"/>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92400E"/>
                </a:solidFill>
                <a:latin typeface="Calibri" pitchFamily="34" charset="0"/>
                <a:ea typeface="Calibri" pitchFamily="34" charset="-122"/>
                <a:cs typeface="Calibri" pitchFamily="34" charset="-120"/>
              </a:rPr>
              <a:t>MEDIUM</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64748B"/>
                </a:solidFill>
                <a:latin typeface="Calibri" pitchFamily="34" charset="0"/>
                <a:ea typeface="Calibri" pitchFamily="34" charset="-122"/>
                <a:cs typeface="Calibri" pitchFamily="34" charset="-120"/>
              </a:rPr>
              <a:t>CABLING / ARCHITECTURE</a:t>
            </a:r>
            <a:endParaRPr lang="en-US" sz="800" dirty="0"/>
          </a:p>
        </p:txBody>
      </p:sp>
      <p:sp>
        <p:nvSpPr>
          <p:cNvPr id="8" name="Shape 6"/>
          <p:cNvSpPr/>
          <p:nvPr/>
        </p:nvSpPr>
        <p:spPr>
          <a:xfrm>
            <a:off x="256032" y="2267712"/>
            <a:ext cx="1591056" cy="347472"/>
          </a:xfrm>
          <a:prstGeom prst="rect">
            <a:avLst/>
          </a:prstGeom>
          <a:solidFill>
            <a:srgbClr val="0F3460"/>
          </a:solidFill>
          <a:ln w="12700">
            <a:solidFill>
              <a:srgbClr val="0F3460"/>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4 min</a:t>
            </a:r>
            <a:endParaRPr lang="en-US" sz="1300" dirty="0"/>
          </a:p>
        </p:txBody>
      </p:sp>
      <p:sp>
        <p:nvSpPr>
          <p:cNvPr id="10" name="Shape 8"/>
          <p:cNvSpPr/>
          <p:nvPr/>
        </p:nvSpPr>
        <p:spPr>
          <a:xfrm>
            <a:off x="164592" y="2788920"/>
            <a:ext cx="1773936" cy="1417320"/>
          </a:xfrm>
          <a:prstGeom prst="rect">
            <a:avLst/>
          </a:prstGeom>
          <a:solidFill>
            <a:srgbClr val="1E3A5F"/>
          </a:solidFill>
          <a:ln w="12700">
            <a:solidFill>
              <a:srgbClr val="1E3A5F"/>
            </a:solidFill>
            <a:prstDash val="solid"/>
          </a:ln>
        </p:spPr>
      </p:sp>
      <p:sp>
        <p:nvSpPr>
          <p:cNvPr id="11" name="Text 9"/>
          <p:cNvSpPr/>
          <p:nvPr/>
        </p:nvSpPr>
        <p:spPr>
          <a:xfrm>
            <a:off x="164592" y="2834640"/>
            <a:ext cx="1773936" cy="201168"/>
          </a:xfrm>
          <a:prstGeom prst="rect">
            <a:avLst/>
          </a:prstGeom>
          <a:noFill/>
          <a:ln/>
        </p:spPr>
        <p:txBody>
          <a:bodyPr wrap="square" lIns="0" tIns="0" rIns="0" bIns="0" rtlCol="0" anchor="ctr"/>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IF STUCK</a:t>
            </a:r>
            <a:endParaRPr lang="en-US" sz="700" dirty="0"/>
          </a:p>
        </p:txBody>
      </p:sp>
      <p:sp>
        <p:nvSpPr>
          <p:cNvPr id="12" name="Text 10"/>
          <p:cNvSpPr/>
          <p:nvPr/>
        </p:nvSpPr>
        <p:spPr>
          <a:xfrm>
            <a:off x="228600" y="3054096"/>
            <a:ext cx="1645920" cy="1097280"/>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Rephrase:</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"If a customer orders a 6FT EU PLB — do they receive a cable drawing kit in the box?"</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If yes: ask for the EU Part ID</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If no: formula = Region = NA AND Orientation = LH confirmed</a:t>
            </a:r>
            <a:endParaRPr lang="en-US" sz="900" dirty="0"/>
          </a:p>
        </p:txBody>
      </p:sp>
      <p:sp>
        <p:nvSpPr>
          <p:cNvPr id="13" name="Shape 11"/>
          <p:cNvSpPr/>
          <p:nvPr/>
        </p:nvSpPr>
        <p:spPr>
          <a:xfrm>
            <a:off x="164592" y="4315968"/>
            <a:ext cx="1773936" cy="658368"/>
          </a:xfrm>
          <a:prstGeom prst="rect">
            <a:avLst/>
          </a:prstGeom>
          <a:solidFill>
            <a:srgbClr val="0D7A6B"/>
          </a:solidFill>
          <a:ln w="12700">
            <a:solidFill>
              <a:srgbClr val="0D7A6B"/>
            </a:solidFill>
            <a:prstDash val="solid"/>
          </a:ln>
        </p:spPr>
      </p:sp>
      <p:sp>
        <p:nvSpPr>
          <p:cNvPr id="14" name="Text 12"/>
          <p:cNvSpPr/>
          <p:nvPr/>
        </p:nvSpPr>
        <p:spPr>
          <a:xfrm>
            <a:off x="164592" y="4343400"/>
            <a:ext cx="1773936" cy="201168"/>
          </a:xfrm>
          <a:prstGeom prst="rect">
            <a:avLst/>
          </a:prstGeom>
          <a:noFill/>
          <a:ln/>
        </p:spPr>
        <p:txBody>
          <a:bodyPr wrap="square" lIns="0" tIns="0" rIns="0" bIns="0" rtlCol="0" anchor="ctr"/>
          <a:lstStyle/>
          <a:p>
            <a:pPr algn="ctr" indent="0" marL="0">
              <a:buNone/>
            </a:pPr>
            <a:r>
              <a:rPr lang="en-US" sz="700" spc="200" kern="0" dirty="0">
                <a:solidFill>
                  <a:srgbClr val="A7F3D0"/>
                </a:solidFill>
                <a:latin typeface="Calibri" pitchFamily="34" charset="0"/>
                <a:ea typeface="Calibri" pitchFamily="34" charset="-122"/>
                <a:cs typeface="Calibri" pitchFamily="34" charset="-120"/>
              </a:rPr>
              <a:t>TC ACTION</a:t>
            </a:r>
            <a:endParaRPr lang="en-US" sz="700" dirty="0"/>
          </a:p>
        </p:txBody>
      </p:sp>
      <p:sp>
        <p:nvSpPr>
          <p:cNvPr id="15" name="Text 13"/>
          <p:cNvSpPr/>
          <p:nvPr/>
        </p:nvSpPr>
        <p:spPr>
          <a:xfrm>
            <a:off x="201168" y="4553712"/>
            <a:ext cx="1719072" cy="384048"/>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YES: Formula = Region = NA AND Orientation = LH — updates Rule 15</a:t>
            </a:r>
            <a:endParaRPr lang="en-US" sz="900" dirty="0"/>
          </a:p>
          <a:p>
            <a:pPr indent="0" marL="0">
              <a:buNone/>
            </a:pP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NO: Find EU cable drawings Part ID — add separate EU inclusion rule</a:t>
            </a:r>
            <a:endParaRPr lang="en-US" sz="900" dirty="0"/>
          </a:p>
        </p:txBody>
      </p:sp>
      <p:sp>
        <p:nvSpPr>
          <p:cNvPr id="16" name="Shape 14"/>
          <p:cNvSpPr/>
          <p:nvPr/>
        </p:nvSpPr>
        <p:spPr>
          <a:xfrm>
            <a:off x="2240280" y="0"/>
            <a:ext cx="6720840" cy="384048"/>
          </a:xfrm>
          <a:prstGeom prst="rect">
            <a:avLst/>
          </a:prstGeom>
          <a:solidFill>
            <a:srgbClr val="0D7A6B"/>
          </a:solidFill>
          <a:ln w="12700">
            <a:solidFill>
              <a:srgbClr val="0D7A6B"/>
            </a:solidFill>
            <a:prstDash val="solid"/>
          </a:ln>
        </p:spPr>
      </p:sp>
      <p:sp>
        <p:nvSpPr>
          <p:cNvPr id="17" name="Text 15"/>
          <p:cNvSpPr/>
          <p:nvPr/>
        </p:nvSpPr>
        <p:spPr>
          <a:xfrm>
            <a:off x="2377440" y="0"/>
            <a:ext cx="64465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Cable Drawings — NA only rule or available in all regions?</a:t>
            </a:r>
            <a:endParaRPr lang="en-US" sz="1400" dirty="0"/>
          </a:p>
        </p:txBody>
      </p:sp>
      <p:sp>
        <p:nvSpPr>
          <p:cNvPr id="18" name="Shape 16"/>
          <p:cNvSpPr/>
          <p:nvPr/>
        </p:nvSpPr>
        <p:spPr>
          <a:xfrm>
            <a:off x="2240280" y="438912"/>
            <a:ext cx="6720840" cy="822960"/>
          </a:xfrm>
          <a:prstGeom prst="rect">
            <a:avLst/>
          </a:prstGeom>
          <a:solidFill>
            <a:srgbClr val="FFFFFF"/>
          </a:solidFill>
          <a:ln w="12700">
            <a:solidFill>
              <a:srgbClr val="CBD5E1"/>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2240280" y="438912"/>
            <a:ext cx="54864" cy="822960"/>
          </a:xfrm>
          <a:prstGeom prst="rect">
            <a:avLst/>
          </a:prstGeom>
          <a:solidFill>
            <a:srgbClr val="1B2A4A"/>
          </a:solidFill>
          <a:ln w="12700">
            <a:solidFill>
              <a:srgbClr val="1B2A4A"/>
            </a:solidFill>
            <a:prstDash val="solid"/>
          </a:ln>
        </p:spPr>
      </p:sp>
      <p:sp>
        <p:nvSpPr>
          <p:cNvPr id="20" name="Text 18"/>
          <p:cNvSpPr/>
          <p:nvPr/>
        </p:nvSpPr>
        <p:spPr>
          <a:xfrm>
            <a:off x="2377440" y="493776"/>
            <a:ext cx="1097280" cy="182880"/>
          </a:xfrm>
          <a:prstGeom prst="rect">
            <a:avLst/>
          </a:prstGeom>
          <a:noFill/>
          <a:ln/>
        </p:spPr>
        <p:txBody>
          <a:bodyPr wrap="square" lIns="0" tIns="0" rIns="0" bIns="0" rtlCol="0" anchor="ctr"/>
          <a:lstStyle/>
          <a:p>
            <a:pPr indent="0" marL="0">
              <a:buNone/>
            </a:pPr>
            <a:r>
              <a:rPr lang="en-US" sz="700" b="1" spc="200" kern="0" dirty="0">
                <a:solidFill>
                  <a:srgbClr val="1B2A4A"/>
                </a:solidFill>
                <a:latin typeface="Calibri" pitchFamily="34" charset="0"/>
                <a:ea typeface="Calibri" pitchFamily="34" charset="-122"/>
                <a:cs typeface="Calibri" pitchFamily="34" charset="-120"/>
              </a:rPr>
              <a:t>SAY TO OPEN</a:t>
            </a:r>
            <a:endParaRPr lang="en-US" sz="700" dirty="0"/>
          </a:p>
        </p:txBody>
      </p:sp>
      <p:sp>
        <p:nvSpPr>
          <p:cNvPr id="21" name="Text 19"/>
          <p:cNvSpPr/>
          <p:nvPr/>
        </p:nvSpPr>
        <p:spPr>
          <a:xfrm>
            <a:off x="2377440" y="694944"/>
            <a:ext cx="6492240" cy="521208"/>
          </a:xfrm>
          <a:prstGeom prst="rect">
            <a:avLst/>
          </a:prstGeom>
          <a:noFill/>
          <a:ln/>
        </p:spPr>
        <p:txBody>
          <a:bodyPr wrap="square" lIns="0" tIns="0" rIns="0" bIns="0" rtlCol="0" anchor="t"/>
          <a:lstStyle/>
          <a:p>
            <a:pPr indent="0" marL="0">
              <a:buNone/>
            </a:pPr>
            <a:r>
              <a:rPr lang="en-US" sz="1200" i="1" dirty="0">
                <a:solidFill>
                  <a:srgbClr val="1B2A4A"/>
                </a:solidFill>
                <a:latin typeface="Calibri" pitchFamily="34" charset="0"/>
                <a:ea typeface="Calibri" pitchFamily="34" charset="-122"/>
                <a:cs typeface="Calibri" pitchFamily="34" charset="-120"/>
              </a:rPr>
              <a:t>KIT_CABLE_DRAWINGS appears at Level 1 in both the 32FT LH NA and 10FT LH NA BOMs — same Part ID in both. It is completely absent from the 6FT EU BOM. Our current formula says Length = 32Ft AND Region = NA, but the 10FT BOM proves Length is not the driver — it ships with 10Ft too.</a:t>
            </a:r>
            <a:endParaRPr lang="en-US" sz="1200" dirty="0"/>
          </a:p>
        </p:txBody>
      </p:sp>
      <p:sp>
        <p:nvSpPr>
          <p:cNvPr id="22" name="Shape 20"/>
          <p:cNvSpPr/>
          <p:nvPr/>
        </p:nvSpPr>
        <p:spPr>
          <a:xfrm>
            <a:off x="2240280" y="1298448"/>
            <a:ext cx="6720840" cy="530352"/>
          </a:xfrm>
          <a:prstGeom prst="rect">
            <a:avLst/>
          </a:prstGeom>
          <a:solidFill>
            <a:srgbClr val="EFF6FF"/>
          </a:solidFill>
          <a:ln w="12700">
            <a:solidFill>
              <a:srgbClr val="BFDBFE"/>
            </a:solidFill>
            <a:prstDash val="solid"/>
          </a:ln>
        </p:spPr>
      </p:sp>
      <p:sp>
        <p:nvSpPr>
          <p:cNvPr id="23" name="Text 21"/>
          <p:cNvSpPr/>
          <p:nvPr/>
        </p:nvSpPr>
        <p:spPr>
          <a:xfrm>
            <a:off x="2377440" y="1362456"/>
            <a:ext cx="1828800" cy="182880"/>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SHOW ON BOM VIEWER</a:t>
            </a:r>
            <a:endParaRPr lang="en-US" sz="700" dirty="0"/>
          </a:p>
        </p:txBody>
      </p:sp>
      <p:sp>
        <p:nvSpPr>
          <p:cNvPr id="24" name="Text 22"/>
          <p:cNvSpPr/>
          <p:nvPr/>
        </p:nvSpPr>
        <p:spPr>
          <a:xfrm>
            <a:off x="2377440" y="1554480"/>
            <a:ext cx="6492240" cy="228600"/>
          </a:xfrm>
          <a:prstGeom prst="rect">
            <a:avLst/>
          </a:prstGeom>
          <a:noFill/>
          <a:ln/>
        </p:spPr>
        <p:txBody>
          <a:bodyPr wrap="square" lIns="0" tIns="0" rIns="0" bIns="0" rtlCol="0" anchor="t"/>
          <a:lstStyle/>
          <a:p>
            <a:pPr indent="0" marL="0">
              <a:buNone/>
            </a:pPr>
            <a:r>
              <a:rPr lang="en-US" sz="1100" dirty="0">
                <a:solidFill>
                  <a:srgbClr val="1E40AF"/>
                </a:solidFill>
                <a:latin typeface="Consolas" pitchFamily="34" charset="0"/>
                <a:ea typeface="Consolas" pitchFamily="34" charset="-122"/>
                <a:cs typeface="Consolas" pitchFamily="34" charset="-120"/>
              </a:rPr>
              <a:t>Search A00028083 in 150% BOM → show it in both LH branches tagged LH_NA_BOTH</a:t>
            </a:r>
            <a:endParaRPr lang="en-US" sz="1100" dirty="0"/>
          </a:p>
          <a:p>
            <a:pPr indent="0" marL="0">
              <a:buNone/>
            </a:pPr>
            <a:r>
              <a:rPr lang="en-US" sz="1100" dirty="0">
                <a:solidFill>
                  <a:srgbClr val="1E40AF"/>
                </a:solidFill>
                <a:latin typeface="Consolas" pitchFamily="34" charset="0"/>
                <a:ea typeface="Consolas" pitchFamily="34" charset="-122"/>
                <a:cs typeface="Consolas" pitchFamily="34" charset="-120"/>
              </a:rPr>
              <a:t>Switch to 6FT EU tab → search A00028083 → zero results</a:t>
            </a:r>
            <a:endParaRPr lang="en-US" sz="1100" dirty="0"/>
          </a:p>
        </p:txBody>
      </p:sp>
      <p:sp>
        <p:nvSpPr>
          <p:cNvPr id="25" name="Shape 23"/>
          <p:cNvSpPr/>
          <p:nvPr/>
        </p:nvSpPr>
        <p:spPr>
          <a:xfrm>
            <a:off x="2240280" y="1865376"/>
            <a:ext cx="6720840" cy="621792"/>
          </a:xfrm>
          <a:prstGeom prst="rect">
            <a:avLst/>
          </a:prstGeom>
          <a:solidFill>
            <a:srgbClr val="1B2A4A"/>
          </a:solidFill>
          <a:ln w="12700">
            <a:solidFill>
              <a:srgbClr val="1B2A4A"/>
            </a:solidFill>
            <a:prstDash val="solid"/>
          </a:ln>
        </p:spPr>
      </p:sp>
      <p:sp>
        <p:nvSpPr>
          <p:cNvPr id="26" name="Text 24"/>
          <p:cNvSpPr/>
          <p:nvPr/>
        </p:nvSpPr>
        <p:spPr>
          <a:xfrm>
            <a:off x="2377440" y="1929384"/>
            <a:ext cx="1828800" cy="182880"/>
          </a:xfrm>
          <a:prstGeom prst="rect">
            <a:avLst/>
          </a:prstGeom>
          <a:noFill/>
          <a:ln/>
        </p:spPr>
        <p:txBody>
          <a:bodyPr wrap="square" lIns="0" tIns="0" rIns="0" bIns="0" rtlCol="0" anchor="ctr"/>
          <a:lstStyle/>
          <a:p>
            <a:pPr indent="0" marL="0">
              <a:buNone/>
            </a:pPr>
            <a:r>
              <a:rPr lang="en-US" sz="700" b="1" spc="200" kern="0" dirty="0">
                <a:solidFill>
                  <a:srgbClr val="94A3B8"/>
                </a:solidFill>
                <a:latin typeface="Calibri" pitchFamily="34" charset="0"/>
                <a:ea typeface="Calibri" pitchFamily="34" charset="-122"/>
                <a:cs typeface="Calibri" pitchFamily="34" charset="-120"/>
              </a:rPr>
              <a:t>ASK EXACTLY THIS</a:t>
            </a:r>
            <a:endParaRPr lang="en-US" sz="700" dirty="0"/>
          </a:p>
        </p:txBody>
      </p:sp>
      <p:sp>
        <p:nvSpPr>
          <p:cNvPr id="27" name="Text 25"/>
          <p:cNvSpPr/>
          <p:nvPr/>
        </p:nvSpPr>
        <p:spPr>
          <a:xfrm>
            <a:off x="2377440" y="2103120"/>
            <a:ext cx="6492240" cy="347472"/>
          </a:xfrm>
          <a:prstGeom prst="rect">
            <a:avLst/>
          </a:prstGeom>
          <a:noFill/>
          <a:ln/>
        </p:spPr>
        <p:txBody>
          <a:bodyPr wrap="square" lIns="0" tIns="0" rIns="0" bIns="0" rtlCol="0" anchor="t"/>
          <a:lstStyle/>
          <a:p>
            <a:pPr indent="0" marL="0">
              <a:buNone/>
            </a:pPr>
            <a:r>
              <a:rPr lang="en-US" sz="1200" b="1" i="1" dirty="0">
                <a:solidFill>
                  <a:srgbClr val="FFFFFF"/>
                </a:solidFill>
                <a:latin typeface="Calibri" pitchFamily="34" charset="0"/>
                <a:ea typeface="Calibri" pitchFamily="34" charset="-122"/>
                <a:cs typeface="Calibri" pitchFamily="34" charset="-120"/>
              </a:rPr>
              <a:t>"Is it a business rule that cable drawings only ship with NA configurations — or does the EU machine also receive cable drawings under a different Part ID?"</a:t>
            </a:r>
            <a:endParaRPr lang="en-US" sz="1200" dirty="0"/>
          </a:p>
        </p:txBody>
      </p:sp>
      <p:sp>
        <p:nvSpPr>
          <p:cNvPr id="28" name="Shape 26"/>
          <p:cNvSpPr/>
          <p:nvPr/>
        </p:nvSpPr>
        <p:spPr>
          <a:xfrm>
            <a:off x="2240280" y="2542032"/>
            <a:ext cx="3332988" cy="2423160"/>
          </a:xfrm>
          <a:prstGeom prst="rect">
            <a:avLst/>
          </a:prstGeom>
          <a:solidFill>
            <a:srgbClr val="FFFFFF"/>
          </a:solidFill>
          <a:ln w="12700">
            <a:solidFill>
              <a:srgbClr val="86EFAC"/>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240280" y="2542032"/>
            <a:ext cx="3332988" cy="256032"/>
          </a:xfrm>
          <a:prstGeom prst="rect">
            <a:avLst/>
          </a:prstGeom>
          <a:solidFill>
            <a:srgbClr val="065F46"/>
          </a:solidFill>
          <a:ln w="12700">
            <a:solidFill>
              <a:srgbClr val="065F46"/>
            </a:solidFill>
            <a:prstDash val="solid"/>
          </a:ln>
        </p:spPr>
      </p:sp>
      <p:sp>
        <p:nvSpPr>
          <p:cNvPr id="30" name="Text 28"/>
          <p:cNvSpPr/>
          <p:nvPr/>
        </p:nvSpPr>
        <p:spPr>
          <a:xfrm>
            <a:off x="2350008"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YES</a:t>
            </a:r>
            <a:endParaRPr lang="en-US" sz="900" dirty="0"/>
          </a:p>
        </p:txBody>
      </p:sp>
      <p:sp>
        <p:nvSpPr>
          <p:cNvPr id="31" name="Text 29"/>
          <p:cNvSpPr/>
          <p:nvPr/>
        </p:nvSpPr>
        <p:spPr>
          <a:xfrm>
            <a:off x="2350008" y="2834640"/>
            <a:ext cx="3150108" cy="694944"/>
          </a:xfrm>
          <a:prstGeom prst="rect">
            <a:avLst/>
          </a:prstGeom>
          <a:noFill/>
          <a:ln/>
        </p:spPr>
        <p:txBody>
          <a:bodyPr wrap="square" lIns="0" tIns="0" rIns="0" bIns="0" rtlCol="0" anchor="t"/>
          <a:lstStyle/>
          <a:p>
            <a:pPr indent="0" marL="0">
              <a:buNone/>
            </a:pPr>
            <a:r>
              <a:rPr lang="en-US" sz="1100" dirty="0">
                <a:solidFill>
                  <a:srgbClr val="166534"/>
                </a:solidFill>
                <a:latin typeface="Calibri" pitchFamily="34" charset="0"/>
                <a:ea typeface="Calibri" pitchFamily="34" charset="-122"/>
                <a:cs typeface="Calibri" pitchFamily="34" charset="-120"/>
              </a:rPr>
              <a:t>SME says: cable drawings are NA only — EU does not receive them</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TC: formula updates to Region = NA AND Orientation = LH</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Length is no longer part of the condition</a:t>
            </a:r>
            <a:endParaRPr lang="en-US" sz="1100" dirty="0"/>
          </a:p>
        </p:txBody>
      </p:sp>
      <p:sp>
        <p:nvSpPr>
          <p:cNvPr id="32" name="Shape 30"/>
          <p:cNvSpPr/>
          <p:nvPr/>
        </p:nvSpPr>
        <p:spPr>
          <a:xfrm>
            <a:off x="2350008" y="3575304"/>
            <a:ext cx="3113532" cy="0"/>
          </a:xfrm>
          <a:prstGeom prst="line">
            <a:avLst/>
          </a:prstGeom>
          <a:noFill/>
          <a:ln w="12700">
            <a:solidFill>
              <a:srgbClr val="86EFAC"/>
            </a:solidFill>
            <a:prstDash val="dash"/>
          </a:ln>
        </p:spPr>
      </p:sp>
      <p:sp>
        <p:nvSpPr>
          <p:cNvPr id="33" name="Text 31"/>
          <p:cNvSpPr/>
          <p:nvPr/>
        </p:nvSpPr>
        <p:spPr>
          <a:xfrm>
            <a:off x="2350008" y="3648456"/>
            <a:ext cx="3150108" cy="201168"/>
          </a:xfrm>
          <a:prstGeom prst="rect">
            <a:avLst/>
          </a:prstGeom>
          <a:noFill/>
          <a:ln/>
        </p:spPr>
        <p:txBody>
          <a:bodyPr wrap="square" lIns="0" tIns="0" rIns="0" bIns="0" rtlCol="0" anchor="ctr"/>
          <a:lstStyle/>
          <a:p>
            <a:pPr indent="0" marL="0">
              <a:buNone/>
            </a:pPr>
            <a:r>
              <a:rPr lang="en-US" sz="700" b="1" spc="200" kern="0" dirty="0">
                <a:solidFill>
                  <a:srgbClr val="065F46"/>
                </a:solidFill>
                <a:latin typeface="Calibri" pitchFamily="34" charset="0"/>
                <a:ea typeface="Calibri" pitchFamily="34" charset="-122"/>
                <a:cs typeface="Calibri" pitchFamily="34" charset="-120"/>
              </a:rPr>
              <a:t>IF YES — UPDATE TC</a:t>
            </a:r>
            <a:endParaRPr lang="en-US" sz="700" dirty="0"/>
          </a:p>
        </p:txBody>
      </p:sp>
      <p:sp>
        <p:nvSpPr>
          <p:cNvPr id="34" name="Text 32"/>
          <p:cNvSpPr/>
          <p:nvPr/>
        </p:nvSpPr>
        <p:spPr>
          <a:xfrm>
            <a:off x="2350008" y="3877056"/>
            <a:ext cx="3150108" cy="1014984"/>
          </a:xfrm>
          <a:prstGeom prst="rect">
            <a:avLst/>
          </a:prstGeom>
          <a:noFill/>
          <a:ln/>
        </p:spPr>
        <p:txBody>
          <a:bodyPr wrap="square" lIns="0" tIns="0" rIns="0" bIns="0" rtlCol="0" anchor="t"/>
          <a:lstStyle/>
          <a:p>
            <a:pPr marL="342900" indent="-342900">
              <a:buSzPct val="100000"/>
              <a:buChar char="•"/>
            </a:pPr>
            <a:r>
              <a:rPr lang="en-US" sz="1000" dirty="0">
                <a:solidFill>
                  <a:srgbClr val="166534"/>
                </a:solidFill>
                <a:latin typeface="Calibri" pitchFamily="34" charset="0"/>
                <a:ea typeface="Calibri" pitchFamily="34" charset="-122"/>
                <a:cs typeface="Calibri" pitchFamily="34" charset="-120"/>
              </a:rPr>
              <a:t>Formula = Region = NA AND Orientation = LH — updates Rule 15</a:t>
            </a:r>
            <a:endParaRPr lang="en-US" sz="1000" dirty="0"/>
          </a:p>
        </p:txBody>
      </p:sp>
      <p:sp>
        <p:nvSpPr>
          <p:cNvPr id="35" name="Shape 33"/>
          <p:cNvSpPr/>
          <p:nvPr/>
        </p:nvSpPr>
        <p:spPr>
          <a:xfrm>
            <a:off x="5628132" y="2542032"/>
            <a:ext cx="3332988" cy="242316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0000"/>
              </a:srgbClr>
            </a:outerShdw>
          </a:effectLst>
        </p:spPr>
      </p:sp>
      <p:sp>
        <p:nvSpPr>
          <p:cNvPr id="36" name="Shape 34"/>
          <p:cNvSpPr/>
          <p:nvPr/>
        </p:nvSpPr>
        <p:spPr>
          <a:xfrm>
            <a:off x="5628132" y="2542032"/>
            <a:ext cx="3332988" cy="256032"/>
          </a:xfrm>
          <a:prstGeom prst="rect">
            <a:avLst/>
          </a:prstGeom>
          <a:solidFill>
            <a:srgbClr val="991B1B"/>
          </a:solidFill>
          <a:ln w="12700">
            <a:solidFill>
              <a:srgbClr val="991B1B"/>
            </a:solidFill>
            <a:prstDash val="solid"/>
          </a:ln>
        </p:spPr>
      </p:sp>
      <p:sp>
        <p:nvSpPr>
          <p:cNvPr id="37" name="Text 35"/>
          <p:cNvSpPr/>
          <p:nvPr/>
        </p:nvSpPr>
        <p:spPr>
          <a:xfrm>
            <a:off x="5737860"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NO</a:t>
            </a:r>
            <a:endParaRPr lang="en-US" sz="900" dirty="0"/>
          </a:p>
        </p:txBody>
      </p:sp>
      <p:sp>
        <p:nvSpPr>
          <p:cNvPr id="38" name="Text 36"/>
          <p:cNvSpPr/>
          <p:nvPr/>
        </p:nvSpPr>
        <p:spPr>
          <a:xfrm>
            <a:off x="5737860" y="2834640"/>
            <a:ext cx="3113532" cy="694944"/>
          </a:xfrm>
          <a:prstGeom prst="rect">
            <a:avLst/>
          </a:prstGeom>
          <a:noFill/>
          <a:ln/>
        </p:spPr>
        <p:txBody>
          <a:bodyPr wrap="square" lIns="0" tIns="0" rIns="0" bIns="0" rtlCol="0" anchor="t"/>
          <a:lstStyle/>
          <a:p>
            <a:pPr indent="0" marL="0">
              <a:buNone/>
            </a:pPr>
            <a:r>
              <a:rPr lang="en-US" sz="1100" dirty="0">
                <a:solidFill>
                  <a:srgbClr val="991B1B"/>
                </a:solidFill>
                <a:latin typeface="Calibri" pitchFamily="34" charset="0"/>
                <a:ea typeface="Calibri" pitchFamily="34" charset="-122"/>
                <a:cs typeface="Calibri" pitchFamily="34" charset="-120"/>
              </a:rPr>
              <a:t>SME says: EU also receives cable drawings — different Part ID or different location in BOM</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TC: locate EU cable drawings Part ID — add EU formula</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May also update Region = NA formula for LH configs</a:t>
            </a:r>
            <a:endParaRPr lang="en-US" sz="1100" dirty="0"/>
          </a:p>
        </p:txBody>
      </p:sp>
      <p:sp>
        <p:nvSpPr>
          <p:cNvPr id="39" name="Shape 37"/>
          <p:cNvSpPr/>
          <p:nvPr/>
        </p:nvSpPr>
        <p:spPr>
          <a:xfrm>
            <a:off x="5737860" y="3575304"/>
            <a:ext cx="3076956" cy="0"/>
          </a:xfrm>
          <a:prstGeom prst="line">
            <a:avLst/>
          </a:prstGeom>
          <a:noFill/>
          <a:ln w="12700">
            <a:solidFill>
              <a:srgbClr val="FCA5A5"/>
            </a:solidFill>
            <a:prstDash val="dash"/>
          </a:ln>
        </p:spPr>
      </p:sp>
      <p:sp>
        <p:nvSpPr>
          <p:cNvPr id="40" name="Text 38"/>
          <p:cNvSpPr/>
          <p:nvPr/>
        </p:nvSpPr>
        <p:spPr>
          <a:xfrm>
            <a:off x="5737860" y="3648456"/>
            <a:ext cx="3113532" cy="201168"/>
          </a:xfrm>
          <a:prstGeom prst="rect">
            <a:avLst/>
          </a:prstGeom>
          <a:noFill/>
          <a:ln/>
        </p:spPr>
        <p:txBody>
          <a:bodyPr wrap="square" lIns="0" tIns="0" rIns="0" bIns="0" rtlCol="0" anchor="ctr"/>
          <a:lstStyle/>
          <a:p>
            <a:pPr indent="0" marL="0">
              <a:buNone/>
            </a:pPr>
            <a:r>
              <a:rPr lang="en-US" sz="700" b="1" spc="200" kern="0" dirty="0">
                <a:solidFill>
                  <a:srgbClr val="991B1B"/>
                </a:solidFill>
                <a:latin typeface="Calibri" pitchFamily="34" charset="0"/>
                <a:ea typeface="Calibri" pitchFamily="34" charset="-122"/>
                <a:cs typeface="Calibri" pitchFamily="34" charset="-120"/>
              </a:rPr>
              <a:t>IF NO — UPDATE TC</a:t>
            </a:r>
            <a:endParaRPr lang="en-US" sz="700" dirty="0"/>
          </a:p>
        </p:txBody>
      </p:sp>
      <p:sp>
        <p:nvSpPr>
          <p:cNvPr id="41" name="Text 39"/>
          <p:cNvSpPr/>
          <p:nvPr/>
        </p:nvSpPr>
        <p:spPr>
          <a:xfrm>
            <a:off x="5737860" y="3877056"/>
            <a:ext cx="3113532" cy="1014984"/>
          </a:xfrm>
          <a:prstGeom prst="rect">
            <a:avLst/>
          </a:prstGeom>
          <a:noFill/>
          <a:ln/>
        </p:spPr>
        <p:txBody>
          <a:bodyPr wrap="square" lIns="0" tIns="0" rIns="0" bIns="0" rtlCol="0" anchor="t"/>
          <a:lstStyle/>
          <a:p>
            <a:pPr marL="342900" indent="-342900">
              <a:buSzPct val="100000"/>
              <a:buChar char="•"/>
            </a:pPr>
            <a:r>
              <a:rPr lang="en-US" sz="1000" dirty="0">
                <a:solidFill>
                  <a:srgbClr val="991B1B"/>
                </a:solidFill>
                <a:latin typeface="Calibri" pitchFamily="34" charset="0"/>
                <a:ea typeface="Calibri" pitchFamily="34" charset="-122"/>
                <a:cs typeface="Calibri" pitchFamily="34" charset="-120"/>
              </a:rPr>
              <a:t>Find EU cable drawings Part ID — add separate EU inclusion rule</a:t>
            </a:r>
            <a:endParaRPr lang="en-US" sz="1000" dirty="0"/>
          </a:p>
        </p:txBody>
      </p:sp>
      <p:sp>
        <p:nvSpPr>
          <p:cNvPr id="42" name="Shape 40"/>
          <p:cNvSpPr/>
          <p:nvPr/>
        </p:nvSpPr>
        <p:spPr>
          <a:xfrm>
            <a:off x="0" y="4974336"/>
            <a:ext cx="9144000" cy="169164"/>
          </a:xfrm>
          <a:prstGeom prst="rect">
            <a:avLst/>
          </a:prstGeom>
          <a:solidFill>
            <a:srgbClr val="0D7A6B"/>
          </a:solidFill>
          <a:ln w="12700">
            <a:solidFill>
              <a:srgbClr val="0D7A6B"/>
            </a:solidFill>
            <a:prstDash val="solid"/>
          </a:ln>
        </p:spPr>
      </p:sp>
      <p:sp>
        <p:nvSpPr>
          <p:cNvPr id="43" name="Text 41"/>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0F1E35"/>
          </a:solidFill>
          <a:ln w="12700">
            <a:solidFill>
              <a:srgbClr val="0F1E35"/>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800" b="1" dirty="0">
                <a:solidFill>
                  <a:srgbClr val="475569"/>
                </a:solidFill>
                <a:latin typeface="Consolas" pitchFamily="34" charset="0"/>
                <a:ea typeface="Consolas" pitchFamily="34" charset="-122"/>
                <a:cs typeface="Consolas" pitchFamily="34" charset="-120"/>
              </a:rPr>
              <a:t>Q9</a:t>
            </a:r>
            <a:endParaRPr lang="en-US" sz="68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1E293B"/>
          </a:solidFill>
          <a:ln w="12700">
            <a:solidFill>
              <a:srgbClr val="334155"/>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SKIP</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334155"/>
                </a:solidFill>
                <a:latin typeface="Calibri" pitchFamily="34" charset="0"/>
                <a:ea typeface="Calibri" pitchFamily="34" charset="-122"/>
                <a:cs typeface="Calibri" pitchFamily="34" charset="-120"/>
              </a:rPr>
              <a:t>INFEED</a:t>
            </a:r>
            <a:endParaRPr lang="en-US" sz="800" dirty="0"/>
          </a:p>
        </p:txBody>
      </p:sp>
      <p:sp>
        <p:nvSpPr>
          <p:cNvPr id="8" name="Shape 6"/>
          <p:cNvSpPr/>
          <p:nvPr/>
        </p:nvSpPr>
        <p:spPr>
          <a:xfrm>
            <a:off x="256032" y="2267712"/>
            <a:ext cx="1591056" cy="347472"/>
          </a:xfrm>
          <a:prstGeom prst="rect">
            <a:avLst/>
          </a:prstGeom>
          <a:solidFill>
            <a:srgbClr val="0D7A6B"/>
          </a:solidFill>
          <a:ln w="12700">
            <a:solidFill>
              <a:srgbClr val="0D7A6B"/>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5 min saved</a:t>
            </a:r>
            <a:endParaRPr lang="en-US" sz="1100" dirty="0"/>
          </a:p>
        </p:txBody>
      </p:sp>
      <p:sp>
        <p:nvSpPr>
          <p:cNvPr id="10" name="Shape 8"/>
          <p:cNvSpPr/>
          <p:nvPr/>
        </p:nvSpPr>
        <p:spPr>
          <a:xfrm>
            <a:off x="2240280" y="0"/>
            <a:ext cx="6903720" cy="384048"/>
          </a:xfrm>
          <a:prstGeom prst="rect">
            <a:avLst/>
          </a:prstGeom>
          <a:solidFill>
            <a:srgbClr val="334155"/>
          </a:solidFill>
          <a:ln w="12700">
            <a:solidFill>
              <a:srgbClr val="334155"/>
            </a:solidFill>
            <a:prstDash val="solid"/>
          </a:ln>
        </p:spPr>
      </p:sp>
      <p:sp>
        <p:nvSpPr>
          <p:cNvPr id="11" name="Text 9"/>
          <p:cNvSpPr/>
          <p:nvPr/>
        </p:nvSpPr>
        <p:spPr>
          <a:xfrm>
            <a:off x="2377440" y="0"/>
            <a:ext cx="6675120" cy="384048"/>
          </a:xfrm>
          <a:prstGeom prst="rect">
            <a:avLst/>
          </a:prstGeom>
          <a:noFill/>
          <a:ln/>
        </p:spPr>
        <p:txBody>
          <a:bodyPr wrap="square" lIns="0" tIns="0" rIns="0" bIns="0" rtlCol="0" anchor="ctr"/>
          <a:lstStyle/>
          <a:p>
            <a:pPr indent="0" marL="0">
              <a:buNone/>
            </a:pPr>
            <a:r>
              <a:rPr lang="en-US" sz="1400" b="1" dirty="0">
                <a:solidFill>
                  <a:srgbClr val="94A3B8"/>
                </a:solidFill>
                <a:latin typeface="Calibri" pitchFamily="34" charset="0"/>
                <a:ea typeface="Calibri" pitchFamily="34" charset="-122"/>
                <a:cs typeface="Calibri" pitchFamily="34" charset="-120"/>
              </a:rPr>
              <a:t>Infeed Extension Formula — Already Answered in Q2</a:t>
            </a:r>
            <a:endParaRPr lang="en-US" sz="1400" dirty="0"/>
          </a:p>
        </p:txBody>
      </p:sp>
      <p:sp>
        <p:nvSpPr>
          <p:cNvPr id="12" name="Shape 10"/>
          <p:cNvSpPr/>
          <p:nvPr/>
        </p:nvSpPr>
        <p:spPr>
          <a:xfrm>
            <a:off x="2240280" y="475488"/>
            <a:ext cx="6903720" cy="1920240"/>
          </a:xfrm>
          <a:prstGeom prst="rect">
            <a:avLst/>
          </a:prstGeom>
          <a:solidFill>
            <a:srgbClr val="1E293B"/>
          </a:solidFill>
          <a:ln w="12700">
            <a:solidFill>
              <a:srgbClr val="334155"/>
            </a:solidFill>
            <a:prstDash val="solid"/>
          </a:ln>
        </p:spPr>
      </p:sp>
      <p:sp>
        <p:nvSpPr>
          <p:cNvPr id="13" name="Shape 11"/>
          <p:cNvSpPr/>
          <p:nvPr/>
        </p:nvSpPr>
        <p:spPr>
          <a:xfrm>
            <a:off x="2240280" y="475488"/>
            <a:ext cx="54864" cy="1920240"/>
          </a:xfrm>
          <a:prstGeom prst="rect">
            <a:avLst/>
          </a:prstGeom>
          <a:solidFill>
            <a:srgbClr val="475569"/>
          </a:solidFill>
          <a:ln w="12700">
            <a:solidFill>
              <a:srgbClr val="475569"/>
            </a:solidFill>
            <a:prstDash val="solid"/>
          </a:ln>
        </p:spPr>
      </p:sp>
      <p:sp>
        <p:nvSpPr>
          <p:cNvPr id="14" name="Text 12"/>
          <p:cNvSpPr/>
          <p:nvPr/>
        </p:nvSpPr>
        <p:spPr>
          <a:xfrm>
            <a:off x="2423160" y="548640"/>
            <a:ext cx="6583680" cy="201168"/>
          </a:xfrm>
          <a:prstGeom prst="rect">
            <a:avLst/>
          </a:prstGeom>
          <a:noFill/>
          <a:ln/>
        </p:spPr>
        <p:txBody>
          <a:bodyPr wrap="square" lIns="0" tIns="0" rIns="0" bIns="0" rtlCol="0" anchor="ctr"/>
          <a:lstStyle/>
          <a:p>
            <a:pPr indent="0" marL="0">
              <a:buNone/>
            </a:pPr>
            <a:r>
              <a:rPr lang="en-US" sz="800" b="1" spc="200" kern="0" dirty="0">
                <a:solidFill>
                  <a:srgbClr val="64748B"/>
                </a:solidFill>
                <a:latin typeface="Calibri" pitchFamily="34" charset="0"/>
                <a:ea typeface="Calibri" pitchFamily="34" charset="-122"/>
                <a:cs typeface="Calibri" pitchFamily="34" charset="-120"/>
              </a:rPr>
              <a:t>POINT OF REMEMBRANCE</a:t>
            </a:r>
            <a:endParaRPr lang="en-US" sz="800" dirty="0"/>
          </a:p>
        </p:txBody>
      </p:sp>
      <p:sp>
        <p:nvSpPr>
          <p:cNvPr id="15" name="Text 13"/>
          <p:cNvSpPr/>
          <p:nvPr/>
        </p:nvSpPr>
        <p:spPr>
          <a:xfrm>
            <a:off x="2423160" y="786384"/>
            <a:ext cx="6492240" cy="1463040"/>
          </a:xfrm>
          <a:prstGeom prst="rect">
            <a:avLst/>
          </a:prstGeom>
          <a:noFill/>
          <a:ln/>
        </p:spPr>
        <p:txBody>
          <a:bodyPr wrap="square" lIns="0" tIns="0" rIns="0" bIns="0" rtlCol="0" anchor="t"/>
          <a:lstStyle/>
          <a:p>
            <a:pPr indent="0" marL="0">
              <a:buNone/>
            </a:pPr>
            <a:r>
              <a:rPr lang="en-US" sz="1300" i="1" dirty="0">
                <a:solidFill>
                  <a:srgbClr val="94A3B8"/>
                </a:solidFill>
                <a:latin typeface="Calibri" pitchFamily="34" charset="0"/>
                <a:ea typeface="Calibri" pitchFamily="34" charset="-122"/>
                <a:cs typeface="Calibri" pitchFamily="34" charset="-120"/>
              </a:rPr>
              <a:t>Q9 asks the same question as Q2 — just with additional 10FT BOM evidence.</a:t>
            </a:r>
            <a:endParaRPr lang="en-US" sz="1300" dirty="0"/>
          </a:p>
          <a:p>
            <a:pPr indent="0" marL="0">
              <a:buNone/>
            </a:pPr>
            <a:endParaRPr lang="en-US" sz="1300" dirty="0"/>
          </a:p>
          <a:p>
            <a:pPr indent="0" marL="0">
              <a:buNone/>
            </a:pPr>
            <a:r>
              <a:rPr lang="en-US" sz="1300" i="1" dirty="0">
                <a:solidFill>
                  <a:srgbClr val="94A3B8"/>
                </a:solidFill>
                <a:latin typeface="Calibri" pitchFamily="34" charset="0"/>
                <a:ea typeface="Calibri" pitchFamily="34" charset="-122"/>
                <a:cs typeface="Calibri" pitchFamily="34" charset="-120"/>
              </a:rPr>
              <a:t>Both questions confirm: ASSY_KIT_CONVEYOR_INFEED_EXTENSION (A00031581) is present in BOTH the 32FT LH and 10FT LH BOMs — which proves the original formula was wrong.</a:t>
            </a:r>
            <a:endParaRPr lang="en-US" sz="1300" dirty="0"/>
          </a:p>
        </p:txBody>
      </p:sp>
      <p:sp>
        <p:nvSpPr>
          <p:cNvPr id="16" name="Shape 14"/>
          <p:cNvSpPr/>
          <p:nvPr/>
        </p:nvSpPr>
        <p:spPr>
          <a:xfrm>
            <a:off x="2240280" y="2487168"/>
            <a:ext cx="6903720" cy="384048"/>
          </a:xfrm>
          <a:prstGeom prst="rect">
            <a:avLst/>
          </a:prstGeom>
          <a:solidFill>
            <a:srgbClr val="0D7A6B"/>
          </a:solidFill>
          <a:ln w="12700">
            <a:solidFill>
              <a:srgbClr val="0D7A6B"/>
            </a:solidFill>
            <a:prstDash val="solid"/>
          </a:ln>
        </p:spPr>
      </p:sp>
      <p:sp>
        <p:nvSpPr>
          <p:cNvPr id="17" name="Text 15"/>
          <p:cNvSpPr/>
          <p:nvPr/>
        </p:nvSpPr>
        <p:spPr>
          <a:xfrm>
            <a:off x="2377440" y="2487168"/>
            <a:ext cx="6675120" cy="384048"/>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WHAT TO SAY AT THIS POINT IN THE WORKSHOP</a:t>
            </a:r>
            <a:endParaRPr lang="en-US" sz="1000" dirty="0"/>
          </a:p>
        </p:txBody>
      </p:sp>
      <p:sp>
        <p:nvSpPr>
          <p:cNvPr id="18" name="Shape 16"/>
          <p:cNvSpPr/>
          <p:nvPr/>
        </p:nvSpPr>
        <p:spPr>
          <a:xfrm>
            <a:off x="2240280" y="2871216"/>
            <a:ext cx="6903720" cy="1005840"/>
          </a:xfrm>
          <a:prstGeom prst="rect">
            <a:avLst/>
          </a:prstGeom>
          <a:solidFill>
            <a:srgbClr val="0F2744"/>
          </a:solidFill>
          <a:ln w="12700">
            <a:solidFill>
              <a:srgbClr val="0D7A6B"/>
            </a:solidFill>
            <a:prstDash val="solid"/>
          </a:ln>
        </p:spPr>
      </p:sp>
      <p:sp>
        <p:nvSpPr>
          <p:cNvPr id="19" name="Text 17"/>
          <p:cNvSpPr/>
          <p:nvPr/>
        </p:nvSpPr>
        <p:spPr>
          <a:xfrm>
            <a:off x="2423160" y="2944368"/>
            <a:ext cx="6583680" cy="868680"/>
          </a:xfrm>
          <a:prstGeom prst="rect">
            <a:avLst/>
          </a:prstGeom>
          <a:noFill/>
          <a:ln/>
        </p:spPr>
        <p:txBody>
          <a:bodyPr wrap="square" lIns="0" tIns="0" rIns="0" bIns="0" rtlCol="0" anchor="ctr"/>
          <a:lstStyle/>
          <a:p>
            <a:pPr indent="0" marL="0">
              <a:buNone/>
            </a:pPr>
            <a:r>
              <a:rPr lang="en-US" sz="1400" b="1" i="1" dirty="0">
                <a:solidFill>
                  <a:srgbClr val="FFFFFF"/>
                </a:solidFill>
                <a:latin typeface="Calibri" pitchFamily="34" charset="0"/>
                <a:ea typeface="Calibri" pitchFamily="34" charset="-122"/>
                <a:cs typeface="Calibri" pitchFamily="34" charset="-120"/>
              </a:rPr>
              <a:t>"Q9 was already answered when we covered Q2.</a:t>
            </a:r>
            <a:endParaRPr lang="en-US" sz="1400" dirty="0"/>
          </a:p>
          <a:p>
            <a:pPr indent="0" marL="0">
              <a:buNone/>
            </a:pPr>
            <a:r>
              <a:rPr lang="en-US" sz="1400" b="1" i="1" dirty="0">
                <a:solidFill>
                  <a:srgbClr val="FFFFFF"/>
                </a:solidFill>
                <a:latin typeface="Calibri" pitchFamily="34" charset="0"/>
                <a:ea typeface="Calibri" pitchFamily="34" charset="-122"/>
                <a:cs typeface="Calibri" pitchFamily="34" charset="-120"/>
              </a:rPr>
              <a:t>The infeed extension is confirmed as Infeed = Yes — regardless of length.</a:t>
            </a:r>
            <a:endParaRPr lang="en-US" sz="1400" dirty="0"/>
          </a:p>
          <a:p>
            <a:pPr indent="0" marL="0">
              <a:buNone/>
            </a:pPr>
            <a:r>
              <a:rPr lang="en-US" sz="1400" b="1" i="1" dirty="0">
                <a:solidFill>
                  <a:srgbClr val="FFFFFF"/>
                </a:solidFill>
                <a:latin typeface="Calibri" pitchFamily="34" charset="0"/>
                <a:ea typeface="Calibri" pitchFamily="34" charset="-122"/>
                <a:cs typeface="Calibri" pitchFamily="34" charset="-120"/>
              </a:rPr>
              <a:t>Moving to Q10."</a:t>
            </a:r>
            <a:endParaRPr lang="en-US" sz="1400" dirty="0"/>
          </a:p>
        </p:txBody>
      </p:sp>
      <p:sp>
        <p:nvSpPr>
          <p:cNvPr id="20" name="Shape 18"/>
          <p:cNvSpPr/>
          <p:nvPr/>
        </p:nvSpPr>
        <p:spPr>
          <a:xfrm>
            <a:off x="2240280" y="3950208"/>
            <a:ext cx="3364992" cy="804672"/>
          </a:xfrm>
          <a:prstGeom prst="rect">
            <a:avLst/>
          </a:prstGeom>
          <a:solidFill>
            <a:srgbClr val="052E16"/>
          </a:solidFill>
          <a:ln w="12700">
            <a:solidFill>
              <a:srgbClr val="166534"/>
            </a:solidFill>
            <a:prstDash val="solid"/>
          </a:ln>
        </p:spPr>
      </p:sp>
      <p:sp>
        <p:nvSpPr>
          <p:cNvPr id="21" name="Text 19"/>
          <p:cNvSpPr/>
          <p:nvPr/>
        </p:nvSpPr>
        <p:spPr>
          <a:xfrm>
            <a:off x="2377440" y="4005072"/>
            <a:ext cx="3108960" cy="201168"/>
          </a:xfrm>
          <a:prstGeom prst="rect">
            <a:avLst/>
          </a:prstGeom>
          <a:noFill/>
          <a:ln/>
        </p:spPr>
        <p:txBody>
          <a:bodyPr wrap="square" lIns="0" tIns="0" rIns="0" bIns="0" rtlCol="0" anchor="ctr"/>
          <a:lstStyle/>
          <a:p>
            <a:pPr indent="0" marL="0">
              <a:buNone/>
            </a:pPr>
            <a:r>
              <a:rPr lang="en-US" sz="700" b="1" spc="200" kern="0" dirty="0">
                <a:solidFill>
                  <a:srgbClr val="4ADE80"/>
                </a:solidFill>
                <a:latin typeface="Calibri" pitchFamily="34" charset="0"/>
                <a:ea typeface="Calibri" pitchFamily="34" charset="-122"/>
                <a:cs typeface="Calibri" pitchFamily="34" charset="-120"/>
              </a:rPr>
              <a:t>CONFIRMED FORMULA</a:t>
            </a:r>
            <a:endParaRPr lang="en-US" sz="700" dirty="0"/>
          </a:p>
        </p:txBody>
      </p:sp>
      <p:sp>
        <p:nvSpPr>
          <p:cNvPr id="22" name="Text 20"/>
          <p:cNvSpPr/>
          <p:nvPr/>
        </p:nvSpPr>
        <p:spPr>
          <a:xfrm>
            <a:off x="2377440" y="4224528"/>
            <a:ext cx="3108960" cy="457200"/>
          </a:xfrm>
          <a:prstGeom prst="rect">
            <a:avLst/>
          </a:prstGeom>
          <a:noFill/>
          <a:ln/>
        </p:spPr>
        <p:txBody>
          <a:bodyPr wrap="square" lIns="0" tIns="0" rIns="0" bIns="0" rtlCol="0" anchor="ctr"/>
          <a:lstStyle/>
          <a:p>
            <a:pPr indent="0" marL="0">
              <a:buNone/>
            </a:pPr>
            <a:r>
              <a:rPr lang="en-US" sz="1400" b="1" dirty="0">
                <a:solidFill>
                  <a:srgbClr val="4ADE80"/>
                </a:solidFill>
                <a:latin typeface="Consolas" pitchFamily="34" charset="0"/>
                <a:ea typeface="Consolas" pitchFamily="34" charset="-122"/>
                <a:cs typeface="Consolas" pitchFamily="34" charset="-120"/>
              </a:rPr>
              <a:t>A00031581  →  Infeed = Yes</a:t>
            </a:r>
            <a:endParaRPr lang="en-US" sz="1400" dirty="0"/>
          </a:p>
        </p:txBody>
      </p:sp>
      <p:sp>
        <p:nvSpPr>
          <p:cNvPr id="23" name="Shape 21"/>
          <p:cNvSpPr/>
          <p:nvPr/>
        </p:nvSpPr>
        <p:spPr>
          <a:xfrm>
            <a:off x="5779008" y="3950208"/>
            <a:ext cx="3364992" cy="804672"/>
          </a:xfrm>
          <a:prstGeom prst="rect">
            <a:avLst/>
          </a:prstGeom>
          <a:solidFill>
            <a:srgbClr val="1E293B"/>
          </a:solidFill>
          <a:ln w="12700">
            <a:solidFill>
              <a:srgbClr val="334155"/>
            </a:solidFill>
            <a:prstDash val="solid"/>
          </a:ln>
        </p:spPr>
      </p:sp>
      <p:sp>
        <p:nvSpPr>
          <p:cNvPr id="24" name="Text 22"/>
          <p:cNvSpPr/>
          <p:nvPr/>
        </p:nvSpPr>
        <p:spPr>
          <a:xfrm>
            <a:off x="5916168" y="4005072"/>
            <a:ext cx="3108960" cy="201168"/>
          </a:xfrm>
          <a:prstGeom prst="rect">
            <a:avLst/>
          </a:prstGeom>
          <a:noFill/>
          <a:ln/>
        </p:spPr>
        <p:txBody>
          <a:bodyPr wrap="square" lIns="0" tIns="0" rIns="0" bIns="0" rtlCol="0" anchor="ctr"/>
          <a:lstStyle/>
          <a:p>
            <a:pPr indent="0" marL="0">
              <a:buNone/>
            </a:pPr>
            <a:r>
              <a:rPr lang="en-US" sz="700" b="1" spc="200" kern="0" dirty="0">
                <a:solidFill>
                  <a:srgbClr val="64748B"/>
                </a:solidFill>
                <a:latin typeface="Calibri" pitchFamily="34" charset="0"/>
                <a:ea typeface="Calibri" pitchFamily="34" charset="-122"/>
                <a:cs typeface="Calibri" pitchFamily="34" charset="-120"/>
              </a:rPr>
              <a:t>TC ACTION</a:t>
            </a:r>
            <a:endParaRPr lang="en-US" sz="700" dirty="0"/>
          </a:p>
        </p:txBody>
      </p:sp>
      <p:sp>
        <p:nvSpPr>
          <p:cNvPr id="25" name="Text 23"/>
          <p:cNvSpPr/>
          <p:nvPr/>
        </p:nvSpPr>
        <p:spPr>
          <a:xfrm>
            <a:off x="5916168" y="4224528"/>
            <a:ext cx="3108960" cy="4572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Rule 16 already updated in 150% BOM</a:t>
            </a:r>
            <a:endParaRPr lang="en-US" sz="1100" dirty="0"/>
          </a:p>
          <a:p>
            <a:pPr indent="0" marL="0">
              <a:buNone/>
            </a:pPr>
            <a:r>
              <a:rPr lang="en-US" sz="1100" dirty="0">
                <a:solidFill>
                  <a:srgbClr val="94A3B8"/>
                </a:solidFill>
                <a:latin typeface="Calibri" pitchFamily="34" charset="0"/>
                <a:ea typeface="Calibri" pitchFamily="34" charset="-122"/>
                <a:cs typeface="Calibri" pitchFamily="34" charset="-120"/>
              </a:rPr>
              <a:t>Answer from Q2 covers this</a:t>
            </a:r>
            <a:endParaRPr lang="en-US" sz="1100" dirty="0"/>
          </a:p>
        </p:txBody>
      </p:sp>
      <p:sp>
        <p:nvSpPr>
          <p:cNvPr id="26" name="Shape 24"/>
          <p:cNvSpPr/>
          <p:nvPr/>
        </p:nvSpPr>
        <p:spPr>
          <a:xfrm>
            <a:off x="0" y="4974336"/>
            <a:ext cx="9144000" cy="169164"/>
          </a:xfrm>
          <a:prstGeom prst="rect">
            <a:avLst/>
          </a:prstGeom>
          <a:solidFill>
            <a:srgbClr val="0D7A6B"/>
          </a:solidFill>
          <a:ln w="12700">
            <a:solidFill>
              <a:srgbClr val="0D7A6B"/>
            </a:solidFill>
            <a:prstDash val="solid"/>
          </a:ln>
        </p:spPr>
      </p:sp>
      <p:sp>
        <p:nvSpPr>
          <p:cNvPr id="27" name="Text 25"/>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0F1E35"/>
          </a:solidFill>
          <a:ln w="12700">
            <a:solidFill>
              <a:srgbClr val="0F1E35"/>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000" b="1" dirty="0">
                <a:solidFill>
                  <a:srgbClr val="475569"/>
                </a:solidFill>
                <a:latin typeface="Consolas" pitchFamily="34" charset="0"/>
                <a:ea typeface="Consolas" pitchFamily="34" charset="-122"/>
                <a:cs typeface="Consolas" pitchFamily="34" charset="-120"/>
              </a:rPr>
              <a:t>Q10</a:t>
            </a:r>
            <a:endParaRPr lang="en-US" sz="60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334155"/>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1E293B"/>
          </a:solidFill>
          <a:ln w="12700">
            <a:solidFill>
              <a:srgbClr val="334155"/>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SKIP</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334155"/>
                </a:solidFill>
                <a:latin typeface="Calibri" pitchFamily="34" charset="0"/>
                <a:ea typeface="Calibri" pitchFamily="34" charset="-122"/>
                <a:cs typeface="Calibri" pitchFamily="34" charset="-120"/>
              </a:rPr>
              <a:t>INFEED</a:t>
            </a:r>
            <a:endParaRPr lang="en-US" sz="800" dirty="0"/>
          </a:p>
        </p:txBody>
      </p:sp>
      <p:sp>
        <p:nvSpPr>
          <p:cNvPr id="8" name="Shape 6"/>
          <p:cNvSpPr/>
          <p:nvPr/>
        </p:nvSpPr>
        <p:spPr>
          <a:xfrm>
            <a:off x="256032" y="2267712"/>
            <a:ext cx="1591056" cy="347472"/>
          </a:xfrm>
          <a:prstGeom prst="rect">
            <a:avLst/>
          </a:prstGeom>
          <a:solidFill>
            <a:srgbClr val="0D7A6B"/>
          </a:solidFill>
          <a:ln w="12700">
            <a:solidFill>
              <a:srgbClr val="0D7A6B"/>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5 min saved</a:t>
            </a:r>
            <a:endParaRPr lang="en-US" sz="1100" dirty="0"/>
          </a:p>
        </p:txBody>
      </p:sp>
      <p:sp>
        <p:nvSpPr>
          <p:cNvPr id="10" name="Shape 8"/>
          <p:cNvSpPr/>
          <p:nvPr/>
        </p:nvSpPr>
        <p:spPr>
          <a:xfrm>
            <a:off x="2240280" y="0"/>
            <a:ext cx="6903720" cy="384048"/>
          </a:xfrm>
          <a:prstGeom prst="rect">
            <a:avLst/>
          </a:prstGeom>
          <a:solidFill>
            <a:srgbClr val="334155"/>
          </a:solidFill>
          <a:ln w="12700">
            <a:solidFill>
              <a:srgbClr val="334155"/>
            </a:solidFill>
            <a:prstDash val="solid"/>
          </a:ln>
        </p:spPr>
      </p:sp>
      <p:sp>
        <p:nvSpPr>
          <p:cNvPr id="11" name="Text 9"/>
          <p:cNvSpPr/>
          <p:nvPr/>
        </p:nvSpPr>
        <p:spPr>
          <a:xfrm>
            <a:off x="2377440" y="0"/>
            <a:ext cx="6675120" cy="384048"/>
          </a:xfrm>
          <a:prstGeom prst="rect">
            <a:avLst/>
          </a:prstGeom>
          <a:noFill/>
          <a:ln/>
        </p:spPr>
        <p:txBody>
          <a:bodyPr wrap="square" lIns="0" tIns="0" rIns="0" bIns="0" rtlCol="0" anchor="ctr"/>
          <a:lstStyle/>
          <a:p>
            <a:pPr indent="0" marL="0">
              <a:buNone/>
            </a:pPr>
            <a:r>
              <a:rPr lang="en-US" sz="1400" b="1" dirty="0">
                <a:solidFill>
                  <a:srgbClr val="94A3B8"/>
                </a:solidFill>
                <a:latin typeface="Calibri" pitchFamily="34" charset="0"/>
                <a:ea typeface="Calibri" pitchFamily="34" charset="-122"/>
                <a:cs typeface="Calibri" pitchFamily="34" charset="-120"/>
              </a:rPr>
              <a:t>Infeed Extension Formula — Already Answered in Q2 and Q9</a:t>
            </a:r>
            <a:endParaRPr lang="en-US" sz="1400" dirty="0"/>
          </a:p>
        </p:txBody>
      </p:sp>
      <p:sp>
        <p:nvSpPr>
          <p:cNvPr id="12" name="Shape 10"/>
          <p:cNvSpPr/>
          <p:nvPr/>
        </p:nvSpPr>
        <p:spPr>
          <a:xfrm>
            <a:off x="2240280" y="475488"/>
            <a:ext cx="6903720" cy="1554480"/>
          </a:xfrm>
          <a:prstGeom prst="rect">
            <a:avLst/>
          </a:prstGeom>
          <a:solidFill>
            <a:srgbClr val="1E293B"/>
          </a:solidFill>
          <a:ln w="12700">
            <a:solidFill>
              <a:srgbClr val="334155"/>
            </a:solidFill>
            <a:prstDash val="solid"/>
          </a:ln>
        </p:spPr>
      </p:sp>
      <p:sp>
        <p:nvSpPr>
          <p:cNvPr id="13" name="Shape 11"/>
          <p:cNvSpPr/>
          <p:nvPr/>
        </p:nvSpPr>
        <p:spPr>
          <a:xfrm>
            <a:off x="2240280" y="475488"/>
            <a:ext cx="54864" cy="1554480"/>
          </a:xfrm>
          <a:prstGeom prst="rect">
            <a:avLst/>
          </a:prstGeom>
          <a:solidFill>
            <a:srgbClr val="475569"/>
          </a:solidFill>
          <a:ln w="12700">
            <a:solidFill>
              <a:srgbClr val="475569"/>
            </a:solidFill>
            <a:prstDash val="solid"/>
          </a:ln>
        </p:spPr>
      </p:sp>
      <p:sp>
        <p:nvSpPr>
          <p:cNvPr id="14" name="Text 12"/>
          <p:cNvSpPr/>
          <p:nvPr/>
        </p:nvSpPr>
        <p:spPr>
          <a:xfrm>
            <a:off x="2423160" y="548640"/>
            <a:ext cx="6583680" cy="201168"/>
          </a:xfrm>
          <a:prstGeom prst="rect">
            <a:avLst/>
          </a:prstGeom>
          <a:noFill/>
          <a:ln/>
        </p:spPr>
        <p:txBody>
          <a:bodyPr wrap="square" lIns="0" tIns="0" rIns="0" bIns="0" rtlCol="0" anchor="ctr"/>
          <a:lstStyle/>
          <a:p>
            <a:pPr indent="0" marL="0">
              <a:buNone/>
            </a:pPr>
            <a:r>
              <a:rPr lang="en-US" sz="800" b="1" spc="200" kern="0" dirty="0">
                <a:solidFill>
                  <a:srgbClr val="64748B"/>
                </a:solidFill>
                <a:latin typeface="Calibri" pitchFamily="34" charset="0"/>
                <a:ea typeface="Calibri" pitchFamily="34" charset="-122"/>
                <a:cs typeface="Calibri" pitchFamily="34" charset="-120"/>
              </a:rPr>
              <a:t>POINT OF REMEMBRANCE</a:t>
            </a:r>
            <a:endParaRPr lang="en-US" sz="800" dirty="0"/>
          </a:p>
        </p:txBody>
      </p:sp>
      <p:sp>
        <p:nvSpPr>
          <p:cNvPr id="15" name="Text 13"/>
          <p:cNvSpPr/>
          <p:nvPr/>
        </p:nvSpPr>
        <p:spPr>
          <a:xfrm>
            <a:off x="2423160" y="786384"/>
            <a:ext cx="6492240" cy="1170432"/>
          </a:xfrm>
          <a:prstGeom prst="rect">
            <a:avLst/>
          </a:prstGeom>
          <a:noFill/>
          <a:ln/>
        </p:spPr>
        <p:txBody>
          <a:bodyPr wrap="square" lIns="0" tIns="0" rIns="0" bIns="0" rtlCol="0" anchor="t"/>
          <a:lstStyle/>
          <a:p>
            <a:pPr indent="0" marL="0">
              <a:buNone/>
            </a:pPr>
            <a:r>
              <a:rPr lang="en-US" sz="1300" i="1" dirty="0">
                <a:solidFill>
                  <a:srgbClr val="94A3B8"/>
                </a:solidFill>
                <a:latin typeface="Calibri" pitchFamily="34" charset="0"/>
                <a:ea typeface="Calibri" pitchFamily="34" charset="-122"/>
                <a:cs typeface="Calibri" pitchFamily="34" charset="-120"/>
              </a:rPr>
              <a:t>Q10 is identical to Q9 — which is identical to Q2.</a:t>
            </a:r>
            <a:endParaRPr lang="en-US" sz="1300" dirty="0"/>
          </a:p>
          <a:p>
            <a:pPr indent="0" marL="0">
              <a:buNone/>
            </a:pPr>
            <a:r>
              <a:rPr lang="en-US" sz="1300" i="1" dirty="0">
                <a:solidFill>
                  <a:srgbClr val="94A3B8"/>
                </a:solidFill>
                <a:latin typeface="Calibri" pitchFamily="34" charset="0"/>
                <a:ea typeface="Calibri" pitchFamily="34" charset="-122"/>
                <a:cs typeface="Calibri" pitchFamily="34" charset="-120"/>
              </a:rPr>
              <a:t>All three ask whether A00031581 is driven by Infeed = Yes alone.</a:t>
            </a:r>
            <a:endParaRPr lang="en-US" sz="1300" dirty="0"/>
          </a:p>
          <a:p>
            <a:pPr indent="0" marL="0">
              <a:buNone/>
            </a:pPr>
            <a:r>
              <a:rPr lang="en-US" sz="1300" i="1" dirty="0">
                <a:solidFill>
                  <a:srgbClr val="94A3B8"/>
                </a:solidFill>
                <a:latin typeface="Calibri" pitchFamily="34" charset="0"/>
                <a:ea typeface="Calibri" pitchFamily="34" charset="-122"/>
                <a:cs typeface="Calibri" pitchFamily="34" charset="-120"/>
              </a:rPr>
              <a:t>This has already been answered and confirmed in Q2.</a:t>
            </a:r>
            <a:endParaRPr lang="en-US" sz="1300" dirty="0"/>
          </a:p>
        </p:txBody>
      </p:sp>
      <p:sp>
        <p:nvSpPr>
          <p:cNvPr id="16" name="Shape 14"/>
          <p:cNvSpPr/>
          <p:nvPr/>
        </p:nvSpPr>
        <p:spPr>
          <a:xfrm>
            <a:off x="2240280" y="2103120"/>
            <a:ext cx="6903720" cy="384048"/>
          </a:xfrm>
          <a:prstGeom prst="rect">
            <a:avLst/>
          </a:prstGeom>
          <a:solidFill>
            <a:srgbClr val="1E3A5F"/>
          </a:solidFill>
          <a:ln w="12700">
            <a:solidFill>
              <a:srgbClr val="1E3A5F"/>
            </a:solidFill>
            <a:prstDash val="solid"/>
          </a:ln>
        </p:spPr>
      </p:sp>
      <p:sp>
        <p:nvSpPr>
          <p:cNvPr id="17" name="Text 15"/>
          <p:cNvSpPr/>
          <p:nvPr/>
        </p:nvSpPr>
        <p:spPr>
          <a:xfrm>
            <a:off x="2377440" y="2103120"/>
            <a:ext cx="6675120" cy="384048"/>
          </a:xfrm>
          <a:prstGeom prst="rect">
            <a:avLst/>
          </a:prstGeom>
          <a:noFill/>
          <a:ln/>
        </p:spPr>
        <p:txBody>
          <a:bodyPr wrap="square" lIns="0" tIns="0" rIns="0" bIns="0" rtlCol="0" anchor="ctr"/>
          <a:lstStyle/>
          <a:p>
            <a:pPr indent="0" marL="0">
              <a:buNone/>
            </a:pPr>
            <a:r>
              <a:rPr lang="en-US" sz="1000" b="1" spc="100" kern="0" dirty="0">
                <a:solidFill>
                  <a:srgbClr val="94A3B8"/>
                </a:solidFill>
                <a:latin typeface="Calibri" pitchFamily="34" charset="0"/>
                <a:ea typeface="Calibri" pitchFamily="34" charset="-122"/>
                <a:cs typeface="Calibri" pitchFamily="34" charset="-120"/>
              </a:rPr>
              <a:t>DUPLICATE MAP</a:t>
            </a:r>
            <a:endParaRPr lang="en-US" sz="1000" dirty="0"/>
          </a:p>
        </p:txBody>
      </p:sp>
      <p:sp>
        <p:nvSpPr>
          <p:cNvPr id="18" name="Shape 16"/>
          <p:cNvSpPr/>
          <p:nvPr/>
        </p:nvSpPr>
        <p:spPr>
          <a:xfrm>
            <a:off x="2240280" y="2578608"/>
            <a:ext cx="2249424" cy="1005840"/>
          </a:xfrm>
          <a:prstGeom prst="rect">
            <a:avLst/>
          </a:prstGeom>
          <a:solidFill>
            <a:srgbClr val="0D3D36"/>
          </a:solidFill>
          <a:ln w="25400">
            <a:solidFill>
              <a:srgbClr val="0D7A6B"/>
            </a:solidFill>
            <a:prstDash val="solid"/>
          </a:ln>
        </p:spPr>
      </p:sp>
      <p:sp>
        <p:nvSpPr>
          <p:cNvPr id="19" name="Text 17"/>
          <p:cNvSpPr/>
          <p:nvPr/>
        </p:nvSpPr>
        <p:spPr>
          <a:xfrm>
            <a:off x="2350008" y="2633472"/>
            <a:ext cx="2029968" cy="365760"/>
          </a:xfrm>
          <a:prstGeom prst="rect">
            <a:avLst/>
          </a:prstGeom>
          <a:noFill/>
          <a:ln/>
        </p:spPr>
        <p:txBody>
          <a:bodyPr wrap="square" lIns="0" tIns="0" rIns="0" bIns="0" rtlCol="0" anchor="ctr"/>
          <a:lstStyle/>
          <a:p>
            <a:pPr indent="0" marL="0">
              <a:buNone/>
            </a:pPr>
            <a:r>
              <a:rPr lang="en-US" sz="2400" b="1" dirty="0">
                <a:solidFill>
                  <a:srgbClr val="0D7A6B"/>
                </a:solidFill>
                <a:latin typeface="Consolas" pitchFamily="34" charset="0"/>
                <a:ea typeface="Consolas" pitchFamily="34" charset="-122"/>
                <a:cs typeface="Consolas" pitchFamily="34" charset="-120"/>
              </a:rPr>
              <a:t>Q2</a:t>
            </a:r>
            <a:endParaRPr lang="en-US" sz="2400" dirty="0"/>
          </a:p>
        </p:txBody>
      </p:sp>
      <p:sp>
        <p:nvSpPr>
          <p:cNvPr id="20" name="Text 18"/>
          <p:cNvSpPr/>
          <p:nvPr/>
        </p:nvSpPr>
        <p:spPr>
          <a:xfrm>
            <a:off x="2350008" y="3017520"/>
            <a:ext cx="2029968" cy="502920"/>
          </a:xfrm>
          <a:prstGeom prst="rect">
            <a:avLst/>
          </a:prstGeom>
          <a:noFill/>
          <a:ln/>
        </p:spPr>
        <p:txBody>
          <a:bodyPr wrap="square" lIns="0" tIns="0" rIns="0" bIns="0" rtlCol="0" anchor="t"/>
          <a:lstStyle/>
          <a:p>
            <a:pPr indent="0" marL="0">
              <a:buNone/>
            </a:pPr>
            <a:r>
              <a:rPr lang="en-US" sz="1000" dirty="0">
                <a:solidFill>
                  <a:srgbClr val="5EEAD4"/>
                </a:solidFill>
                <a:latin typeface="Calibri" pitchFamily="34" charset="0"/>
                <a:ea typeface="Calibri" pitchFamily="34" charset="-122"/>
                <a:cs typeface="Calibri" pitchFamily="34" charset="-120"/>
              </a:rPr>
              <a:t>Original question</a:t>
            </a:r>
            <a:endParaRPr lang="en-US" sz="1000" dirty="0"/>
          </a:p>
          <a:p>
            <a:pPr indent="0" marL="0">
              <a:buNone/>
            </a:pPr>
            <a:r>
              <a:rPr lang="en-US" sz="1000" dirty="0">
                <a:solidFill>
                  <a:srgbClr val="5EEAD4"/>
                </a:solidFill>
                <a:latin typeface="Calibri" pitchFamily="34" charset="0"/>
                <a:ea typeface="Calibri" pitchFamily="34" charset="-122"/>
                <a:cs typeface="Calibri" pitchFamily="34" charset="-120"/>
              </a:rPr>
              <a:t>about A00031581</a:t>
            </a:r>
            <a:endParaRPr lang="en-US" sz="1000" dirty="0"/>
          </a:p>
        </p:txBody>
      </p:sp>
      <p:sp>
        <p:nvSpPr>
          <p:cNvPr id="21" name="Shape 19"/>
          <p:cNvSpPr/>
          <p:nvPr/>
        </p:nvSpPr>
        <p:spPr>
          <a:xfrm>
            <a:off x="4581144" y="2578608"/>
            <a:ext cx="2249424" cy="1005840"/>
          </a:xfrm>
          <a:prstGeom prst="rect">
            <a:avLst/>
          </a:prstGeom>
          <a:solidFill>
            <a:srgbClr val="1E293B"/>
          </a:solidFill>
          <a:ln w="12700">
            <a:solidFill>
              <a:srgbClr val="475569"/>
            </a:solidFill>
            <a:prstDash val="solid"/>
          </a:ln>
        </p:spPr>
      </p:sp>
      <p:sp>
        <p:nvSpPr>
          <p:cNvPr id="22" name="Text 20"/>
          <p:cNvSpPr/>
          <p:nvPr/>
        </p:nvSpPr>
        <p:spPr>
          <a:xfrm>
            <a:off x="4690872" y="2633472"/>
            <a:ext cx="2029968" cy="365760"/>
          </a:xfrm>
          <a:prstGeom prst="rect">
            <a:avLst/>
          </a:prstGeom>
          <a:noFill/>
          <a:ln/>
        </p:spPr>
        <p:txBody>
          <a:bodyPr wrap="square" lIns="0" tIns="0" rIns="0" bIns="0" rtlCol="0" anchor="ctr"/>
          <a:lstStyle/>
          <a:p>
            <a:pPr indent="0" marL="0">
              <a:buNone/>
            </a:pPr>
            <a:r>
              <a:rPr lang="en-US" sz="2400" b="1" dirty="0">
                <a:solidFill>
                  <a:srgbClr val="475569"/>
                </a:solidFill>
                <a:latin typeface="Consolas" pitchFamily="34" charset="0"/>
                <a:ea typeface="Consolas" pitchFamily="34" charset="-122"/>
                <a:cs typeface="Consolas" pitchFamily="34" charset="-120"/>
              </a:rPr>
              <a:t>Q9</a:t>
            </a:r>
            <a:endParaRPr lang="en-US" sz="2400" dirty="0"/>
          </a:p>
        </p:txBody>
      </p:sp>
      <p:sp>
        <p:nvSpPr>
          <p:cNvPr id="23" name="Text 21"/>
          <p:cNvSpPr/>
          <p:nvPr/>
        </p:nvSpPr>
        <p:spPr>
          <a:xfrm>
            <a:off x="4690872" y="3017520"/>
            <a:ext cx="2029968" cy="5029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Same question with</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10FT BOM evidence</a:t>
            </a:r>
            <a:endParaRPr lang="en-US" sz="1000" dirty="0"/>
          </a:p>
        </p:txBody>
      </p:sp>
      <p:sp>
        <p:nvSpPr>
          <p:cNvPr id="24" name="Shape 22"/>
          <p:cNvSpPr/>
          <p:nvPr/>
        </p:nvSpPr>
        <p:spPr>
          <a:xfrm>
            <a:off x="6922008" y="2578608"/>
            <a:ext cx="2249424" cy="1005840"/>
          </a:xfrm>
          <a:prstGeom prst="rect">
            <a:avLst/>
          </a:prstGeom>
          <a:solidFill>
            <a:srgbClr val="1E293B"/>
          </a:solidFill>
          <a:ln w="12700">
            <a:solidFill>
              <a:srgbClr val="475569"/>
            </a:solidFill>
            <a:prstDash val="solid"/>
          </a:ln>
        </p:spPr>
      </p:sp>
      <p:sp>
        <p:nvSpPr>
          <p:cNvPr id="25" name="Text 23"/>
          <p:cNvSpPr/>
          <p:nvPr/>
        </p:nvSpPr>
        <p:spPr>
          <a:xfrm>
            <a:off x="7031736" y="2633472"/>
            <a:ext cx="2029968" cy="365760"/>
          </a:xfrm>
          <a:prstGeom prst="rect">
            <a:avLst/>
          </a:prstGeom>
          <a:noFill/>
          <a:ln/>
        </p:spPr>
        <p:txBody>
          <a:bodyPr wrap="square" lIns="0" tIns="0" rIns="0" bIns="0" rtlCol="0" anchor="ctr"/>
          <a:lstStyle/>
          <a:p>
            <a:pPr indent="0" marL="0">
              <a:buNone/>
            </a:pPr>
            <a:r>
              <a:rPr lang="en-US" sz="2400" b="1" dirty="0">
                <a:solidFill>
                  <a:srgbClr val="475569"/>
                </a:solidFill>
                <a:latin typeface="Consolas" pitchFamily="34" charset="0"/>
                <a:ea typeface="Consolas" pitchFamily="34" charset="-122"/>
                <a:cs typeface="Consolas" pitchFamily="34" charset="-120"/>
              </a:rPr>
              <a:t>Q10</a:t>
            </a:r>
            <a:endParaRPr lang="en-US" sz="2400" dirty="0"/>
          </a:p>
        </p:txBody>
      </p:sp>
      <p:sp>
        <p:nvSpPr>
          <p:cNvPr id="26" name="Text 24"/>
          <p:cNvSpPr/>
          <p:nvPr/>
        </p:nvSpPr>
        <p:spPr>
          <a:xfrm>
            <a:off x="7031736" y="3017520"/>
            <a:ext cx="2029968" cy="50292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Identical to Q9</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and Q2</a:t>
            </a:r>
            <a:endParaRPr lang="en-US" sz="1000" dirty="0"/>
          </a:p>
        </p:txBody>
      </p:sp>
      <p:sp>
        <p:nvSpPr>
          <p:cNvPr id="27" name="Text 25"/>
          <p:cNvSpPr/>
          <p:nvPr/>
        </p:nvSpPr>
        <p:spPr>
          <a:xfrm>
            <a:off x="3639312" y="2788920"/>
            <a:ext cx="438912" cy="457200"/>
          </a:xfrm>
          <a:prstGeom prst="rect">
            <a:avLst/>
          </a:prstGeom>
          <a:noFill/>
          <a:ln/>
        </p:spPr>
        <p:txBody>
          <a:bodyPr wrap="square" lIns="0" tIns="0" rIns="0" bIns="0" rtlCol="0" anchor="ctr"/>
          <a:lstStyle/>
          <a:p>
            <a:pPr algn="ctr" indent="0" marL="0">
              <a:buNone/>
            </a:pPr>
            <a:r>
              <a:rPr lang="en-US" sz="2800" b="1" dirty="0">
                <a:solidFill>
                  <a:srgbClr val="334155"/>
                </a:solidFill>
                <a:latin typeface="Calibri" pitchFamily="34" charset="0"/>
                <a:ea typeface="Calibri" pitchFamily="34" charset="-122"/>
                <a:cs typeface="Calibri" pitchFamily="34" charset="-120"/>
              </a:rPr>
              <a:t>=</a:t>
            </a:r>
            <a:endParaRPr lang="en-US" sz="2800" dirty="0"/>
          </a:p>
        </p:txBody>
      </p:sp>
      <p:sp>
        <p:nvSpPr>
          <p:cNvPr id="28" name="Text 26"/>
          <p:cNvSpPr/>
          <p:nvPr/>
        </p:nvSpPr>
        <p:spPr>
          <a:xfrm>
            <a:off x="5980176" y="2788920"/>
            <a:ext cx="438912" cy="457200"/>
          </a:xfrm>
          <a:prstGeom prst="rect">
            <a:avLst/>
          </a:prstGeom>
          <a:noFill/>
          <a:ln/>
        </p:spPr>
        <p:txBody>
          <a:bodyPr wrap="square" lIns="0" tIns="0" rIns="0" bIns="0" rtlCol="0" anchor="ctr"/>
          <a:lstStyle/>
          <a:p>
            <a:pPr algn="ctr" indent="0" marL="0">
              <a:buNone/>
            </a:pPr>
            <a:r>
              <a:rPr lang="en-US" sz="2800" b="1" dirty="0">
                <a:solidFill>
                  <a:srgbClr val="334155"/>
                </a:solidFill>
                <a:latin typeface="Calibri" pitchFamily="34" charset="0"/>
                <a:ea typeface="Calibri" pitchFamily="34" charset="-122"/>
                <a:cs typeface="Calibri" pitchFamily="34" charset="-120"/>
              </a:rPr>
              <a:t>=</a:t>
            </a:r>
            <a:endParaRPr lang="en-US" sz="2800" dirty="0"/>
          </a:p>
        </p:txBody>
      </p:sp>
      <p:sp>
        <p:nvSpPr>
          <p:cNvPr id="29" name="Shape 27"/>
          <p:cNvSpPr/>
          <p:nvPr/>
        </p:nvSpPr>
        <p:spPr>
          <a:xfrm>
            <a:off x="2240280" y="3730752"/>
            <a:ext cx="6903720" cy="384048"/>
          </a:xfrm>
          <a:prstGeom prst="rect">
            <a:avLst/>
          </a:prstGeom>
          <a:solidFill>
            <a:srgbClr val="0D7A6B"/>
          </a:solidFill>
          <a:ln w="12700">
            <a:solidFill>
              <a:srgbClr val="0D7A6B"/>
            </a:solidFill>
            <a:prstDash val="solid"/>
          </a:ln>
        </p:spPr>
      </p:sp>
      <p:sp>
        <p:nvSpPr>
          <p:cNvPr id="30" name="Text 28"/>
          <p:cNvSpPr/>
          <p:nvPr/>
        </p:nvSpPr>
        <p:spPr>
          <a:xfrm>
            <a:off x="2377440" y="3730752"/>
            <a:ext cx="6675120" cy="384048"/>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WHAT TO SAY</a:t>
            </a:r>
            <a:endParaRPr lang="en-US" sz="1000" dirty="0"/>
          </a:p>
        </p:txBody>
      </p:sp>
      <p:sp>
        <p:nvSpPr>
          <p:cNvPr id="31" name="Shape 29"/>
          <p:cNvSpPr/>
          <p:nvPr/>
        </p:nvSpPr>
        <p:spPr>
          <a:xfrm>
            <a:off x="2240280" y="4114800"/>
            <a:ext cx="6903720" cy="640080"/>
          </a:xfrm>
          <a:prstGeom prst="rect">
            <a:avLst/>
          </a:prstGeom>
          <a:solidFill>
            <a:srgbClr val="0F2744"/>
          </a:solidFill>
          <a:ln w="12700">
            <a:solidFill>
              <a:srgbClr val="0D7A6B"/>
            </a:solidFill>
            <a:prstDash val="solid"/>
          </a:ln>
        </p:spPr>
      </p:sp>
      <p:sp>
        <p:nvSpPr>
          <p:cNvPr id="32" name="Text 30"/>
          <p:cNvSpPr/>
          <p:nvPr/>
        </p:nvSpPr>
        <p:spPr>
          <a:xfrm>
            <a:off x="2423160" y="4169664"/>
            <a:ext cx="6583680" cy="530352"/>
          </a:xfrm>
          <a:prstGeom prst="rect">
            <a:avLst/>
          </a:prstGeom>
          <a:noFill/>
          <a:ln/>
        </p:spPr>
        <p:txBody>
          <a:bodyPr wrap="square" lIns="0" tIns="0" rIns="0" bIns="0" rtlCol="0" anchor="ctr"/>
          <a:lstStyle/>
          <a:p>
            <a:pPr indent="0" marL="0">
              <a:buNone/>
            </a:pPr>
            <a:r>
              <a:rPr lang="en-US" sz="1300" b="1" i="1" dirty="0">
                <a:solidFill>
                  <a:srgbClr val="FFFFFF"/>
                </a:solidFill>
                <a:latin typeface="Calibri" pitchFamily="34" charset="0"/>
                <a:ea typeface="Calibri" pitchFamily="34" charset="-122"/>
                <a:cs typeface="Calibri" pitchFamily="34" charset="-120"/>
              </a:rPr>
              <a:t>"Q10 is the same as Q2 and Q9 — all confirmed. Infeed = Yes. Moving to Q11."</a:t>
            </a:r>
            <a:endParaRPr lang="en-US" sz="1300" dirty="0"/>
          </a:p>
        </p:txBody>
      </p:sp>
      <p:sp>
        <p:nvSpPr>
          <p:cNvPr id="33" name="Shape 31"/>
          <p:cNvSpPr/>
          <p:nvPr/>
        </p:nvSpPr>
        <p:spPr>
          <a:xfrm>
            <a:off x="0" y="4974336"/>
            <a:ext cx="9144000" cy="169164"/>
          </a:xfrm>
          <a:prstGeom prst="rect">
            <a:avLst/>
          </a:prstGeom>
          <a:solidFill>
            <a:srgbClr val="0D7A6B"/>
          </a:solidFill>
          <a:ln w="12700">
            <a:solidFill>
              <a:srgbClr val="0D7A6B"/>
            </a:solidFill>
            <a:prstDash val="solid"/>
          </a:ln>
        </p:spPr>
      </p:sp>
      <p:sp>
        <p:nvSpPr>
          <p:cNvPr id="34" name="Text 32"/>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1B2A4A"/>
          </a:solidFill>
          <a:ln w="12700">
            <a:solidFill>
              <a:srgbClr val="1B2A4A"/>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800" b="1" dirty="0">
                <a:solidFill>
                  <a:srgbClr val="FFFFFF"/>
                </a:solidFill>
                <a:latin typeface="Consolas" pitchFamily="34" charset="0"/>
                <a:ea typeface="Consolas" pitchFamily="34" charset="-122"/>
                <a:cs typeface="Consolas" pitchFamily="34" charset="-120"/>
              </a:rPr>
              <a:t>Q11</a:t>
            </a:r>
            <a:endParaRPr lang="en-US" sz="68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FEE2E2"/>
          </a:solidFill>
          <a:ln w="12700">
            <a:solidFill>
              <a:srgbClr val="991B1B"/>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991B1B"/>
                </a:solidFill>
                <a:latin typeface="Calibri" pitchFamily="34" charset="0"/>
                <a:ea typeface="Calibri" pitchFamily="34" charset="-122"/>
                <a:cs typeface="Calibri" pitchFamily="34" charset="-120"/>
              </a:rPr>
              <a:t>HIGH</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64748B"/>
                </a:solidFill>
                <a:latin typeface="Calibri" pitchFamily="34" charset="0"/>
                <a:ea typeface="Calibri" pitchFamily="34" charset="-122"/>
                <a:cs typeface="Calibri" pitchFamily="34" charset="-120"/>
              </a:rPr>
              <a:t>OUTFEED</a:t>
            </a:r>
            <a:endParaRPr lang="en-US" sz="800" dirty="0"/>
          </a:p>
        </p:txBody>
      </p:sp>
      <p:sp>
        <p:nvSpPr>
          <p:cNvPr id="8" name="Shape 6"/>
          <p:cNvSpPr/>
          <p:nvPr/>
        </p:nvSpPr>
        <p:spPr>
          <a:xfrm>
            <a:off x="256032" y="2267712"/>
            <a:ext cx="1591056" cy="347472"/>
          </a:xfrm>
          <a:prstGeom prst="rect">
            <a:avLst/>
          </a:prstGeom>
          <a:solidFill>
            <a:srgbClr val="0F3460"/>
          </a:solidFill>
          <a:ln w="12700">
            <a:solidFill>
              <a:srgbClr val="0F3460"/>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8 min</a:t>
            </a:r>
            <a:endParaRPr lang="en-US" sz="1300" dirty="0"/>
          </a:p>
        </p:txBody>
      </p:sp>
      <p:sp>
        <p:nvSpPr>
          <p:cNvPr id="10" name="Shape 8"/>
          <p:cNvSpPr/>
          <p:nvPr/>
        </p:nvSpPr>
        <p:spPr>
          <a:xfrm>
            <a:off x="164592" y="2788920"/>
            <a:ext cx="1773936" cy="1417320"/>
          </a:xfrm>
          <a:prstGeom prst="rect">
            <a:avLst/>
          </a:prstGeom>
          <a:solidFill>
            <a:srgbClr val="1E3A5F"/>
          </a:solidFill>
          <a:ln w="12700">
            <a:solidFill>
              <a:srgbClr val="1E3A5F"/>
            </a:solidFill>
            <a:prstDash val="solid"/>
          </a:ln>
        </p:spPr>
      </p:sp>
      <p:sp>
        <p:nvSpPr>
          <p:cNvPr id="11" name="Text 9"/>
          <p:cNvSpPr/>
          <p:nvPr/>
        </p:nvSpPr>
        <p:spPr>
          <a:xfrm>
            <a:off x="164592" y="2834640"/>
            <a:ext cx="1773936" cy="201168"/>
          </a:xfrm>
          <a:prstGeom prst="rect">
            <a:avLst/>
          </a:prstGeom>
          <a:noFill/>
          <a:ln/>
        </p:spPr>
        <p:txBody>
          <a:bodyPr wrap="square" lIns="0" tIns="0" rIns="0" bIns="0" rtlCol="0" anchor="ctr"/>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IF STUCK</a:t>
            </a:r>
            <a:endParaRPr lang="en-US" sz="700" dirty="0"/>
          </a:p>
        </p:txBody>
      </p:sp>
      <p:sp>
        <p:nvSpPr>
          <p:cNvPr id="12" name="Text 10"/>
          <p:cNvSpPr/>
          <p:nvPr/>
        </p:nvSpPr>
        <p:spPr>
          <a:xfrm>
            <a:off x="228600" y="3054096"/>
            <a:ext cx="1645920" cy="1097280"/>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Ask it in two steps:</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1. "Does a 32Ft SWM machine use the same panel as a 32Ft Intralox machine?"</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2. "Does a 6Ft Intralox use the same panel as a 32Ft Intralox?"</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The two answers together tell you exactly which feature drives the formula.</a:t>
            </a:r>
            <a:endParaRPr lang="en-US" sz="900" dirty="0"/>
          </a:p>
        </p:txBody>
      </p:sp>
      <p:sp>
        <p:nvSpPr>
          <p:cNvPr id="13" name="Shape 11"/>
          <p:cNvSpPr/>
          <p:nvPr/>
        </p:nvSpPr>
        <p:spPr>
          <a:xfrm>
            <a:off x="164592" y="4315968"/>
            <a:ext cx="1773936" cy="658368"/>
          </a:xfrm>
          <a:prstGeom prst="rect">
            <a:avLst/>
          </a:prstGeom>
          <a:solidFill>
            <a:srgbClr val="0D7A6B"/>
          </a:solidFill>
          <a:ln w="12700">
            <a:solidFill>
              <a:srgbClr val="0D7A6B"/>
            </a:solidFill>
            <a:prstDash val="solid"/>
          </a:ln>
        </p:spPr>
      </p:sp>
      <p:sp>
        <p:nvSpPr>
          <p:cNvPr id="14" name="Text 12"/>
          <p:cNvSpPr/>
          <p:nvPr/>
        </p:nvSpPr>
        <p:spPr>
          <a:xfrm>
            <a:off x="164592" y="4343400"/>
            <a:ext cx="1773936" cy="201168"/>
          </a:xfrm>
          <a:prstGeom prst="rect">
            <a:avLst/>
          </a:prstGeom>
          <a:noFill/>
          <a:ln/>
        </p:spPr>
        <p:txBody>
          <a:bodyPr wrap="square" lIns="0" tIns="0" rIns="0" bIns="0" rtlCol="0" anchor="ctr"/>
          <a:lstStyle/>
          <a:p>
            <a:pPr algn="ctr" indent="0" marL="0">
              <a:buNone/>
            </a:pPr>
            <a:r>
              <a:rPr lang="en-US" sz="700" spc="200" kern="0" dirty="0">
                <a:solidFill>
                  <a:srgbClr val="A7F3D0"/>
                </a:solidFill>
                <a:latin typeface="Calibri" pitchFamily="34" charset="0"/>
                <a:ea typeface="Calibri" pitchFamily="34" charset="-122"/>
                <a:cs typeface="Calibri" pitchFamily="34" charset="-120"/>
              </a:rPr>
              <a:t>TC ACTION</a:t>
            </a:r>
            <a:endParaRPr lang="en-US" sz="700" dirty="0"/>
          </a:p>
        </p:txBody>
      </p:sp>
      <p:sp>
        <p:nvSpPr>
          <p:cNvPr id="15" name="Text 13"/>
          <p:cNvSpPr/>
          <p:nvPr/>
        </p:nvSpPr>
        <p:spPr>
          <a:xfrm>
            <a:off x="201168" y="4553712"/>
            <a:ext cx="1719072" cy="384048"/>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YES: 3 separate formulas: L=6Ft, L=32Ft, L=10Ft — affects Rules 20 and 21</a:t>
            </a:r>
            <a:endParaRPr lang="en-US" sz="900" dirty="0"/>
          </a:p>
          <a:p>
            <a:pPr indent="0" marL="0">
              <a:buNone/>
            </a:pP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NO: All 3 panels get Outfeed Type = Intralox — SWM gets own Part IDs</a:t>
            </a:r>
            <a:endParaRPr lang="en-US" sz="900" dirty="0"/>
          </a:p>
        </p:txBody>
      </p:sp>
      <p:sp>
        <p:nvSpPr>
          <p:cNvPr id="16" name="Shape 14"/>
          <p:cNvSpPr/>
          <p:nvPr/>
        </p:nvSpPr>
        <p:spPr>
          <a:xfrm>
            <a:off x="2240280" y="0"/>
            <a:ext cx="6720840" cy="384048"/>
          </a:xfrm>
          <a:prstGeom prst="rect">
            <a:avLst/>
          </a:prstGeom>
          <a:solidFill>
            <a:srgbClr val="0D7A6B"/>
          </a:solidFill>
          <a:ln w="12700">
            <a:solidFill>
              <a:srgbClr val="0D7A6B"/>
            </a:solidFill>
            <a:prstDash val="solid"/>
          </a:ln>
        </p:spPr>
      </p:sp>
      <p:sp>
        <p:nvSpPr>
          <p:cNvPr id="17" name="Text 15"/>
          <p:cNvSpPr/>
          <p:nvPr/>
        </p:nvSpPr>
        <p:spPr>
          <a:xfrm>
            <a:off x="2377440" y="0"/>
            <a:ext cx="64465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Outfeed Panel — What drives 3 different Part IDs across 3 BOMs?</a:t>
            </a:r>
            <a:endParaRPr lang="en-US" sz="1400" dirty="0"/>
          </a:p>
        </p:txBody>
      </p:sp>
      <p:sp>
        <p:nvSpPr>
          <p:cNvPr id="18" name="Shape 16"/>
          <p:cNvSpPr/>
          <p:nvPr/>
        </p:nvSpPr>
        <p:spPr>
          <a:xfrm>
            <a:off x="2240280" y="438912"/>
            <a:ext cx="6720840" cy="822960"/>
          </a:xfrm>
          <a:prstGeom prst="rect">
            <a:avLst/>
          </a:prstGeom>
          <a:solidFill>
            <a:srgbClr val="FFFFFF"/>
          </a:solidFill>
          <a:ln w="12700">
            <a:solidFill>
              <a:srgbClr val="CBD5E1"/>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2240280" y="438912"/>
            <a:ext cx="54864" cy="822960"/>
          </a:xfrm>
          <a:prstGeom prst="rect">
            <a:avLst/>
          </a:prstGeom>
          <a:solidFill>
            <a:srgbClr val="1B2A4A"/>
          </a:solidFill>
          <a:ln w="12700">
            <a:solidFill>
              <a:srgbClr val="1B2A4A"/>
            </a:solidFill>
            <a:prstDash val="solid"/>
          </a:ln>
        </p:spPr>
      </p:sp>
      <p:sp>
        <p:nvSpPr>
          <p:cNvPr id="20" name="Text 18"/>
          <p:cNvSpPr/>
          <p:nvPr/>
        </p:nvSpPr>
        <p:spPr>
          <a:xfrm>
            <a:off x="2377440" y="493776"/>
            <a:ext cx="1097280" cy="182880"/>
          </a:xfrm>
          <a:prstGeom prst="rect">
            <a:avLst/>
          </a:prstGeom>
          <a:noFill/>
          <a:ln/>
        </p:spPr>
        <p:txBody>
          <a:bodyPr wrap="square" lIns="0" tIns="0" rIns="0" bIns="0" rtlCol="0" anchor="ctr"/>
          <a:lstStyle/>
          <a:p>
            <a:pPr indent="0" marL="0">
              <a:buNone/>
            </a:pPr>
            <a:r>
              <a:rPr lang="en-US" sz="700" b="1" spc="200" kern="0" dirty="0">
                <a:solidFill>
                  <a:srgbClr val="1B2A4A"/>
                </a:solidFill>
                <a:latin typeface="Calibri" pitchFamily="34" charset="0"/>
                <a:ea typeface="Calibri" pitchFamily="34" charset="-122"/>
                <a:cs typeface="Calibri" pitchFamily="34" charset="-120"/>
              </a:rPr>
              <a:t>SAY TO OPEN</a:t>
            </a:r>
            <a:endParaRPr lang="en-US" sz="700" dirty="0"/>
          </a:p>
        </p:txBody>
      </p:sp>
      <p:sp>
        <p:nvSpPr>
          <p:cNvPr id="21" name="Text 19"/>
          <p:cNvSpPr/>
          <p:nvPr/>
        </p:nvSpPr>
        <p:spPr>
          <a:xfrm>
            <a:off x="2377440" y="694944"/>
            <a:ext cx="6492240" cy="521208"/>
          </a:xfrm>
          <a:prstGeom prst="rect">
            <a:avLst/>
          </a:prstGeom>
          <a:noFill/>
          <a:ln/>
        </p:spPr>
        <p:txBody>
          <a:bodyPr wrap="square" lIns="0" tIns="0" rIns="0" bIns="0" rtlCol="0" anchor="t"/>
          <a:lstStyle/>
          <a:p>
            <a:pPr indent="0" marL="0">
              <a:buNone/>
            </a:pPr>
            <a:r>
              <a:rPr lang="en-US" sz="1200" i="1" dirty="0">
                <a:solidFill>
                  <a:srgbClr val="1B2A4A"/>
                </a:solidFill>
                <a:latin typeface="Calibri" pitchFamily="34" charset="0"/>
                <a:ea typeface="Calibri" pitchFamily="34" charset="-122"/>
                <a:cs typeface="Calibri" pitchFamily="34" charset="-120"/>
              </a:rPr>
              <a:t>Every BOM has a different outfeed panel Part ID — yet all three are named identically: ASSY_OUTFEED_PANEL. We cannot tell from the names alone what drives the difference. And if an SWM BOM is added later, the formula could change completely depending on the answer.</a:t>
            </a:r>
            <a:endParaRPr lang="en-US" sz="1200" dirty="0"/>
          </a:p>
        </p:txBody>
      </p:sp>
      <p:sp>
        <p:nvSpPr>
          <p:cNvPr id="22" name="Shape 20"/>
          <p:cNvSpPr/>
          <p:nvPr/>
        </p:nvSpPr>
        <p:spPr>
          <a:xfrm>
            <a:off x="2240280" y="1298448"/>
            <a:ext cx="6720840" cy="530352"/>
          </a:xfrm>
          <a:prstGeom prst="rect">
            <a:avLst/>
          </a:prstGeom>
          <a:solidFill>
            <a:srgbClr val="EFF6FF"/>
          </a:solidFill>
          <a:ln w="12700">
            <a:solidFill>
              <a:srgbClr val="BFDBFE"/>
            </a:solidFill>
            <a:prstDash val="solid"/>
          </a:ln>
        </p:spPr>
      </p:sp>
      <p:sp>
        <p:nvSpPr>
          <p:cNvPr id="23" name="Text 21"/>
          <p:cNvSpPr/>
          <p:nvPr/>
        </p:nvSpPr>
        <p:spPr>
          <a:xfrm>
            <a:off x="2377440" y="1362456"/>
            <a:ext cx="1828800" cy="182880"/>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SHOW ON BOM VIEWER</a:t>
            </a:r>
            <a:endParaRPr lang="en-US" sz="700" dirty="0"/>
          </a:p>
        </p:txBody>
      </p:sp>
      <p:sp>
        <p:nvSpPr>
          <p:cNvPr id="24" name="Text 22"/>
          <p:cNvSpPr/>
          <p:nvPr/>
        </p:nvSpPr>
        <p:spPr>
          <a:xfrm>
            <a:off x="2377440" y="1554480"/>
            <a:ext cx="6492240" cy="228600"/>
          </a:xfrm>
          <a:prstGeom prst="rect">
            <a:avLst/>
          </a:prstGeom>
          <a:noFill/>
          <a:ln/>
        </p:spPr>
        <p:txBody>
          <a:bodyPr wrap="square" lIns="0" tIns="0" rIns="0" bIns="0" rtlCol="0" anchor="t"/>
          <a:lstStyle/>
          <a:p>
            <a:pPr indent="0" marL="0">
              <a:buNone/>
            </a:pPr>
            <a:r>
              <a:rPr lang="en-US" sz="1100" dirty="0">
                <a:solidFill>
                  <a:srgbClr val="1E40AF"/>
                </a:solidFill>
                <a:latin typeface="Consolas" pitchFamily="34" charset="0"/>
                <a:ea typeface="Consolas" pitchFamily="34" charset="-122"/>
                <a:cs typeface="Consolas" pitchFamily="34" charset="-120"/>
              </a:rPr>
              <a:t>Search ASSY_OUTFEED_PANEL in 150% BOM → show 3 different Part IDs each in a different source branch:</a:t>
            </a:r>
            <a:endParaRPr lang="en-US" sz="1100" dirty="0"/>
          </a:p>
          <a:p>
            <a:pPr indent="0" marL="0">
              <a:buNone/>
            </a:pPr>
            <a:r>
              <a:rPr lang="en-US" sz="1100" dirty="0">
                <a:solidFill>
                  <a:srgbClr val="1E40AF"/>
                </a:solidFill>
                <a:latin typeface="Consolas" pitchFamily="34" charset="0"/>
                <a:ea typeface="Consolas" pitchFamily="34" charset="-122"/>
                <a:cs typeface="Consolas" pitchFamily="34" charset="-120"/>
              </a:rPr>
              <a:t>A00036378 → 6FT EU  ·  A00034157 → 32FT LH  ·  A00025617 → 10FT LH</a:t>
            </a:r>
            <a:endParaRPr lang="en-US" sz="1100" dirty="0"/>
          </a:p>
          <a:p>
            <a:pPr indent="0" marL="0">
              <a:buNone/>
            </a:pPr>
            <a:r>
              <a:rPr lang="en-US" sz="1100" dirty="0">
                <a:solidFill>
                  <a:srgbClr val="1E40AF"/>
                </a:solidFill>
                <a:latin typeface="Consolas" pitchFamily="34" charset="0"/>
                <a:ea typeface="Consolas" pitchFamily="34" charset="-122"/>
                <a:cs typeface="Consolas" pitchFamily="34" charset="-120"/>
              </a:rPr>
              <a:t>All currently PENDING — no formula assigned</a:t>
            </a:r>
            <a:endParaRPr lang="en-US" sz="1100" dirty="0"/>
          </a:p>
        </p:txBody>
      </p:sp>
      <p:sp>
        <p:nvSpPr>
          <p:cNvPr id="25" name="Shape 23"/>
          <p:cNvSpPr/>
          <p:nvPr/>
        </p:nvSpPr>
        <p:spPr>
          <a:xfrm>
            <a:off x="2240280" y="1865376"/>
            <a:ext cx="6720840" cy="621792"/>
          </a:xfrm>
          <a:prstGeom prst="rect">
            <a:avLst/>
          </a:prstGeom>
          <a:solidFill>
            <a:srgbClr val="1B2A4A"/>
          </a:solidFill>
          <a:ln w="12700">
            <a:solidFill>
              <a:srgbClr val="1B2A4A"/>
            </a:solidFill>
            <a:prstDash val="solid"/>
          </a:ln>
        </p:spPr>
      </p:sp>
      <p:sp>
        <p:nvSpPr>
          <p:cNvPr id="26" name="Text 24"/>
          <p:cNvSpPr/>
          <p:nvPr/>
        </p:nvSpPr>
        <p:spPr>
          <a:xfrm>
            <a:off x="2377440" y="1929384"/>
            <a:ext cx="1828800" cy="182880"/>
          </a:xfrm>
          <a:prstGeom prst="rect">
            <a:avLst/>
          </a:prstGeom>
          <a:noFill/>
          <a:ln/>
        </p:spPr>
        <p:txBody>
          <a:bodyPr wrap="square" lIns="0" tIns="0" rIns="0" bIns="0" rtlCol="0" anchor="ctr"/>
          <a:lstStyle/>
          <a:p>
            <a:pPr indent="0" marL="0">
              <a:buNone/>
            </a:pPr>
            <a:r>
              <a:rPr lang="en-US" sz="700" b="1" spc="200" kern="0" dirty="0">
                <a:solidFill>
                  <a:srgbClr val="94A3B8"/>
                </a:solidFill>
                <a:latin typeface="Calibri" pitchFamily="34" charset="0"/>
                <a:ea typeface="Calibri" pitchFamily="34" charset="-122"/>
                <a:cs typeface="Calibri" pitchFamily="34" charset="-120"/>
              </a:rPr>
              <a:t>ASK EXACTLY THIS</a:t>
            </a:r>
            <a:endParaRPr lang="en-US" sz="700" dirty="0"/>
          </a:p>
        </p:txBody>
      </p:sp>
      <p:sp>
        <p:nvSpPr>
          <p:cNvPr id="27" name="Text 25"/>
          <p:cNvSpPr/>
          <p:nvPr/>
        </p:nvSpPr>
        <p:spPr>
          <a:xfrm>
            <a:off x="2377440" y="2103120"/>
            <a:ext cx="6492240" cy="347472"/>
          </a:xfrm>
          <a:prstGeom prst="rect">
            <a:avLst/>
          </a:prstGeom>
          <a:noFill/>
          <a:ln/>
        </p:spPr>
        <p:txBody>
          <a:bodyPr wrap="square" lIns="0" tIns="0" rIns="0" bIns="0" rtlCol="0" anchor="t"/>
          <a:lstStyle/>
          <a:p>
            <a:pPr indent="0" marL="0">
              <a:buNone/>
            </a:pPr>
            <a:r>
              <a:rPr lang="en-US" sz="1200" b="1" i="1" dirty="0">
                <a:solidFill>
                  <a:srgbClr val="FFFFFF"/>
                </a:solidFill>
                <a:latin typeface="Calibri" pitchFamily="34" charset="0"/>
                <a:ea typeface="Calibri" pitchFamily="34" charset="-122"/>
                <a:cs typeface="Calibri" pitchFamily="34" charset="-120"/>
              </a:rPr>
              <a:t>"What drives the 3 different outfeed panels — is it Length or Outfeed Type? If an SWM machine were added, would it use one of these panels or a different one?"</a:t>
            </a:r>
            <a:endParaRPr lang="en-US" sz="1200" dirty="0"/>
          </a:p>
        </p:txBody>
      </p:sp>
      <p:sp>
        <p:nvSpPr>
          <p:cNvPr id="28" name="Shape 26"/>
          <p:cNvSpPr/>
          <p:nvPr/>
        </p:nvSpPr>
        <p:spPr>
          <a:xfrm>
            <a:off x="2240280" y="2542032"/>
            <a:ext cx="3332988" cy="2423160"/>
          </a:xfrm>
          <a:prstGeom prst="rect">
            <a:avLst/>
          </a:prstGeom>
          <a:solidFill>
            <a:srgbClr val="FFFFFF"/>
          </a:solidFill>
          <a:ln w="12700">
            <a:solidFill>
              <a:srgbClr val="86EFAC"/>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240280" y="2542032"/>
            <a:ext cx="3332988" cy="256032"/>
          </a:xfrm>
          <a:prstGeom prst="rect">
            <a:avLst/>
          </a:prstGeom>
          <a:solidFill>
            <a:srgbClr val="065F46"/>
          </a:solidFill>
          <a:ln w="12700">
            <a:solidFill>
              <a:srgbClr val="065F46"/>
            </a:solidFill>
            <a:prstDash val="solid"/>
          </a:ln>
        </p:spPr>
      </p:sp>
      <p:sp>
        <p:nvSpPr>
          <p:cNvPr id="30" name="Text 28"/>
          <p:cNvSpPr/>
          <p:nvPr/>
        </p:nvSpPr>
        <p:spPr>
          <a:xfrm>
            <a:off x="2350008"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YES</a:t>
            </a:r>
            <a:endParaRPr lang="en-US" sz="900" dirty="0"/>
          </a:p>
        </p:txBody>
      </p:sp>
      <p:sp>
        <p:nvSpPr>
          <p:cNvPr id="31" name="Text 29"/>
          <p:cNvSpPr/>
          <p:nvPr/>
        </p:nvSpPr>
        <p:spPr>
          <a:xfrm>
            <a:off x="2350008" y="2834640"/>
            <a:ext cx="3150108" cy="694944"/>
          </a:xfrm>
          <a:prstGeom prst="rect">
            <a:avLst/>
          </a:prstGeom>
          <a:noFill/>
          <a:ln/>
        </p:spPr>
        <p:txBody>
          <a:bodyPr wrap="square" lIns="0" tIns="0" rIns="0" bIns="0" rtlCol="0" anchor="t"/>
          <a:lstStyle/>
          <a:p>
            <a:pPr indent="0" marL="0">
              <a:buNone/>
            </a:pPr>
            <a:r>
              <a:rPr lang="en-US" sz="1100" dirty="0">
                <a:solidFill>
                  <a:srgbClr val="166534"/>
                </a:solidFill>
                <a:latin typeface="Calibri" pitchFamily="34" charset="0"/>
                <a:ea typeface="Calibri" pitchFamily="34" charset="-122"/>
                <a:cs typeface="Calibri" pitchFamily="34" charset="-120"/>
              </a:rPr>
              <a:t>SME says: Length is the driver — one panel per machine size</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TC: A00036378 → Length = 6Ft</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A00034157 → Length = 32Ft</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A00025617 → Length = 10Ft</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SWM would add a 4th panel per length</a:t>
            </a:r>
            <a:endParaRPr lang="en-US" sz="1100" dirty="0"/>
          </a:p>
        </p:txBody>
      </p:sp>
      <p:sp>
        <p:nvSpPr>
          <p:cNvPr id="32" name="Shape 30"/>
          <p:cNvSpPr/>
          <p:nvPr/>
        </p:nvSpPr>
        <p:spPr>
          <a:xfrm>
            <a:off x="2350008" y="3575304"/>
            <a:ext cx="3113532" cy="0"/>
          </a:xfrm>
          <a:prstGeom prst="line">
            <a:avLst/>
          </a:prstGeom>
          <a:noFill/>
          <a:ln w="12700">
            <a:solidFill>
              <a:srgbClr val="86EFAC"/>
            </a:solidFill>
            <a:prstDash val="dash"/>
          </a:ln>
        </p:spPr>
      </p:sp>
      <p:sp>
        <p:nvSpPr>
          <p:cNvPr id="33" name="Text 31"/>
          <p:cNvSpPr/>
          <p:nvPr/>
        </p:nvSpPr>
        <p:spPr>
          <a:xfrm>
            <a:off x="2350008" y="3648456"/>
            <a:ext cx="3150108" cy="201168"/>
          </a:xfrm>
          <a:prstGeom prst="rect">
            <a:avLst/>
          </a:prstGeom>
          <a:noFill/>
          <a:ln/>
        </p:spPr>
        <p:txBody>
          <a:bodyPr wrap="square" lIns="0" tIns="0" rIns="0" bIns="0" rtlCol="0" anchor="ctr"/>
          <a:lstStyle/>
          <a:p>
            <a:pPr indent="0" marL="0">
              <a:buNone/>
            </a:pPr>
            <a:r>
              <a:rPr lang="en-US" sz="700" b="1" spc="200" kern="0" dirty="0">
                <a:solidFill>
                  <a:srgbClr val="065F46"/>
                </a:solidFill>
                <a:latin typeface="Calibri" pitchFamily="34" charset="0"/>
                <a:ea typeface="Calibri" pitchFamily="34" charset="-122"/>
                <a:cs typeface="Calibri" pitchFamily="34" charset="-120"/>
              </a:rPr>
              <a:t>IF YES — UPDATE TC</a:t>
            </a:r>
            <a:endParaRPr lang="en-US" sz="700" dirty="0"/>
          </a:p>
        </p:txBody>
      </p:sp>
      <p:sp>
        <p:nvSpPr>
          <p:cNvPr id="34" name="Text 32"/>
          <p:cNvSpPr/>
          <p:nvPr/>
        </p:nvSpPr>
        <p:spPr>
          <a:xfrm>
            <a:off x="2350008" y="3877056"/>
            <a:ext cx="3150108" cy="1014984"/>
          </a:xfrm>
          <a:prstGeom prst="rect">
            <a:avLst/>
          </a:prstGeom>
          <a:noFill/>
          <a:ln/>
        </p:spPr>
        <p:txBody>
          <a:bodyPr wrap="square" lIns="0" tIns="0" rIns="0" bIns="0" rtlCol="0" anchor="t"/>
          <a:lstStyle/>
          <a:p>
            <a:pPr marL="342900" indent="-342900">
              <a:buSzPct val="100000"/>
              <a:buChar char="•"/>
            </a:pPr>
            <a:r>
              <a:rPr lang="en-US" sz="1000" dirty="0">
                <a:solidFill>
                  <a:srgbClr val="166534"/>
                </a:solidFill>
                <a:latin typeface="Calibri" pitchFamily="34" charset="0"/>
                <a:ea typeface="Calibri" pitchFamily="34" charset="-122"/>
                <a:cs typeface="Calibri" pitchFamily="34" charset="-120"/>
              </a:rPr>
              <a:t>3 separate formulas: L=6Ft, L=32Ft, L=10Ft — affects Rules 20 and 21</a:t>
            </a:r>
            <a:endParaRPr lang="en-US" sz="1000" dirty="0"/>
          </a:p>
        </p:txBody>
      </p:sp>
      <p:sp>
        <p:nvSpPr>
          <p:cNvPr id="35" name="Shape 33"/>
          <p:cNvSpPr/>
          <p:nvPr/>
        </p:nvSpPr>
        <p:spPr>
          <a:xfrm>
            <a:off x="5628132" y="2542032"/>
            <a:ext cx="3332988" cy="242316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0000"/>
              </a:srgbClr>
            </a:outerShdw>
          </a:effectLst>
        </p:spPr>
      </p:sp>
      <p:sp>
        <p:nvSpPr>
          <p:cNvPr id="36" name="Shape 34"/>
          <p:cNvSpPr/>
          <p:nvPr/>
        </p:nvSpPr>
        <p:spPr>
          <a:xfrm>
            <a:off x="5628132" y="2542032"/>
            <a:ext cx="3332988" cy="256032"/>
          </a:xfrm>
          <a:prstGeom prst="rect">
            <a:avLst/>
          </a:prstGeom>
          <a:solidFill>
            <a:srgbClr val="991B1B"/>
          </a:solidFill>
          <a:ln w="12700">
            <a:solidFill>
              <a:srgbClr val="991B1B"/>
            </a:solidFill>
            <a:prstDash val="solid"/>
          </a:ln>
        </p:spPr>
      </p:sp>
      <p:sp>
        <p:nvSpPr>
          <p:cNvPr id="37" name="Text 35"/>
          <p:cNvSpPr/>
          <p:nvPr/>
        </p:nvSpPr>
        <p:spPr>
          <a:xfrm>
            <a:off x="5737860"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NO</a:t>
            </a:r>
            <a:endParaRPr lang="en-US" sz="900" dirty="0"/>
          </a:p>
        </p:txBody>
      </p:sp>
      <p:sp>
        <p:nvSpPr>
          <p:cNvPr id="38" name="Text 36"/>
          <p:cNvSpPr/>
          <p:nvPr/>
        </p:nvSpPr>
        <p:spPr>
          <a:xfrm>
            <a:off x="5737860" y="2834640"/>
            <a:ext cx="3113532" cy="694944"/>
          </a:xfrm>
          <a:prstGeom prst="rect">
            <a:avLst/>
          </a:prstGeom>
          <a:noFill/>
          <a:ln/>
        </p:spPr>
        <p:txBody>
          <a:bodyPr wrap="square" lIns="0" tIns="0" rIns="0" bIns="0" rtlCol="0" anchor="t"/>
          <a:lstStyle/>
          <a:p>
            <a:pPr indent="0" marL="0">
              <a:buNone/>
            </a:pPr>
            <a:r>
              <a:rPr lang="en-US" sz="1100" dirty="0">
                <a:solidFill>
                  <a:srgbClr val="991B1B"/>
                </a:solidFill>
                <a:latin typeface="Calibri" pitchFamily="34" charset="0"/>
                <a:ea typeface="Calibri" pitchFamily="34" charset="-122"/>
                <a:cs typeface="Calibri" pitchFamily="34" charset="-120"/>
              </a:rPr>
              <a:t>SME says: Outfeed Type is the driver — Intralox vs SWM</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TC: All 3 current panels → Outfeed Type = Intralox</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SWM would need its own panel Part IDs</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Length differences are internal design variation only</a:t>
            </a:r>
            <a:endParaRPr lang="en-US" sz="1100" dirty="0"/>
          </a:p>
        </p:txBody>
      </p:sp>
      <p:sp>
        <p:nvSpPr>
          <p:cNvPr id="39" name="Shape 37"/>
          <p:cNvSpPr/>
          <p:nvPr/>
        </p:nvSpPr>
        <p:spPr>
          <a:xfrm>
            <a:off x="5737860" y="3575304"/>
            <a:ext cx="3076956" cy="0"/>
          </a:xfrm>
          <a:prstGeom prst="line">
            <a:avLst/>
          </a:prstGeom>
          <a:noFill/>
          <a:ln w="12700">
            <a:solidFill>
              <a:srgbClr val="FCA5A5"/>
            </a:solidFill>
            <a:prstDash val="dash"/>
          </a:ln>
        </p:spPr>
      </p:sp>
      <p:sp>
        <p:nvSpPr>
          <p:cNvPr id="40" name="Text 38"/>
          <p:cNvSpPr/>
          <p:nvPr/>
        </p:nvSpPr>
        <p:spPr>
          <a:xfrm>
            <a:off x="5737860" y="3648456"/>
            <a:ext cx="3113532" cy="201168"/>
          </a:xfrm>
          <a:prstGeom prst="rect">
            <a:avLst/>
          </a:prstGeom>
          <a:noFill/>
          <a:ln/>
        </p:spPr>
        <p:txBody>
          <a:bodyPr wrap="square" lIns="0" tIns="0" rIns="0" bIns="0" rtlCol="0" anchor="ctr"/>
          <a:lstStyle/>
          <a:p>
            <a:pPr indent="0" marL="0">
              <a:buNone/>
            </a:pPr>
            <a:r>
              <a:rPr lang="en-US" sz="700" b="1" spc="200" kern="0" dirty="0">
                <a:solidFill>
                  <a:srgbClr val="991B1B"/>
                </a:solidFill>
                <a:latin typeface="Calibri" pitchFamily="34" charset="0"/>
                <a:ea typeface="Calibri" pitchFamily="34" charset="-122"/>
                <a:cs typeface="Calibri" pitchFamily="34" charset="-120"/>
              </a:rPr>
              <a:t>IF NO — UPDATE TC</a:t>
            </a:r>
            <a:endParaRPr lang="en-US" sz="700" dirty="0"/>
          </a:p>
        </p:txBody>
      </p:sp>
      <p:sp>
        <p:nvSpPr>
          <p:cNvPr id="41" name="Text 39"/>
          <p:cNvSpPr/>
          <p:nvPr/>
        </p:nvSpPr>
        <p:spPr>
          <a:xfrm>
            <a:off x="5737860" y="3877056"/>
            <a:ext cx="3113532" cy="1014984"/>
          </a:xfrm>
          <a:prstGeom prst="rect">
            <a:avLst/>
          </a:prstGeom>
          <a:noFill/>
          <a:ln/>
        </p:spPr>
        <p:txBody>
          <a:bodyPr wrap="square" lIns="0" tIns="0" rIns="0" bIns="0" rtlCol="0" anchor="t"/>
          <a:lstStyle/>
          <a:p>
            <a:pPr marL="342900" indent="-342900">
              <a:buSzPct val="100000"/>
              <a:buChar char="•"/>
            </a:pPr>
            <a:r>
              <a:rPr lang="en-US" sz="1000" dirty="0">
                <a:solidFill>
                  <a:srgbClr val="991B1B"/>
                </a:solidFill>
                <a:latin typeface="Calibri" pitchFamily="34" charset="0"/>
                <a:ea typeface="Calibri" pitchFamily="34" charset="-122"/>
                <a:cs typeface="Calibri" pitchFamily="34" charset="-120"/>
              </a:rPr>
              <a:t>All 3 panels get Outfeed Type = Intralox — SWM gets own Part IDs</a:t>
            </a:r>
            <a:endParaRPr lang="en-US" sz="1000" dirty="0"/>
          </a:p>
        </p:txBody>
      </p:sp>
      <p:sp>
        <p:nvSpPr>
          <p:cNvPr id="42" name="Shape 40"/>
          <p:cNvSpPr/>
          <p:nvPr/>
        </p:nvSpPr>
        <p:spPr>
          <a:xfrm>
            <a:off x="0" y="4974336"/>
            <a:ext cx="9144000" cy="169164"/>
          </a:xfrm>
          <a:prstGeom prst="rect">
            <a:avLst/>
          </a:prstGeom>
          <a:solidFill>
            <a:srgbClr val="0D7A6B"/>
          </a:solidFill>
          <a:ln w="12700">
            <a:solidFill>
              <a:srgbClr val="0D7A6B"/>
            </a:solidFill>
            <a:prstDash val="solid"/>
          </a:ln>
        </p:spPr>
      </p:sp>
      <p:sp>
        <p:nvSpPr>
          <p:cNvPr id="43" name="Text 41"/>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1B2A4A"/>
          </a:solidFill>
          <a:ln w="12700">
            <a:solidFill>
              <a:srgbClr val="1B2A4A"/>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800" b="1" dirty="0">
                <a:solidFill>
                  <a:srgbClr val="FFFFFF"/>
                </a:solidFill>
                <a:latin typeface="Consolas" pitchFamily="34" charset="0"/>
                <a:ea typeface="Consolas" pitchFamily="34" charset="-122"/>
                <a:cs typeface="Consolas" pitchFamily="34" charset="-120"/>
              </a:rPr>
              <a:t>Q12</a:t>
            </a:r>
            <a:endParaRPr lang="en-US" sz="68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FEF3C7"/>
          </a:solidFill>
          <a:ln w="12700">
            <a:solidFill>
              <a:srgbClr val="92400E"/>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92400E"/>
                </a:solidFill>
                <a:latin typeface="Calibri" pitchFamily="34" charset="0"/>
                <a:ea typeface="Calibri" pitchFamily="34" charset="-122"/>
                <a:cs typeface="Calibri" pitchFamily="34" charset="-120"/>
              </a:rPr>
              <a:t>MEDIUM</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64748B"/>
                </a:solidFill>
                <a:latin typeface="Calibri" pitchFamily="34" charset="0"/>
                <a:ea typeface="Calibri" pitchFamily="34" charset="-122"/>
                <a:cs typeface="Calibri" pitchFamily="34" charset="-120"/>
              </a:rPr>
              <a:t>OUTFEED GUIDE</a:t>
            </a:r>
            <a:endParaRPr lang="en-US" sz="800" dirty="0"/>
          </a:p>
        </p:txBody>
      </p:sp>
      <p:sp>
        <p:nvSpPr>
          <p:cNvPr id="8" name="Shape 6"/>
          <p:cNvSpPr/>
          <p:nvPr/>
        </p:nvSpPr>
        <p:spPr>
          <a:xfrm>
            <a:off x="256032" y="2267712"/>
            <a:ext cx="1591056" cy="347472"/>
          </a:xfrm>
          <a:prstGeom prst="rect">
            <a:avLst/>
          </a:prstGeom>
          <a:solidFill>
            <a:srgbClr val="0F3460"/>
          </a:solidFill>
          <a:ln w="12700">
            <a:solidFill>
              <a:srgbClr val="0F3460"/>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4 min</a:t>
            </a:r>
            <a:endParaRPr lang="en-US" sz="1300" dirty="0"/>
          </a:p>
        </p:txBody>
      </p:sp>
      <p:sp>
        <p:nvSpPr>
          <p:cNvPr id="10" name="Shape 8"/>
          <p:cNvSpPr/>
          <p:nvPr/>
        </p:nvSpPr>
        <p:spPr>
          <a:xfrm>
            <a:off x="164592" y="2788920"/>
            <a:ext cx="1773936" cy="1417320"/>
          </a:xfrm>
          <a:prstGeom prst="rect">
            <a:avLst/>
          </a:prstGeom>
          <a:solidFill>
            <a:srgbClr val="1E3A5F"/>
          </a:solidFill>
          <a:ln w="12700">
            <a:solidFill>
              <a:srgbClr val="1E3A5F"/>
            </a:solidFill>
            <a:prstDash val="solid"/>
          </a:ln>
        </p:spPr>
      </p:sp>
      <p:sp>
        <p:nvSpPr>
          <p:cNvPr id="11" name="Text 9"/>
          <p:cNvSpPr/>
          <p:nvPr/>
        </p:nvSpPr>
        <p:spPr>
          <a:xfrm>
            <a:off x="164592" y="2834640"/>
            <a:ext cx="1773936" cy="201168"/>
          </a:xfrm>
          <a:prstGeom prst="rect">
            <a:avLst/>
          </a:prstGeom>
          <a:noFill/>
          <a:ln/>
        </p:spPr>
        <p:txBody>
          <a:bodyPr wrap="square" lIns="0" tIns="0" rIns="0" bIns="0" rtlCol="0" anchor="ctr"/>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IF STUCK</a:t>
            </a:r>
            <a:endParaRPr lang="en-US" sz="700" dirty="0"/>
          </a:p>
        </p:txBody>
      </p:sp>
      <p:sp>
        <p:nvSpPr>
          <p:cNvPr id="12" name="Text 10"/>
          <p:cNvSpPr/>
          <p:nvPr/>
        </p:nvSpPr>
        <p:spPr>
          <a:xfrm>
            <a:off x="228600" y="3054096"/>
            <a:ext cx="1645920" cy="1097280"/>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Point to the 32FT equivalent:</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"ASSY_GUIDES_32FT_LH also has LH in its name — does a 32FT RH guide exist?"</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If no RH version exists for either length → Length only</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If RH version exists → Orientation AND Length</a:t>
            </a:r>
            <a:endParaRPr lang="en-US" sz="900" dirty="0"/>
          </a:p>
        </p:txBody>
      </p:sp>
      <p:sp>
        <p:nvSpPr>
          <p:cNvPr id="13" name="Shape 11"/>
          <p:cNvSpPr/>
          <p:nvPr/>
        </p:nvSpPr>
        <p:spPr>
          <a:xfrm>
            <a:off x="164592" y="4315968"/>
            <a:ext cx="1773936" cy="658368"/>
          </a:xfrm>
          <a:prstGeom prst="rect">
            <a:avLst/>
          </a:prstGeom>
          <a:solidFill>
            <a:srgbClr val="0D7A6B"/>
          </a:solidFill>
          <a:ln w="12700">
            <a:solidFill>
              <a:srgbClr val="0D7A6B"/>
            </a:solidFill>
            <a:prstDash val="solid"/>
          </a:ln>
        </p:spPr>
      </p:sp>
      <p:sp>
        <p:nvSpPr>
          <p:cNvPr id="14" name="Text 12"/>
          <p:cNvSpPr/>
          <p:nvPr/>
        </p:nvSpPr>
        <p:spPr>
          <a:xfrm>
            <a:off x="164592" y="4343400"/>
            <a:ext cx="1773936" cy="201168"/>
          </a:xfrm>
          <a:prstGeom prst="rect">
            <a:avLst/>
          </a:prstGeom>
          <a:noFill/>
          <a:ln/>
        </p:spPr>
        <p:txBody>
          <a:bodyPr wrap="square" lIns="0" tIns="0" rIns="0" bIns="0" rtlCol="0" anchor="ctr"/>
          <a:lstStyle/>
          <a:p>
            <a:pPr algn="ctr" indent="0" marL="0">
              <a:buNone/>
            </a:pPr>
            <a:r>
              <a:rPr lang="en-US" sz="700" spc="200" kern="0" dirty="0">
                <a:solidFill>
                  <a:srgbClr val="A7F3D0"/>
                </a:solidFill>
                <a:latin typeface="Calibri" pitchFamily="34" charset="0"/>
                <a:ea typeface="Calibri" pitchFamily="34" charset="-122"/>
                <a:cs typeface="Calibri" pitchFamily="34" charset="-120"/>
              </a:rPr>
              <a:t>TC ACTION</a:t>
            </a:r>
            <a:endParaRPr lang="en-US" sz="700" dirty="0"/>
          </a:p>
        </p:txBody>
      </p:sp>
      <p:sp>
        <p:nvSpPr>
          <p:cNvPr id="15" name="Text 13"/>
          <p:cNvSpPr/>
          <p:nvPr/>
        </p:nvSpPr>
        <p:spPr>
          <a:xfrm>
            <a:off x="201168" y="4553712"/>
            <a:ext cx="1719072" cy="384048"/>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YES: Formula: Orientation = LH AND Length = 10Ft — new Inclusion Rule</a:t>
            </a:r>
            <a:endParaRPr lang="en-US" sz="900" dirty="0"/>
          </a:p>
          <a:p>
            <a:pPr indent="0" marL="0">
              <a:buNone/>
            </a:pP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NO: Formula: Length = 10Ft only — new Inclusion Rule</a:t>
            </a:r>
            <a:endParaRPr lang="en-US" sz="900" dirty="0"/>
          </a:p>
        </p:txBody>
      </p:sp>
      <p:sp>
        <p:nvSpPr>
          <p:cNvPr id="16" name="Shape 14"/>
          <p:cNvSpPr/>
          <p:nvPr/>
        </p:nvSpPr>
        <p:spPr>
          <a:xfrm>
            <a:off x="2240280" y="0"/>
            <a:ext cx="6720840" cy="384048"/>
          </a:xfrm>
          <a:prstGeom prst="rect">
            <a:avLst/>
          </a:prstGeom>
          <a:solidFill>
            <a:srgbClr val="0D7A6B"/>
          </a:solidFill>
          <a:ln w="12700">
            <a:solidFill>
              <a:srgbClr val="0D7A6B"/>
            </a:solidFill>
            <a:prstDash val="solid"/>
          </a:ln>
        </p:spPr>
      </p:sp>
      <p:sp>
        <p:nvSpPr>
          <p:cNvPr id="17" name="Text 15"/>
          <p:cNvSpPr/>
          <p:nvPr/>
        </p:nvSpPr>
        <p:spPr>
          <a:xfrm>
            <a:off x="2377440" y="0"/>
            <a:ext cx="64465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10FT Guide Assembly — Length only or Length AND Orientation?</a:t>
            </a:r>
            <a:endParaRPr lang="en-US" sz="1400" dirty="0"/>
          </a:p>
        </p:txBody>
      </p:sp>
      <p:sp>
        <p:nvSpPr>
          <p:cNvPr id="18" name="Shape 16"/>
          <p:cNvSpPr/>
          <p:nvPr/>
        </p:nvSpPr>
        <p:spPr>
          <a:xfrm>
            <a:off x="2240280" y="438912"/>
            <a:ext cx="6720840" cy="822960"/>
          </a:xfrm>
          <a:prstGeom prst="rect">
            <a:avLst/>
          </a:prstGeom>
          <a:solidFill>
            <a:srgbClr val="FFFFFF"/>
          </a:solidFill>
          <a:ln w="12700">
            <a:solidFill>
              <a:srgbClr val="CBD5E1"/>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2240280" y="438912"/>
            <a:ext cx="54864" cy="822960"/>
          </a:xfrm>
          <a:prstGeom prst="rect">
            <a:avLst/>
          </a:prstGeom>
          <a:solidFill>
            <a:srgbClr val="1B2A4A"/>
          </a:solidFill>
          <a:ln w="12700">
            <a:solidFill>
              <a:srgbClr val="1B2A4A"/>
            </a:solidFill>
            <a:prstDash val="solid"/>
          </a:ln>
        </p:spPr>
      </p:sp>
      <p:sp>
        <p:nvSpPr>
          <p:cNvPr id="20" name="Text 18"/>
          <p:cNvSpPr/>
          <p:nvPr/>
        </p:nvSpPr>
        <p:spPr>
          <a:xfrm>
            <a:off x="2377440" y="493776"/>
            <a:ext cx="1097280" cy="182880"/>
          </a:xfrm>
          <a:prstGeom prst="rect">
            <a:avLst/>
          </a:prstGeom>
          <a:noFill/>
          <a:ln/>
        </p:spPr>
        <p:txBody>
          <a:bodyPr wrap="square" lIns="0" tIns="0" rIns="0" bIns="0" rtlCol="0" anchor="ctr"/>
          <a:lstStyle/>
          <a:p>
            <a:pPr indent="0" marL="0">
              <a:buNone/>
            </a:pPr>
            <a:r>
              <a:rPr lang="en-US" sz="700" b="1" spc="200" kern="0" dirty="0">
                <a:solidFill>
                  <a:srgbClr val="1B2A4A"/>
                </a:solidFill>
                <a:latin typeface="Calibri" pitchFamily="34" charset="0"/>
                <a:ea typeface="Calibri" pitchFamily="34" charset="-122"/>
                <a:cs typeface="Calibri" pitchFamily="34" charset="-120"/>
              </a:rPr>
              <a:t>SAY TO OPEN</a:t>
            </a:r>
            <a:endParaRPr lang="en-US" sz="700" dirty="0"/>
          </a:p>
        </p:txBody>
      </p:sp>
      <p:sp>
        <p:nvSpPr>
          <p:cNvPr id="21" name="Text 19"/>
          <p:cNvSpPr/>
          <p:nvPr/>
        </p:nvSpPr>
        <p:spPr>
          <a:xfrm>
            <a:off x="2377440" y="694944"/>
            <a:ext cx="6492240" cy="521208"/>
          </a:xfrm>
          <a:prstGeom prst="rect">
            <a:avLst/>
          </a:prstGeom>
          <a:noFill/>
          <a:ln/>
        </p:spPr>
        <p:txBody>
          <a:bodyPr wrap="square" lIns="0" tIns="0" rIns="0" bIns="0" rtlCol="0" anchor="t"/>
          <a:lstStyle/>
          <a:p>
            <a:pPr indent="0" marL="0">
              <a:buNone/>
            </a:pPr>
            <a:r>
              <a:rPr lang="en-US" sz="1200" i="1" dirty="0">
                <a:solidFill>
                  <a:srgbClr val="1B2A4A"/>
                </a:solidFill>
                <a:latin typeface="Calibri" pitchFamily="34" charset="0"/>
                <a:ea typeface="Calibri" pitchFamily="34" charset="-122"/>
                <a:cs typeface="Calibri" pitchFamily="34" charset="-120"/>
              </a:rPr>
              <a:t>The 10FT BOM has a unique guide assembly — ASSY_GUIDE_10FT_LH — not present in either the 6FT EU or 32FT LH BOMs. The 32FT has its own equivalent: ASSY_GUIDES_32FT_LH. The 6FT has no guide at all. The LH suffix in the name suggests orientation matters — but we need to confirm.</a:t>
            </a:r>
            <a:endParaRPr lang="en-US" sz="1200" dirty="0"/>
          </a:p>
        </p:txBody>
      </p:sp>
      <p:sp>
        <p:nvSpPr>
          <p:cNvPr id="22" name="Shape 20"/>
          <p:cNvSpPr/>
          <p:nvPr/>
        </p:nvSpPr>
        <p:spPr>
          <a:xfrm>
            <a:off x="2240280" y="1298448"/>
            <a:ext cx="6720840" cy="530352"/>
          </a:xfrm>
          <a:prstGeom prst="rect">
            <a:avLst/>
          </a:prstGeom>
          <a:solidFill>
            <a:srgbClr val="EFF6FF"/>
          </a:solidFill>
          <a:ln w="12700">
            <a:solidFill>
              <a:srgbClr val="BFDBFE"/>
            </a:solidFill>
            <a:prstDash val="solid"/>
          </a:ln>
        </p:spPr>
      </p:sp>
      <p:sp>
        <p:nvSpPr>
          <p:cNvPr id="23" name="Text 21"/>
          <p:cNvSpPr/>
          <p:nvPr/>
        </p:nvSpPr>
        <p:spPr>
          <a:xfrm>
            <a:off x="2377440" y="1362456"/>
            <a:ext cx="1828800" cy="182880"/>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SHOW ON BOM VIEWER</a:t>
            </a:r>
            <a:endParaRPr lang="en-US" sz="700" dirty="0"/>
          </a:p>
        </p:txBody>
      </p:sp>
      <p:sp>
        <p:nvSpPr>
          <p:cNvPr id="24" name="Text 22"/>
          <p:cNvSpPr/>
          <p:nvPr/>
        </p:nvSpPr>
        <p:spPr>
          <a:xfrm>
            <a:off x="2377440" y="1554480"/>
            <a:ext cx="6492240" cy="228600"/>
          </a:xfrm>
          <a:prstGeom prst="rect">
            <a:avLst/>
          </a:prstGeom>
          <a:noFill/>
          <a:ln/>
        </p:spPr>
        <p:txBody>
          <a:bodyPr wrap="square" lIns="0" tIns="0" rIns="0" bIns="0" rtlCol="0" anchor="t"/>
          <a:lstStyle/>
          <a:p>
            <a:pPr indent="0" marL="0">
              <a:buNone/>
            </a:pPr>
            <a:r>
              <a:rPr lang="en-US" sz="1100" dirty="0">
                <a:solidFill>
                  <a:srgbClr val="1E40AF"/>
                </a:solidFill>
                <a:latin typeface="Consolas" pitchFamily="34" charset="0"/>
                <a:ea typeface="Consolas" pitchFamily="34" charset="-122"/>
                <a:cs typeface="Consolas" pitchFamily="34" charset="-120"/>
              </a:rPr>
              <a:t>Search A00033707 in 150% BOM → show it in 10FT branch only, tagged LH_NA_10FT</a:t>
            </a:r>
            <a:endParaRPr lang="en-US" sz="1100" dirty="0"/>
          </a:p>
          <a:p>
            <a:pPr indent="0" marL="0">
              <a:buNone/>
            </a:pPr>
            <a:r>
              <a:rPr lang="en-US" sz="1100" dirty="0">
                <a:solidFill>
                  <a:srgbClr val="1E40AF"/>
                </a:solidFill>
                <a:latin typeface="Consolas" pitchFamily="34" charset="0"/>
                <a:ea typeface="Consolas" pitchFamily="34" charset="-122"/>
                <a:cs typeface="Consolas" pitchFamily="34" charset="-120"/>
              </a:rPr>
              <a:t>Search A00032586 → show ASSY_GUIDES_32FT_LH in 32FT branch only</a:t>
            </a:r>
            <a:endParaRPr lang="en-US" sz="1100" dirty="0"/>
          </a:p>
        </p:txBody>
      </p:sp>
      <p:sp>
        <p:nvSpPr>
          <p:cNvPr id="25" name="Shape 23"/>
          <p:cNvSpPr/>
          <p:nvPr/>
        </p:nvSpPr>
        <p:spPr>
          <a:xfrm>
            <a:off x="2240280" y="1865376"/>
            <a:ext cx="6720840" cy="621792"/>
          </a:xfrm>
          <a:prstGeom prst="rect">
            <a:avLst/>
          </a:prstGeom>
          <a:solidFill>
            <a:srgbClr val="1B2A4A"/>
          </a:solidFill>
          <a:ln w="12700">
            <a:solidFill>
              <a:srgbClr val="1B2A4A"/>
            </a:solidFill>
            <a:prstDash val="solid"/>
          </a:ln>
        </p:spPr>
      </p:sp>
      <p:sp>
        <p:nvSpPr>
          <p:cNvPr id="26" name="Text 24"/>
          <p:cNvSpPr/>
          <p:nvPr/>
        </p:nvSpPr>
        <p:spPr>
          <a:xfrm>
            <a:off x="2377440" y="1929384"/>
            <a:ext cx="1828800" cy="182880"/>
          </a:xfrm>
          <a:prstGeom prst="rect">
            <a:avLst/>
          </a:prstGeom>
          <a:noFill/>
          <a:ln/>
        </p:spPr>
        <p:txBody>
          <a:bodyPr wrap="square" lIns="0" tIns="0" rIns="0" bIns="0" rtlCol="0" anchor="ctr"/>
          <a:lstStyle/>
          <a:p>
            <a:pPr indent="0" marL="0">
              <a:buNone/>
            </a:pPr>
            <a:r>
              <a:rPr lang="en-US" sz="700" b="1" spc="200" kern="0" dirty="0">
                <a:solidFill>
                  <a:srgbClr val="94A3B8"/>
                </a:solidFill>
                <a:latin typeface="Calibri" pitchFamily="34" charset="0"/>
                <a:ea typeface="Calibri" pitchFamily="34" charset="-122"/>
                <a:cs typeface="Calibri" pitchFamily="34" charset="-120"/>
              </a:rPr>
              <a:t>ASK EXACTLY THIS</a:t>
            </a:r>
            <a:endParaRPr lang="en-US" sz="700" dirty="0"/>
          </a:p>
        </p:txBody>
      </p:sp>
      <p:sp>
        <p:nvSpPr>
          <p:cNvPr id="27" name="Text 25"/>
          <p:cNvSpPr/>
          <p:nvPr/>
        </p:nvSpPr>
        <p:spPr>
          <a:xfrm>
            <a:off x="2377440" y="2103120"/>
            <a:ext cx="6492240" cy="347472"/>
          </a:xfrm>
          <a:prstGeom prst="rect">
            <a:avLst/>
          </a:prstGeom>
          <a:noFill/>
          <a:ln/>
        </p:spPr>
        <p:txBody>
          <a:bodyPr wrap="square" lIns="0" tIns="0" rIns="0" bIns="0" rtlCol="0" anchor="t"/>
          <a:lstStyle/>
          <a:p>
            <a:pPr indent="0" marL="0">
              <a:buNone/>
            </a:pPr>
            <a:r>
              <a:rPr lang="en-US" sz="1200" b="1" i="1" dirty="0">
                <a:solidFill>
                  <a:srgbClr val="FFFFFF"/>
                </a:solidFill>
                <a:latin typeface="Calibri" pitchFamily="34" charset="0"/>
                <a:ea typeface="Calibri" pitchFamily="34" charset="-122"/>
                <a:cs typeface="Calibri" pitchFamily="34" charset="-120"/>
              </a:rPr>
              <a:t>"Is ASSY_GUIDE_10FT_LH driven by Length = 10Ft AND Orientation = LH — or is Length = 10Ft alone sufficient?"</a:t>
            </a:r>
            <a:endParaRPr lang="en-US" sz="1200" dirty="0"/>
          </a:p>
        </p:txBody>
      </p:sp>
      <p:sp>
        <p:nvSpPr>
          <p:cNvPr id="28" name="Shape 26"/>
          <p:cNvSpPr/>
          <p:nvPr/>
        </p:nvSpPr>
        <p:spPr>
          <a:xfrm>
            <a:off x="2240280" y="2542032"/>
            <a:ext cx="3332988" cy="2423160"/>
          </a:xfrm>
          <a:prstGeom prst="rect">
            <a:avLst/>
          </a:prstGeom>
          <a:solidFill>
            <a:srgbClr val="FFFFFF"/>
          </a:solidFill>
          <a:ln w="12700">
            <a:solidFill>
              <a:srgbClr val="86EFAC"/>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240280" y="2542032"/>
            <a:ext cx="3332988" cy="256032"/>
          </a:xfrm>
          <a:prstGeom prst="rect">
            <a:avLst/>
          </a:prstGeom>
          <a:solidFill>
            <a:srgbClr val="065F46"/>
          </a:solidFill>
          <a:ln w="12700">
            <a:solidFill>
              <a:srgbClr val="065F46"/>
            </a:solidFill>
            <a:prstDash val="solid"/>
          </a:ln>
        </p:spPr>
      </p:sp>
      <p:sp>
        <p:nvSpPr>
          <p:cNvPr id="30" name="Text 28"/>
          <p:cNvSpPr/>
          <p:nvPr/>
        </p:nvSpPr>
        <p:spPr>
          <a:xfrm>
            <a:off x="2350008"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YES</a:t>
            </a:r>
            <a:endParaRPr lang="en-US" sz="900" dirty="0"/>
          </a:p>
        </p:txBody>
      </p:sp>
      <p:sp>
        <p:nvSpPr>
          <p:cNvPr id="31" name="Text 29"/>
          <p:cNvSpPr/>
          <p:nvPr/>
        </p:nvSpPr>
        <p:spPr>
          <a:xfrm>
            <a:off x="2350008" y="2834640"/>
            <a:ext cx="3150108" cy="694944"/>
          </a:xfrm>
          <a:prstGeom prst="rect">
            <a:avLst/>
          </a:prstGeom>
          <a:noFill/>
          <a:ln/>
        </p:spPr>
        <p:txBody>
          <a:bodyPr wrap="square" lIns="0" tIns="0" rIns="0" bIns="0" rtlCol="0" anchor="t"/>
          <a:lstStyle/>
          <a:p>
            <a:pPr indent="0" marL="0">
              <a:buNone/>
            </a:pPr>
            <a:r>
              <a:rPr lang="en-US" sz="1100" dirty="0">
                <a:solidFill>
                  <a:srgbClr val="166534"/>
                </a:solidFill>
                <a:latin typeface="Calibri" pitchFamily="34" charset="0"/>
                <a:ea typeface="Calibri" pitchFamily="34" charset="-122"/>
                <a:cs typeface="Calibri" pitchFamily="34" charset="-120"/>
              </a:rPr>
              <a:t>SME says: both Length AND Orientation drive this</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Formula: Orientation = LH AND Length = 10Ft</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Matches the 32FT equivalent: Orientation = LH AND Length = 32Ft</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Consistent pattern across lengths</a:t>
            </a:r>
            <a:endParaRPr lang="en-US" sz="1100" dirty="0"/>
          </a:p>
        </p:txBody>
      </p:sp>
      <p:sp>
        <p:nvSpPr>
          <p:cNvPr id="32" name="Shape 30"/>
          <p:cNvSpPr/>
          <p:nvPr/>
        </p:nvSpPr>
        <p:spPr>
          <a:xfrm>
            <a:off x="2350008" y="3575304"/>
            <a:ext cx="3113532" cy="0"/>
          </a:xfrm>
          <a:prstGeom prst="line">
            <a:avLst/>
          </a:prstGeom>
          <a:noFill/>
          <a:ln w="12700">
            <a:solidFill>
              <a:srgbClr val="86EFAC"/>
            </a:solidFill>
            <a:prstDash val="dash"/>
          </a:ln>
        </p:spPr>
      </p:sp>
      <p:sp>
        <p:nvSpPr>
          <p:cNvPr id="33" name="Text 31"/>
          <p:cNvSpPr/>
          <p:nvPr/>
        </p:nvSpPr>
        <p:spPr>
          <a:xfrm>
            <a:off x="2350008" y="3648456"/>
            <a:ext cx="3150108" cy="201168"/>
          </a:xfrm>
          <a:prstGeom prst="rect">
            <a:avLst/>
          </a:prstGeom>
          <a:noFill/>
          <a:ln/>
        </p:spPr>
        <p:txBody>
          <a:bodyPr wrap="square" lIns="0" tIns="0" rIns="0" bIns="0" rtlCol="0" anchor="ctr"/>
          <a:lstStyle/>
          <a:p>
            <a:pPr indent="0" marL="0">
              <a:buNone/>
            </a:pPr>
            <a:r>
              <a:rPr lang="en-US" sz="700" b="1" spc="200" kern="0" dirty="0">
                <a:solidFill>
                  <a:srgbClr val="065F46"/>
                </a:solidFill>
                <a:latin typeface="Calibri" pitchFamily="34" charset="0"/>
                <a:ea typeface="Calibri" pitchFamily="34" charset="-122"/>
                <a:cs typeface="Calibri" pitchFamily="34" charset="-120"/>
              </a:rPr>
              <a:t>IF YES — UPDATE TC</a:t>
            </a:r>
            <a:endParaRPr lang="en-US" sz="700" dirty="0"/>
          </a:p>
        </p:txBody>
      </p:sp>
      <p:sp>
        <p:nvSpPr>
          <p:cNvPr id="34" name="Text 32"/>
          <p:cNvSpPr/>
          <p:nvPr/>
        </p:nvSpPr>
        <p:spPr>
          <a:xfrm>
            <a:off x="2350008" y="3877056"/>
            <a:ext cx="3150108" cy="1014984"/>
          </a:xfrm>
          <a:prstGeom prst="rect">
            <a:avLst/>
          </a:prstGeom>
          <a:noFill/>
          <a:ln/>
        </p:spPr>
        <p:txBody>
          <a:bodyPr wrap="square" lIns="0" tIns="0" rIns="0" bIns="0" rtlCol="0" anchor="t"/>
          <a:lstStyle/>
          <a:p>
            <a:pPr marL="342900" indent="-342900">
              <a:buSzPct val="100000"/>
              <a:buChar char="•"/>
            </a:pPr>
            <a:r>
              <a:rPr lang="en-US" sz="1000" dirty="0">
                <a:solidFill>
                  <a:srgbClr val="166534"/>
                </a:solidFill>
                <a:latin typeface="Calibri" pitchFamily="34" charset="0"/>
                <a:ea typeface="Calibri" pitchFamily="34" charset="-122"/>
                <a:cs typeface="Calibri" pitchFamily="34" charset="-120"/>
              </a:rPr>
              <a:t>Formula: Orientation = LH AND Length = 10Ft — new Inclusion Rule</a:t>
            </a:r>
            <a:endParaRPr lang="en-US" sz="1000" dirty="0"/>
          </a:p>
        </p:txBody>
      </p:sp>
      <p:sp>
        <p:nvSpPr>
          <p:cNvPr id="35" name="Shape 33"/>
          <p:cNvSpPr/>
          <p:nvPr/>
        </p:nvSpPr>
        <p:spPr>
          <a:xfrm>
            <a:off x="5628132" y="2542032"/>
            <a:ext cx="3332988" cy="242316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0000"/>
              </a:srgbClr>
            </a:outerShdw>
          </a:effectLst>
        </p:spPr>
      </p:sp>
      <p:sp>
        <p:nvSpPr>
          <p:cNvPr id="36" name="Shape 34"/>
          <p:cNvSpPr/>
          <p:nvPr/>
        </p:nvSpPr>
        <p:spPr>
          <a:xfrm>
            <a:off x="5628132" y="2542032"/>
            <a:ext cx="3332988" cy="256032"/>
          </a:xfrm>
          <a:prstGeom prst="rect">
            <a:avLst/>
          </a:prstGeom>
          <a:solidFill>
            <a:srgbClr val="991B1B"/>
          </a:solidFill>
          <a:ln w="12700">
            <a:solidFill>
              <a:srgbClr val="991B1B"/>
            </a:solidFill>
            <a:prstDash val="solid"/>
          </a:ln>
        </p:spPr>
      </p:sp>
      <p:sp>
        <p:nvSpPr>
          <p:cNvPr id="37" name="Text 35"/>
          <p:cNvSpPr/>
          <p:nvPr/>
        </p:nvSpPr>
        <p:spPr>
          <a:xfrm>
            <a:off x="5737860"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NO</a:t>
            </a:r>
            <a:endParaRPr lang="en-US" sz="900" dirty="0"/>
          </a:p>
        </p:txBody>
      </p:sp>
      <p:sp>
        <p:nvSpPr>
          <p:cNvPr id="38" name="Text 36"/>
          <p:cNvSpPr/>
          <p:nvPr/>
        </p:nvSpPr>
        <p:spPr>
          <a:xfrm>
            <a:off x="5737860" y="2834640"/>
            <a:ext cx="3113532" cy="694944"/>
          </a:xfrm>
          <a:prstGeom prst="rect">
            <a:avLst/>
          </a:prstGeom>
          <a:noFill/>
          <a:ln/>
        </p:spPr>
        <p:txBody>
          <a:bodyPr wrap="square" lIns="0" tIns="0" rIns="0" bIns="0" rtlCol="0" anchor="t"/>
          <a:lstStyle/>
          <a:p>
            <a:pPr indent="0" marL="0">
              <a:buNone/>
            </a:pPr>
            <a:r>
              <a:rPr lang="en-US" sz="1100" dirty="0">
                <a:solidFill>
                  <a:srgbClr val="991B1B"/>
                </a:solidFill>
                <a:latin typeface="Calibri" pitchFamily="34" charset="0"/>
                <a:ea typeface="Calibri" pitchFamily="34" charset="-122"/>
                <a:cs typeface="Calibri" pitchFamily="34" charset="-120"/>
              </a:rPr>
              <a:t>SME says: Length alone is the driver — no RH version of 10Ft guide exists</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Formula: Length = 10Ft only</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LH suffix in name is descriptive only — not a variant driver</a:t>
            </a:r>
            <a:endParaRPr lang="en-US" sz="1100" dirty="0"/>
          </a:p>
        </p:txBody>
      </p:sp>
      <p:sp>
        <p:nvSpPr>
          <p:cNvPr id="39" name="Shape 37"/>
          <p:cNvSpPr/>
          <p:nvPr/>
        </p:nvSpPr>
        <p:spPr>
          <a:xfrm>
            <a:off x="5737860" y="3575304"/>
            <a:ext cx="3076956" cy="0"/>
          </a:xfrm>
          <a:prstGeom prst="line">
            <a:avLst/>
          </a:prstGeom>
          <a:noFill/>
          <a:ln w="12700">
            <a:solidFill>
              <a:srgbClr val="FCA5A5"/>
            </a:solidFill>
            <a:prstDash val="dash"/>
          </a:ln>
        </p:spPr>
      </p:sp>
      <p:sp>
        <p:nvSpPr>
          <p:cNvPr id="40" name="Text 38"/>
          <p:cNvSpPr/>
          <p:nvPr/>
        </p:nvSpPr>
        <p:spPr>
          <a:xfrm>
            <a:off x="5737860" y="3648456"/>
            <a:ext cx="3113532" cy="201168"/>
          </a:xfrm>
          <a:prstGeom prst="rect">
            <a:avLst/>
          </a:prstGeom>
          <a:noFill/>
          <a:ln/>
        </p:spPr>
        <p:txBody>
          <a:bodyPr wrap="square" lIns="0" tIns="0" rIns="0" bIns="0" rtlCol="0" anchor="ctr"/>
          <a:lstStyle/>
          <a:p>
            <a:pPr indent="0" marL="0">
              <a:buNone/>
            </a:pPr>
            <a:r>
              <a:rPr lang="en-US" sz="700" b="1" spc="200" kern="0" dirty="0">
                <a:solidFill>
                  <a:srgbClr val="991B1B"/>
                </a:solidFill>
                <a:latin typeface="Calibri" pitchFamily="34" charset="0"/>
                <a:ea typeface="Calibri" pitchFamily="34" charset="-122"/>
                <a:cs typeface="Calibri" pitchFamily="34" charset="-120"/>
              </a:rPr>
              <a:t>IF NO — UPDATE TC</a:t>
            </a:r>
            <a:endParaRPr lang="en-US" sz="700" dirty="0"/>
          </a:p>
        </p:txBody>
      </p:sp>
      <p:sp>
        <p:nvSpPr>
          <p:cNvPr id="41" name="Text 39"/>
          <p:cNvSpPr/>
          <p:nvPr/>
        </p:nvSpPr>
        <p:spPr>
          <a:xfrm>
            <a:off x="5737860" y="3877056"/>
            <a:ext cx="3113532" cy="1014984"/>
          </a:xfrm>
          <a:prstGeom prst="rect">
            <a:avLst/>
          </a:prstGeom>
          <a:noFill/>
          <a:ln/>
        </p:spPr>
        <p:txBody>
          <a:bodyPr wrap="square" lIns="0" tIns="0" rIns="0" bIns="0" rtlCol="0" anchor="t"/>
          <a:lstStyle/>
          <a:p>
            <a:pPr marL="342900" indent="-342900">
              <a:buSzPct val="100000"/>
              <a:buChar char="•"/>
            </a:pPr>
            <a:r>
              <a:rPr lang="en-US" sz="1000" dirty="0">
                <a:solidFill>
                  <a:srgbClr val="991B1B"/>
                </a:solidFill>
                <a:latin typeface="Calibri" pitchFamily="34" charset="0"/>
                <a:ea typeface="Calibri" pitchFamily="34" charset="-122"/>
                <a:cs typeface="Calibri" pitchFamily="34" charset="-120"/>
              </a:rPr>
              <a:t>Formula: Length = 10Ft only — new Inclusion Rule</a:t>
            </a:r>
            <a:endParaRPr lang="en-US" sz="1000" dirty="0"/>
          </a:p>
        </p:txBody>
      </p:sp>
      <p:sp>
        <p:nvSpPr>
          <p:cNvPr id="42" name="Shape 40"/>
          <p:cNvSpPr/>
          <p:nvPr/>
        </p:nvSpPr>
        <p:spPr>
          <a:xfrm>
            <a:off x="0" y="4974336"/>
            <a:ext cx="9144000" cy="169164"/>
          </a:xfrm>
          <a:prstGeom prst="rect">
            <a:avLst/>
          </a:prstGeom>
          <a:solidFill>
            <a:srgbClr val="0D7A6B"/>
          </a:solidFill>
          <a:ln w="12700">
            <a:solidFill>
              <a:srgbClr val="0D7A6B"/>
            </a:solidFill>
            <a:prstDash val="solid"/>
          </a:ln>
        </p:spPr>
      </p:sp>
      <p:sp>
        <p:nvSpPr>
          <p:cNvPr id="43" name="Text 41"/>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0F1E35"/>
          </a:solidFill>
          <a:ln w="12700">
            <a:solidFill>
              <a:srgbClr val="0F1E35"/>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000" b="1" dirty="0">
                <a:solidFill>
                  <a:srgbClr val="94A3B8"/>
                </a:solidFill>
                <a:latin typeface="Consolas" pitchFamily="34" charset="0"/>
                <a:ea typeface="Consolas" pitchFamily="34" charset="-122"/>
                <a:cs typeface="Consolas" pitchFamily="34" charset="-120"/>
              </a:rPr>
              <a:t>Q13</a:t>
            </a:r>
            <a:endParaRPr lang="en-US" sz="60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FEF3C7"/>
          </a:solidFill>
          <a:ln w="12700">
            <a:solidFill>
              <a:srgbClr val="92400E"/>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92400E"/>
                </a:solidFill>
                <a:latin typeface="Calibri" pitchFamily="34" charset="0"/>
                <a:ea typeface="Calibri" pitchFamily="34" charset="-122"/>
                <a:cs typeface="Calibri" pitchFamily="34" charset="-120"/>
              </a:rPr>
              <a:t>PARTIAL</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334155"/>
                </a:solidFill>
                <a:latin typeface="Calibri" pitchFamily="34" charset="0"/>
                <a:ea typeface="Calibri" pitchFamily="34" charset="-122"/>
                <a:cs typeface="Calibri" pitchFamily="34" charset="-120"/>
              </a:rPr>
              <a:t>CABLING</a:t>
            </a:r>
            <a:endParaRPr lang="en-US" sz="800" dirty="0"/>
          </a:p>
        </p:txBody>
      </p:sp>
      <p:sp>
        <p:nvSpPr>
          <p:cNvPr id="8" name="Shape 6"/>
          <p:cNvSpPr/>
          <p:nvPr/>
        </p:nvSpPr>
        <p:spPr>
          <a:xfrm>
            <a:off x="256032" y="2267712"/>
            <a:ext cx="1591056" cy="347472"/>
          </a:xfrm>
          <a:prstGeom prst="rect">
            <a:avLst/>
          </a:prstGeom>
          <a:solidFill>
            <a:srgbClr val="0D7A6B"/>
          </a:solidFill>
          <a:ln w="12700">
            <a:solidFill>
              <a:srgbClr val="0D7A6B"/>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2 min only</a:t>
            </a:r>
            <a:endParaRPr lang="en-US" sz="1100" dirty="0"/>
          </a:p>
        </p:txBody>
      </p:sp>
      <p:sp>
        <p:nvSpPr>
          <p:cNvPr id="10" name="Shape 8"/>
          <p:cNvSpPr/>
          <p:nvPr/>
        </p:nvSpPr>
        <p:spPr>
          <a:xfrm>
            <a:off x="164592" y="2788920"/>
            <a:ext cx="1773936" cy="1097280"/>
          </a:xfrm>
          <a:prstGeom prst="rect">
            <a:avLst/>
          </a:prstGeom>
          <a:solidFill>
            <a:srgbClr val="1E293B"/>
          </a:solidFill>
          <a:ln w="12700">
            <a:solidFill>
              <a:srgbClr val="334155"/>
            </a:solidFill>
            <a:prstDash val="solid"/>
          </a:ln>
        </p:spPr>
      </p:sp>
      <p:sp>
        <p:nvSpPr>
          <p:cNvPr id="11" name="Text 9"/>
          <p:cNvSpPr/>
          <p:nvPr/>
        </p:nvSpPr>
        <p:spPr>
          <a:xfrm>
            <a:off x="164592" y="2834640"/>
            <a:ext cx="1773936" cy="201168"/>
          </a:xfrm>
          <a:prstGeom prst="rect">
            <a:avLst/>
          </a:prstGeom>
          <a:noFill/>
          <a:ln/>
        </p:spPr>
        <p:txBody>
          <a:bodyPr wrap="square" lIns="0" tIns="0" rIns="0" bIns="0" rtlCol="0" anchor="ctr"/>
          <a:lstStyle/>
          <a:p>
            <a:pPr algn="ctr" indent="0" marL="0">
              <a:buNone/>
            </a:pPr>
            <a:r>
              <a:rPr lang="en-US" sz="700" spc="200" kern="0" dirty="0">
                <a:solidFill>
                  <a:srgbClr val="64748B"/>
                </a:solidFill>
                <a:latin typeface="Calibri" pitchFamily="34" charset="0"/>
                <a:ea typeface="Calibri" pitchFamily="34" charset="-122"/>
                <a:cs typeface="Calibri" pitchFamily="34" charset="-120"/>
              </a:rPr>
              <a:t>PART COVERED</a:t>
            </a:r>
            <a:endParaRPr lang="en-US" sz="700" dirty="0"/>
          </a:p>
        </p:txBody>
      </p:sp>
      <p:sp>
        <p:nvSpPr>
          <p:cNvPr id="12" name="Text 10"/>
          <p:cNvSpPr/>
          <p:nvPr/>
        </p:nvSpPr>
        <p:spPr>
          <a:xfrm>
            <a:off x="228600" y="3063240"/>
            <a:ext cx="1645920" cy="77724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Region = NA</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covered in Q8</a:t>
            </a:r>
            <a:endParaRPr lang="en-US" sz="900" dirty="0"/>
          </a:p>
          <a:p>
            <a:pPr indent="0" marL="0">
              <a:buNone/>
            </a:pP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Still need:</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Orientation = LH</a:t>
            </a:r>
            <a:endParaRPr lang="en-US" sz="900" dirty="0"/>
          </a:p>
          <a:p>
            <a:pPr indent="0" marL="0">
              <a:buNone/>
            </a:pPr>
            <a:r>
              <a:rPr lang="en-US" sz="900" dirty="0">
                <a:solidFill>
                  <a:srgbClr val="94A3B8"/>
                </a:solidFill>
                <a:latin typeface="Calibri" pitchFamily="34" charset="0"/>
                <a:ea typeface="Calibri" pitchFamily="34" charset="-122"/>
                <a:cs typeface="Calibri" pitchFamily="34" charset="-120"/>
              </a:rPr>
              <a:t>confirmation</a:t>
            </a:r>
            <a:endParaRPr lang="en-US" sz="900" dirty="0"/>
          </a:p>
        </p:txBody>
      </p:sp>
      <p:sp>
        <p:nvSpPr>
          <p:cNvPr id="13" name="Shape 11"/>
          <p:cNvSpPr/>
          <p:nvPr/>
        </p:nvSpPr>
        <p:spPr>
          <a:xfrm>
            <a:off x="2240280" y="0"/>
            <a:ext cx="6903720" cy="384048"/>
          </a:xfrm>
          <a:prstGeom prst="rect">
            <a:avLst/>
          </a:prstGeom>
          <a:solidFill>
            <a:srgbClr val="334155"/>
          </a:solidFill>
          <a:ln w="12700">
            <a:solidFill>
              <a:srgbClr val="334155"/>
            </a:solidFill>
            <a:prstDash val="solid"/>
          </a:ln>
        </p:spPr>
      </p:sp>
      <p:sp>
        <p:nvSpPr>
          <p:cNvPr id="14" name="Text 12"/>
          <p:cNvSpPr/>
          <p:nvPr/>
        </p:nvSpPr>
        <p:spPr>
          <a:xfrm>
            <a:off x="2377440" y="0"/>
            <a:ext cx="6675120" cy="384048"/>
          </a:xfrm>
          <a:prstGeom prst="rect">
            <a:avLst/>
          </a:prstGeom>
          <a:noFill/>
          <a:ln/>
        </p:spPr>
        <p:txBody>
          <a:bodyPr wrap="square" lIns="0" tIns="0" rIns="0" bIns="0" rtlCol="0" anchor="ctr"/>
          <a:lstStyle/>
          <a:p>
            <a:pPr indent="0" marL="0">
              <a:buNone/>
            </a:pPr>
            <a:r>
              <a:rPr lang="en-US" sz="1400" b="1" dirty="0">
                <a:solidFill>
                  <a:srgbClr val="94A3B8"/>
                </a:solidFill>
                <a:latin typeface="Calibri" pitchFamily="34" charset="0"/>
                <a:ea typeface="Calibri" pitchFamily="34" charset="-122"/>
                <a:cs typeface="Calibri" pitchFamily="34" charset="-120"/>
              </a:rPr>
              <a:t>Cable Drawings Formula — Partially Covered in Q8</a:t>
            </a:r>
            <a:endParaRPr lang="en-US" sz="1400" dirty="0"/>
          </a:p>
        </p:txBody>
      </p:sp>
      <p:sp>
        <p:nvSpPr>
          <p:cNvPr id="15" name="Shape 13"/>
          <p:cNvSpPr/>
          <p:nvPr/>
        </p:nvSpPr>
        <p:spPr>
          <a:xfrm>
            <a:off x="2240280" y="475488"/>
            <a:ext cx="6903720" cy="256032"/>
          </a:xfrm>
          <a:prstGeom prst="rect">
            <a:avLst/>
          </a:prstGeom>
          <a:solidFill>
            <a:srgbClr val="052E16"/>
          </a:solidFill>
          <a:ln w="12700">
            <a:solidFill>
              <a:srgbClr val="166534"/>
            </a:solidFill>
            <a:prstDash val="solid"/>
          </a:ln>
        </p:spPr>
      </p:sp>
      <p:sp>
        <p:nvSpPr>
          <p:cNvPr id="16" name="Text 14"/>
          <p:cNvSpPr/>
          <p:nvPr/>
        </p:nvSpPr>
        <p:spPr>
          <a:xfrm>
            <a:off x="2377440" y="475488"/>
            <a:ext cx="6675120" cy="256032"/>
          </a:xfrm>
          <a:prstGeom prst="rect">
            <a:avLst/>
          </a:prstGeom>
          <a:noFill/>
          <a:ln/>
        </p:spPr>
        <p:txBody>
          <a:bodyPr wrap="square" lIns="0" tIns="0" rIns="0" bIns="0" rtlCol="0" anchor="ctr"/>
          <a:lstStyle/>
          <a:p>
            <a:pPr indent="0" marL="0">
              <a:buNone/>
            </a:pPr>
            <a:r>
              <a:rPr lang="en-US" sz="900" b="1" spc="100" kern="0" dirty="0">
                <a:solidFill>
                  <a:srgbClr val="4ADE80"/>
                </a:solidFill>
                <a:latin typeface="Calibri" pitchFamily="34" charset="0"/>
                <a:ea typeface="Calibri" pitchFamily="34" charset="-122"/>
                <a:cs typeface="Calibri" pitchFamily="34" charset="-120"/>
              </a:rPr>
              <a:t>✓  ALREADY ANSWERED IN Q8</a:t>
            </a:r>
            <a:endParaRPr lang="en-US" sz="900" dirty="0"/>
          </a:p>
        </p:txBody>
      </p:sp>
      <p:sp>
        <p:nvSpPr>
          <p:cNvPr id="17" name="Shape 15"/>
          <p:cNvSpPr/>
          <p:nvPr/>
        </p:nvSpPr>
        <p:spPr>
          <a:xfrm>
            <a:off x="2240280" y="731520"/>
            <a:ext cx="6903720" cy="658368"/>
          </a:xfrm>
          <a:prstGeom prst="rect">
            <a:avLst/>
          </a:prstGeom>
          <a:solidFill>
            <a:srgbClr val="0D3D2A"/>
          </a:solidFill>
          <a:ln w="12700">
            <a:solidFill>
              <a:srgbClr val="166534"/>
            </a:solidFill>
            <a:prstDash val="solid"/>
          </a:ln>
        </p:spPr>
      </p:sp>
      <p:sp>
        <p:nvSpPr>
          <p:cNvPr id="18" name="Text 16"/>
          <p:cNvSpPr/>
          <p:nvPr/>
        </p:nvSpPr>
        <p:spPr>
          <a:xfrm>
            <a:off x="2395728" y="786384"/>
            <a:ext cx="6583680" cy="548640"/>
          </a:xfrm>
          <a:prstGeom prst="rect">
            <a:avLst/>
          </a:prstGeom>
          <a:noFill/>
          <a:ln/>
        </p:spPr>
        <p:txBody>
          <a:bodyPr wrap="square" lIns="0" tIns="0" rIns="0" bIns="0" rtlCol="0" anchor="t"/>
          <a:lstStyle/>
          <a:p>
            <a:pPr indent="0" marL="0">
              <a:buNone/>
            </a:pPr>
            <a:r>
              <a:rPr lang="en-US" sz="1100" dirty="0">
                <a:solidFill>
                  <a:srgbClr val="86EFAC"/>
                </a:solidFill>
                <a:latin typeface="Calibri" pitchFamily="34" charset="0"/>
                <a:ea typeface="Calibri" pitchFamily="34" charset="-122"/>
                <a:cs typeface="Calibri" pitchFamily="34" charset="-120"/>
              </a:rPr>
              <a:t>Q8 confirmed whether KIT_CABLE_DRAWINGS (A00028083) ships with NA configurations only — or also with EU.</a:t>
            </a:r>
            <a:endParaRPr lang="en-US" sz="1100" dirty="0"/>
          </a:p>
          <a:p>
            <a:pPr indent="0" marL="0">
              <a:buNone/>
            </a:pPr>
            <a:r>
              <a:rPr lang="en-US" sz="1100" dirty="0">
                <a:solidFill>
                  <a:srgbClr val="86EFAC"/>
                </a:solidFill>
                <a:latin typeface="Calibri" pitchFamily="34" charset="0"/>
                <a:ea typeface="Calibri" pitchFamily="34" charset="-122"/>
                <a:cs typeface="Calibri" pitchFamily="34" charset="-120"/>
              </a:rPr>
              <a:t>If the SME said YES to Q8 → Region = NA is confirmed as part of the formula.</a:t>
            </a:r>
            <a:endParaRPr lang="en-US" sz="1100" dirty="0"/>
          </a:p>
        </p:txBody>
      </p:sp>
      <p:sp>
        <p:nvSpPr>
          <p:cNvPr id="19" name="Shape 17"/>
          <p:cNvSpPr/>
          <p:nvPr/>
        </p:nvSpPr>
        <p:spPr>
          <a:xfrm>
            <a:off x="2240280" y="1481328"/>
            <a:ext cx="6903720" cy="256032"/>
          </a:xfrm>
          <a:prstGeom prst="rect">
            <a:avLst/>
          </a:prstGeom>
          <a:solidFill>
            <a:srgbClr val="7C2D12"/>
          </a:solidFill>
          <a:ln w="12700">
            <a:solidFill>
              <a:srgbClr val="EA580C"/>
            </a:solidFill>
            <a:prstDash val="solid"/>
          </a:ln>
        </p:spPr>
      </p:sp>
      <p:sp>
        <p:nvSpPr>
          <p:cNvPr id="20" name="Text 18"/>
          <p:cNvSpPr/>
          <p:nvPr/>
        </p:nvSpPr>
        <p:spPr>
          <a:xfrm>
            <a:off x="2377440" y="1481328"/>
            <a:ext cx="6675120" cy="256032"/>
          </a:xfrm>
          <a:prstGeom prst="rect">
            <a:avLst/>
          </a:prstGeom>
          <a:noFill/>
          <a:ln/>
        </p:spPr>
        <p:txBody>
          <a:bodyPr wrap="square" lIns="0" tIns="0" rIns="0" bIns="0" rtlCol="0" anchor="ctr"/>
          <a:lstStyle/>
          <a:p>
            <a:pPr indent="0" marL="0">
              <a:buNone/>
            </a:pPr>
            <a:r>
              <a:rPr lang="en-US" sz="900" b="1" spc="100" kern="0" dirty="0">
                <a:solidFill>
                  <a:srgbClr val="FED7AA"/>
                </a:solidFill>
                <a:latin typeface="Calibri" pitchFamily="34" charset="0"/>
                <a:ea typeface="Calibri" pitchFamily="34" charset="-122"/>
                <a:cs typeface="Calibri" pitchFamily="34" charset="-120"/>
              </a:rPr>
              <a:t>⚠  STILL OPEN — ONE ADDITIONAL PIECE NEEDED</a:t>
            </a:r>
            <a:endParaRPr lang="en-US" sz="900" dirty="0"/>
          </a:p>
        </p:txBody>
      </p:sp>
      <p:sp>
        <p:nvSpPr>
          <p:cNvPr id="21" name="Shape 19"/>
          <p:cNvSpPr/>
          <p:nvPr/>
        </p:nvSpPr>
        <p:spPr>
          <a:xfrm>
            <a:off x="2240280" y="1737360"/>
            <a:ext cx="6903720" cy="713232"/>
          </a:xfrm>
          <a:prstGeom prst="rect">
            <a:avLst/>
          </a:prstGeom>
          <a:solidFill>
            <a:srgbClr val="431407"/>
          </a:solidFill>
          <a:ln w="12700">
            <a:solidFill>
              <a:srgbClr val="EA580C"/>
            </a:solidFill>
            <a:prstDash val="solid"/>
          </a:ln>
        </p:spPr>
      </p:sp>
      <p:sp>
        <p:nvSpPr>
          <p:cNvPr id="22" name="Text 20"/>
          <p:cNvSpPr/>
          <p:nvPr/>
        </p:nvSpPr>
        <p:spPr>
          <a:xfrm>
            <a:off x="2395728" y="1792224"/>
            <a:ext cx="6583680" cy="603504"/>
          </a:xfrm>
          <a:prstGeom prst="rect">
            <a:avLst/>
          </a:prstGeom>
          <a:noFill/>
          <a:ln/>
        </p:spPr>
        <p:txBody>
          <a:bodyPr wrap="square" lIns="0" tIns="0" rIns="0" bIns="0" rtlCol="0" anchor="t"/>
          <a:lstStyle/>
          <a:p>
            <a:pPr indent="0" marL="0">
              <a:buNone/>
            </a:pPr>
            <a:r>
              <a:rPr lang="en-US" sz="1100" dirty="0">
                <a:solidFill>
                  <a:srgbClr val="FED7AA"/>
                </a:solidFill>
                <a:latin typeface="Calibri" pitchFamily="34" charset="0"/>
                <a:ea typeface="Calibri" pitchFamily="34" charset="-122"/>
                <a:cs typeface="Calibri" pitchFamily="34" charset="-120"/>
              </a:rPr>
              <a:t>Q8 only confirmed Region. It did NOT confirm whether Orientation = LH is also required.</a:t>
            </a:r>
            <a:endParaRPr lang="en-US" sz="1100" dirty="0"/>
          </a:p>
          <a:p>
            <a:pPr indent="0" marL="0">
              <a:buNone/>
            </a:pPr>
            <a:r>
              <a:rPr lang="en-US" sz="1100" dirty="0">
                <a:solidFill>
                  <a:srgbClr val="FED7AA"/>
                </a:solidFill>
                <a:latin typeface="Calibri" pitchFamily="34" charset="0"/>
                <a:ea typeface="Calibri" pitchFamily="34" charset="-122"/>
                <a:cs typeface="Calibri" pitchFamily="34" charset="-120"/>
              </a:rPr>
              <a:t>A00028083 appears in both 32FT LH and 10FT LH — both are LH orientation. We have no NA RH BOM yet to know if an RH machine would also get cable drawings.</a:t>
            </a:r>
            <a:endParaRPr lang="en-US" sz="1100" dirty="0"/>
          </a:p>
        </p:txBody>
      </p:sp>
      <p:sp>
        <p:nvSpPr>
          <p:cNvPr id="23" name="Shape 21"/>
          <p:cNvSpPr/>
          <p:nvPr/>
        </p:nvSpPr>
        <p:spPr>
          <a:xfrm>
            <a:off x="2240280" y="2542032"/>
            <a:ext cx="6903720" cy="347472"/>
          </a:xfrm>
          <a:prstGeom prst="rect">
            <a:avLst/>
          </a:prstGeom>
          <a:solidFill>
            <a:srgbClr val="0D7A6B"/>
          </a:solidFill>
          <a:ln w="12700">
            <a:solidFill>
              <a:srgbClr val="0D7A6B"/>
            </a:solidFill>
            <a:prstDash val="solid"/>
          </a:ln>
        </p:spPr>
      </p:sp>
      <p:sp>
        <p:nvSpPr>
          <p:cNvPr id="24" name="Text 22"/>
          <p:cNvSpPr/>
          <p:nvPr/>
        </p:nvSpPr>
        <p:spPr>
          <a:xfrm>
            <a:off x="2377440" y="2542032"/>
            <a:ext cx="6675120" cy="347472"/>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ASK THIS ONE ADDITIONAL QUESTION</a:t>
            </a:r>
            <a:endParaRPr lang="en-US" sz="1000" dirty="0"/>
          </a:p>
        </p:txBody>
      </p:sp>
      <p:sp>
        <p:nvSpPr>
          <p:cNvPr id="25" name="Shape 23"/>
          <p:cNvSpPr/>
          <p:nvPr/>
        </p:nvSpPr>
        <p:spPr>
          <a:xfrm>
            <a:off x="2240280" y="2889504"/>
            <a:ext cx="6903720" cy="658368"/>
          </a:xfrm>
          <a:prstGeom prst="rect">
            <a:avLst/>
          </a:prstGeom>
          <a:solidFill>
            <a:srgbClr val="0F2744"/>
          </a:solidFill>
          <a:ln w="12700">
            <a:solidFill>
              <a:srgbClr val="0D7A6B"/>
            </a:solidFill>
            <a:prstDash val="solid"/>
          </a:ln>
        </p:spPr>
      </p:sp>
      <p:sp>
        <p:nvSpPr>
          <p:cNvPr id="26" name="Text 24"/>
          <p:cNvSpPr/>
          <p:nvPr/>
        </p:nvSpPr>
        <p:spPr>
          <a:xfrm>
            <a:off x="2395728" y="2944368"/>
            <a:ext cx="6583680" cy="548640"/>
          </a:xfrm>
          <a:prstGeom prst="rect">
            <a:avLst/>
          </a:prstGeom>
          <a:noFill/>
          <a:ln/>
        </p:spPr>
        <p:txBody>
          <a:bodyPr wrap="square" lIns="0" tIns="0" rIns="0" bIns="0" rtlCol="0" anchor="ctr"/>
          <a:lstStyle/>
          <a:p>
            <a:pPr indent="0" marL="0">
              <a:buNone/>
            </a:pPr>
            <a:r>
              <a:rPr lang="en-US" sz="1400" b="1" i="1" dirty="0">
                <a:solidFill>
                  <a:srgbClr val="FFFFFF"/>
                </a:solidFill>
                <a:latin typeface="Calibri" pitchFamily="34" charset="0"/>
                <a:ea typeface="Calibri" pitchFamily="34" charset="-122"/>
                <a:cs typeface="Calibri" pitchFamily="34" charset="-120"/>
              </a:rPr>
              <a:t>"If a 32FT RH NA machine were ordered — would it also receive the cable drawings kit?"</a:t>
            </a:r>
            <a:endParaRPr lang="en-US" sz="1400" dirty="0"/>
          </a:p>
        </p:txBody>
      </p:sp>
      <p:sp>
        <p:nvSpPr>
          <p:cNvPr id="27" name="Shape 25"/>
          <p:cNvSpPr/>
          <p:nvPr/>
        </p:nvSpPr>
        <p:spPr>
          <a:xfrm>
            <a:off x="2240280" y="3639312"/>
            <a:ext cx="3364992" cy="1115568"/>
          </a:xfrm>
          <a:prstGeom prst="rect">
            <a:avLst/>
          </a:prstGeom>
          <a:solidFill>
            <a:srgbClr val="052E16"/>
          </a:solidFill>
          <a:ln w="12700">
            <a:solidFill>
              <a:srgbClr val="166534"/>
            </a:solidFill>
            <a:prstDash val="solid"/>
          </a:ln>
          <a:effectLst>
            <a:outerShdw sx="100000" sy="100000" kx="0" ky="0" algn="bl" rotWithShape="0" blurRad="101600" dist="25400" dir="8100000">
              <a:srgbClr val="000000">
                <a:alpha val="10000"/>
              </a:srgbClr>
            </a:outerShdw>
          </a:effectLst>
        </p:spPr>
      </p:sp>
      <p:sp>
        <p:nvSpPr>
          <p:cNvPr id="28" name="Text 26"/>
          <p:cNvSpPr/>
          <p:nvPr/>
        </p:nvSpPr>
        <p:spPr>
          <a:xfrm>
            <a:off x="2359152" y="3694176"/>
            <a:ext cx="3145536" cy="219456"/>
          </a:xfrm>
          <a:prstGeom prst="rect">
            <a:avLst/>
          </a:prstGeom>
          <a:noFill/>
          <a:ln/>
        </p:spPr>
        <p:txBody>
          <a:bodyPr wrap="square" lIns="0" tIns="0" rIns="0" bIns="0" rtlCol="0" anchor="ctr"/>
          <a:lstStyle/>
          <a:p>
            <a:pPr indent="0" marL="0">
              <a:buNone/>
            </a:pPr>
            <a:r>
              <a:rPr lang="en-US" sz="800" b="1" spc="100" kern="0" dirty="0">
                <a:solidFill>
                  <a:srgbClr val="4ADE80"/>
                </a:solidFill>
                <a:latin typeface="Calibri" pitchFamily="34" charset="0"/>
                <a:ea typeface="Calibri" pitchFamily="34" charset="-122"/>
                <a:cs typeface="Calibri" pitchFamily="34" charset="-120"/>
              </a:rPr>
              <a:t>IF YES — RH also gets drawings</a:t>
            </a:r>
            <a:endParaRPr lang="en-US" sz="800" dirty="0"/>
          </a:p>
        </p:txBody>
      </p:sp>
      <p:sp>
        <p:nvSpPr>
          <p:cNvPr id="29" name="Text 27"/>
          <p:cNvSpPr/>
          <p:nvPr/>
        </p:nvSpPr>
        <p:spPr>
          <a:xfrm>
            <a:off x="2359152" y="3931920"/>
            <a:ext cx="3145536" cy="749808"/>
          </a:xfrm>
          <a:prstGeom prst="rect">
            <a:avLst/>
          </a:prstGeom>
          <a:noFill/>
          <a:ln/>
        </p:spPr>
        <p:txBody>
          <a:bodyPr wrap="square" lIns="0" tIns="0" rIns="0" bIns="0" rtlCol="0" anchor="t"/>
          <a:lstStyle/>
          <a:p>
            <a:pPr indent="0" marL="0">
              <a:buNone/>
            </a:pPr>
            <a:r>
              <a:rPr lang="en-US" sz="1100" dirty="0">
                <a:solidFill>
                  <a:srgbClr val="86EFAC"/>
                </a:solidFill>
                <a:latin typeface="Calibri" pitchFamily="34" charset="0"/>
                <a:ea typeface="Calibri" pitchFamily="34" charset="-122"/>
                <a:cs typeface="Calibri" pitchFamily="34" charset="-120"/>
              </a:rPr>
              <a:t>Formula = Region = NA only</a:t>
            </a:r>
            <a:endParaRPr lang="en-US" sz="1100" dirty="0"/>
          </a:p>
          <a:p>
            <a:pPr indent="0" marL="0">
              <a:buNone/>
            </a:pPr>
            <a:r>
              <a:rPr lang="en-US" sz="1100" dirty="0">
                <a:solidFill>
                  <a:srgbClr val="86EFAC"/>
                </a:solidFill>
                <a:latin typeface="Calibri" pitchFamily="34" charset="0"/>
                <a:ea typeface="Calibri" pitchFamily="34" charset="-122"/>
                <a:cs typeface="Calibri" pitchFamily="34" charset="-120"/>
              </a:rPr>
              <a:t>Orientation is NOT a driver</a:t>
            </a:r>
            <a:endParaRPr lang="en-US" sz="1100" dirty="0"/>
          </a:p>
          <a:p>
            <a:pPr indent="0" marL="0">
              <a:buNone/>
            </a:pPr>
            <a:r>
              <a:rPr lang="en-US" sz="1100" dirty="0">
                <a:solidFill>
                  <a:srgbClr val="86EFAC"/>
                </a:solidFill>
                <a:latin typeface="Calibri" pitchFamily="34" charset="0"/>
                <a:ea typeface="Calibri" pitchFamily="34" charset="-122"/>
                <a:cs typeface="Calibri" pitchFamily="34" charset="-120"/>
              </a:rPr>
              <a:t>Both RH and LH get cable drawings in NA</a:t>
            </a:r>
            <a:endParaRPr lang="en-US" sz="1100" dirty="0"/>
          </a:p>
        </p:txBody>
      </p:sp>
      <p:sp>
        <p:nvSpPr>
          <p:cNvPr id="30" name="Shape 28"/>
          <p:cNvSpPr/>
          <p:nvPr/>
        </p:nvSpPr>
        <p:spPr>
          <a:xfrm>
            <a:off x="5779008" y="3639312"/>
            <a:ext cx="3364992" cy="1115568"/>
          </a:xfrm>
          <a:prstGeom prst="rect">
            <a:avLst/>
          </a:prstGeom>
          <a:solidFill>
            <a:srgbClr val="431407"/>
          </a:solidFill>
          <a:ln w="12700">
            <a:solidFill>
              <a:srgbClr val="EA580C"/>
            </a:solidFill>
            <a:prstDash val="solid"/>
          </a:ln>
          <a:effectLst>
            <a:outerShdw sx="100000" sy="100000" kx="0" ky="0" algn="bl" rotWithShape="0" blurRad="101600" dist="25400" dir="8100000">
              <a:srgbClr val="000000">
                <a:alpha val="10000"/>
              </a:srgbClr>
            </a:outerShdw>
          </a:effectLst>
        </p:spPr>
      </p:sp>
      <p:sp>
        <p:nvSpPr>
          <p:cNvPr id="31" name="Text 29"/>
          <p:cNvSpPr/>
          <p:nvPr/>
        </p:nvSpPr>
        <p:spPr>
          <a:xfrm>
            <a:off x="5897880" y="3694176"/>
            <a:ext cx="3145536" cy="219456"/>
          </a:xfrm>
          <a:prstGeom prst="rect">
            <a:avLst/>
          </a:prstGeom>
          <a:noFill/>
          <a:ln/>
        </p:spPr>
        <p:txBody>
          <a:bodyPr wrap="square" lIns="0" tIns="0" rIns="0" bIns="0" rtlCol="0" anchor="ctr"/>
          <a:lstStyle/>
          <a:p>
            <a:pPr indent="0" marL="0">
              <a:buNone/>
            </a:pPr>
            <a:r>
              <a:rPr lang="en-US" sz="800" b="1" spc="100" kern="0" dirty="0">
                <a:solidFill>
                  <a:srgbClr val="FED7AA"/>
                </a:solidFill>
                <a:latin typeface="Calibri" pitchFamily="34" charset="0"/>
                <a:ea typeface="Calibri" pitchFamily="34" charset="-122"/>
                <a:cs typeface="Calibri" pitchFamily="34" charset="-120"/>
              </a:rPr>
              <a:t>IF NO — LH only gets drawings</a:t>
            </a:r>
            <a:endParaRPr lang="en-US" sz="800" dirty="0"/>
          </a:p>
        </p:txBody>
      </p:sp>
      <p:sp>
        <p:nvSpPr>
          <p:cNvPr id="32" name="Text 30"/>
          <p:cNvSpPr/>
          <p:nvPr/>
        </p:nvSpPr>
        <p:spPr>
          <a:xfrm>
            <a:off x="5897880" y="3931920"/>
            <a:ext cx="3145536" cy="749808"/>
          </a:xfrm>
          <a:prstGeom prst="rect">
            <a:avLst/>
          </a:prstGeom>
          <a:noFill/>
          <a:ln/>
        </p:spPr>
        <p:txBody>
          <a:bodyPr wrap="square" lIns="0" tIns="0" rIns="0" bIns="0" rtlCol="0" anchor="t"/>
          <a:lstStyle/>
          <a:p>
            <a:pPr indent="0" marL="0">
              <a:buNone/>
            </a:pPr>
            <a:r>
              <a:rPr lang="en-US" sz="1100" dirty="0">
                <a:solidFill>
                  <a:srgbClr val="FED7AA"/>
                </a:solidFill>
                <a:latin typeface="Calibri" pitchFamily="34" charset="0"/>
                <a:ea typeface="Calibri" pitchFamily="34" charset="-122"/>
                <a:cs typeface="Calibri" pitchFamily="34" charset="-120"/>
              </a:rPr>
              <a:t>Formula = Region = NA AND Orientation = LH</a:t>
            </a:r>
            <a:endParaRPr lang="en-US" sz="1100" dirty="0"/>
          </a:p>
          <a:p>
            <a:pPr indent="0" marL="0">
              <a:buNone/>
            </a:pPr>
            <a:r>
              <a:rPr lang="en-US" sz="1100" dirty="0">
                <a:solidFill>
                  <a:srgbClr val="FED7AA"/>
                </a:solidFill>
                <a:latin typeface="Calibri" pitchFamily="34" charset="0"/>
                <a:ea typeface="Calibri" pitchFamily="34" charset="-122"/>
                <a:cs typeface="Calibri" pitchFamily="34" charset="-120"/>
              </a:rPr>
              <a:t>RH machines do not receive cable drawings</a:t>
            </a:r>
            <a:endParaRPr lang="en-US" sz="1100" dirty="0"/>
          </a:p>
          <a:p>
            <a:pPr indent="0" marL="0">
              <a:buNone/>
            </a:pPr>
            <a:r>
              <a:rPr lang="en-US" sz="1100" dirty="0">
                <a:solidFill>
                  <a:srgbClr val="FED7AA"/>
                </a:solidFill>
                <a:latin typeface="Calibri" pitchFamily="34" charset="0"/>
                <a:ea typeface="Calibri" pitchFamily="34" charset="-122"/>
                <a:cs typeface="Calibri" pitchFamily="34" charset="-120"/>
              </a:rPr>
              <a:t>Orientation IS a driver</a:t>
            </a:r>
            <a:endParaRPr lang="en-US" sz="1100" dirty="0"/>
          </a:p>
        </p:txBody>
      </p:sp>
      <p:sp>
        <p:nvSpPr>
          <p:cNvPr id="33" name="Shape 31"/>
          <p:cNvSpPr/>
          <p:nvPr/>
        </p:nvSpPr>
        <p:spPr>
          <a:xfrm>
            <a:off x="0" y="4974336"/>
            <a:ext cx="9144000" cy="169164"/>
          </a:xfrm>
          <a:prstGeom prst="rect">
            <a:avLst/>
          </a:prstGeom>
          <a:solidFill>
            <a:srgbClr val="0D7A6B"/>
          </a:solidFill>
          <a:ln w="12700">
            <a:solidFill>
              <a:srgbClr val="0D7A6B"/>
            </a:solidFill>
            <a:prstDash val="solid"/>
          </a:ln>
        </p:spPr>
      </p:sp>
      <p:sp>
        <p:nvSpPr>
          <p:cNvPr id="34" name="Text 32"/>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1B2A4A"/>
          </a:solidFill>
          <a:ln w="12700">
            <a:solidFill>
              <a:srgbClr val="1B2A4A"/>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800" b="1" dirty="0">
                <a:solidFill>
                  <a:srgbClr val="FFFFFF"/>
                </a:solidFill>
                <a:latin typeface="Consolas" pitchFamily="34" charset="0"/>
                <a:ea typeface="Consolas" pitchFamily="34" charset="-122"/>
                <a:cs typeface="Consolas" pitchFamily="34" charset="-120"/>
              </a:rPr>
              <a:t>Q14</a:t>
            </a:r>
            <a:endParaRPr lang="en-US" sz="68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FEF3C7"/>
          </a:solidFill>
          <a:ln w="12700">
            <a:solidFill>
              <a:srgbClr val="92400E"/>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92400E"/>
                </a:solidFill>
                <a:latin typeface="Calibri" pitchFamily="34" charset="0"/>
                <a:ea typeface="Calibri" pitchFamily="34" charset="-122"/>
                <a:cs typeface="Calibri" pitchFamily="34" charset="-120"/>
              </a:rPr>
              <a:t>MEDIUM</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64748B"/>
                </a:solidFill>
                <a:latin typeface="Calibri" pitchFamily="34" charset="0"/>
                <a:ea typeface="Calibri" pitchFamily="34" charset="-122"/>
                <a:cs typeface="Calibri" pitchFamily="34" charset="-120"/>
              </a:rPr>
              <a:t>INFEED EXTENSION</a:t>
            </a:r>
            <a:endParaRPr lang="en-US" sz="800" dirty="0"/>
          </a:p>
        </p:txBody>
      </p:sp>
      <p:sp>
        <p:nvSpPr>
          <p:cNvPr id="8" name="Shape 6"/>
          <p:cNvSpPr/>
          <p:nvPr/>
        </p:nvSpPr>
        <p:spPr>
          <a:xfrm>
            <a:off x="256032" y="2267712"/>
            <a:ext cx="1591056" cy="347472"/>
          </a:xfrm>
          <a:prstGeom prst="rect">
            <a:avLst/>
          </a:prstGeom>
          <a:solidFill>
            <a:srgbClr val="0F3460"/>
          </a:solidFill>
          <a:ln w="12700">
            <a:solidFill>
              <a:srgbClr val="0F3460"/>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4 min</a:t>
            </a:r>
            <a:endParaRPr lang="en-US" sz="1300" dirty="0"/>
          </a:p>
        </p:txBody>
      </p:sp>
      <p:sp>
        <p:nvSpPr>
          <p:cNvPr id="10" name="Shape 8"/>
          <p:cNvSpPr/>
          <p:nvPr/>
        </p:nvSpPr>
        <p:spPr>
          <a:xfrm>
            <a:off x="164592" y="2788920"/>
            <a:ext cx="1773936" cy="1417320"/>
          </a:xfrm>
          <a:prstGeom prst="rect">
            <a:avLst/>
          </a:prstGeom>
          <a:solidFill>
            <a:srgbClr val="1E3A5F"/>
          </a:solidFill>
          <a:ln w="12700">
            <a:solidFill>
              <a:srgbClr val="1E3A5F"/>
            </a:solidFill>
            <a:prstDash val="solid"/>
          </a:ln>
        </p:spPr>
      </p:sp>
      <p:sp>
        <p:nvSpPr>
          <p:cNvPr id="11" name="Text 9"/>
          <p:cNvSpPr/>
          <p:nvPr/>
        </p:nvSpPr>
        <p:spPr>
          <a:xfrm>
            <a:off x="164592" y="2834640"/>
            <a:ext cx="1773936" cy="201168"/>
          </a:xfrm>
          <a:prstGeom prst="rect">
            <a:avLst/>
          </a:prstGeom>
          <a:noFill/>
          <a:ln/>
        </p:spPr>
        <p:txBody>
          <a:bodyPr wrap="square" lIns="0" tIns="0" rIns="0" bIns="0" rtlCol="0" anchor="ctr"/>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IF STUCK</a:t>
            </a:r>
            <a:endParaRPr lang="en-US" sz="700" dirty="0"/>
          </a:p>
        </p:txBody>
      </p:sp>
      <p:sp>
        <p:nvSpPr>
          <p:cNvPr id="12" name="Text 10"/>
          <p:cNvSpPr/>
          <p:nvPr/>
        </p:nvSpPr>
        <p:spPr>
          <a:xfrm>
            <a:off x="228600" y="3054096"/>
            <a:ext cx="1645920" cy="1097280"/>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Ask physically:</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"Is the infeed conveyor belt the same length on a 10FT machine as on a 32FT machine?"</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This removes BOM language entirely — a mechanical engineer will know the answer immediately.</a:t>
            </a:r>
            <a:endParaRPr lang="en-US" sz="900" dirty="0"/>
          </a:p>
        </p:txBody>
      </p:sp>
      <p:sp>
        <p:nvSpPr>
          <p:cNvPr id="13" name="Shape 11"/>
          <p:cNvSpPr/>
          <p:nvPr/>
        </p:nvSpPr>
        <p:spPr>
          <a:xfrm>
            <a:off x="164592" y="4315968"/>
            <a:ext cx="1773936" cy="658368"/>
          </a:xfrm>
          <a:prstGeom prst="rect">
            <a:avLst/>
          </a:prstGeom>
          <a:solidFill>
            <a:srgbClr val="0D7A6B"/>
          </a:solidFill>
          <a:ln w="12700">
            <a:solidFill>
              <a:srgbClr val="0D7A6B"/>
            </a:solidFill>
            <a:prstDash val="solid"/>
          </a:ln>
        </p:spPr>
      </p:sp>
      <p:sp>
        <p:nvSpPr>
          <p:cNvPr id="14" name="Text 12"/>
          <p:cNvSpPr/>
          <p:nvPr/>
        </p:nvSpPr>
        <p:spPr>
          <a:xfrm>
            <a:off x="164592" y="4343400"/>
            <a:ext cx="1773936" cy="201168"/>
          </a:xfrm>
          <a:prstGeom prst="rect">
            <a:avLst/>
          </a:prstGeom>
          <a:noFill/>
          <a:ln/>
        </p:spPr>
        <p:txBody>
          <a:bodyPr wrap="square" lIns="0" tIns="0" rIns="0" bIns="0" rtlCol="0" anchor="ctr"/>
          <a:lstStyle/>
          <a:p>
            <a:pPr algn="ctr" indent="0" marL="0">
              <a:buNone/>
            </a:pPr>
            <a:r>
              <a:rPr lang="en-US" sz="700" spc="200" kern="0" dirty="0">
                <a:solidFill>
                  <a:srgbClr val="A7F3D0"/>
                </a:solidFill>
                <a:latin typeface="Calibri" pitchFamily="34" charset="0"/>
                <a:ea typeface="Calibri" pitchFamily="34" charset="-122"/>
                <a:cs typeface="Calibri" pitchFamily="34" charset="-120"/>
              </a:rPr>
              <a:t>TC ACTION</a:t>
            </a:r>
            <a:endParaRPr lang="en-US" sz="700" dirty="0"/>
          </a:p>
        </p:txBody>
      </p:sp>
      <p:sp>
        <p:nvSpPr>
          <p:cNvPr id="15" name="Text 13"/>
          <p:cNvSpPr/>
          <p:nvPr/>
        </p:nvSpPr>
        <p:spPr>
          <a:xfrm>
            <a:off x="201168" y="4553712"/>
            <a:ext cx="1719072" cy="384048"/>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YES: A00030044, A00029701, A00029756 get Length = 32Ft sub-condition within Infeed kit</a:t>
            </a:r>
            <a:endParaRPr lang="en-US" sz="900" dirty="0"/>
          </a:p>
          <a:p>
            <a:pPr indent="0" marL="0">
              <a:buNone/>
            </a:pP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NO: No formula change — raise BOM correction: 3 parts missing from 10FT BOM</a:t>
            </a:r>
            <a:endParaRPr lang="en-US" sz="900" dirty="0"/>
          </a:p>
        </p:txBody>
      </p:sp>
      <p:sp>
        <p:nvSpPr>
          <p:cNvPr id="16" name="Shape 14"/>
          <p:cNvSpPr/>
          <p:nvPr/>
        </p:nvSpPr>
        <p:spPr>
          <a:xfrm>
            <a:off x="2240280" y="0"/>
            <a:ext cx="6720840" cy="384048"/>
          </a:xfrm>
          <a:prstGeom prst="rect">
            <a:avLst/>
          </a:prstGeom>
          <a:solidFill>
            <a:srgbClr val="0D7A6B"/>
          </a:solidFill>
          <a:ln w="12700">
            <a:solidFill>
              <a:srgbClr val="0D7A6B"/>
            </a:solidFill>
            <a:prstDash val="solid"/>
          </a:ln>
        </p:spPr>
      </p:sp>
      <p:sp>
        <p:nvSpPr>
          <p:cNvPr id="17" name="Text 15"/>
          <p:cNvSpPr/>
          <p:nvPr/>
        </p:nvSpPr>
        <p:spPr>
          <a:xfrm>
            <a:off x="2377440" y="0"/>
            <a:ext cx="64465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Infeed Extension Sub-assemblies — Is the 10FT version shorter than 32FT?</a:t>
            </a:r>
            <a:endParaRPr lang="en-US" sz="1400" dirty="0"/>
          </a:p>
        </p:txBody>
      </p:sp>
      <p:sp>
        <p:nvSpPr>
          <p:cNvPr id="18" name="Shape 16"/>
          <p:cNvSpPr/>
          <p:nvPr/>
        </p:nvSpPr>
        <p:spPr>
          <a:xfrm>
            <a:off x="2240280" y="438912"/>
            <a:ext cx="6720840" cy="822960"/>
          </a:xfrm>
          <a:prstGeom prst="rect">
            <a:avLst/>
          </a:prstGeom>
          <a:solidFill>
            <a:srgbClr val="FFFFFF"/>
          </a:solidFill>
          <a:ln w="12700">
            <a:solidFill>
              <a:srgbClr val="CBD5E1"/>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2240280" y="438912"/>
            <a:ext cx="54864" cy="822960"/>
          </a:xfrm>
          <a:prstGeom prst="rect">
            <a:avLst/>
          </a:prstGeom>
          <a:solidFill>
            <a:srgbClr val="1B2A4A"/>
          </a:solidFill>
          <a:ln w="12700">
            <a:solidFill>
              <a:srgbClr val="1B2A4A"/>
            </a:solidFill>
            <a:prstDash val="solid"/>
          </a:ln>
        </p:spPr>
      </p:sp>
      <p:sp>
        <p:nvSpPr>
          <p:cNvPr id="20" name="Text 18"/>
          <p:cNvSpPr/>
          <p:nvPr/>
        </p:nvSpPr>
        <p:spPr>
          <a:xfrm>
            <a:off x="2377440" y="493776"/>
            <a:ext cx="1097280" cy="182880"/>
          </a:xfrm>
          <a:prstGeom prst="rect">
            <a:avLst/>
          </a:prstGeom>
          <a:noFill/>
          <a:ln/>
        </p:spPr>
        <p:txBody>
          <a:bodyPr wrap="square" lIns="0" tIns="0" rIns="0" bIns="0" rtlCol="0" anchor="ctr"/>
          <a:lstStyle/>
          <a:p>
            <a:pPr indent="0" marL="0">
              <a:buNone/>
            </a:pPr>
            <a:r>
              <a:rPr lang="en-US" sz="700" b="1" spc="200" kern="0" dirty="0">
                <a:solidFill>
                  <a:srgbClr val="1B2A4A"/>
                </a:solidFill>
                <a:latin typeface="Calibri" pitchFamily="34" charset="0"/>
                <a:ea typeface="Calibri" pitchFamily="34" charset="-122"/>
                <a:cs typeface="Calibri" pitchFamily="34" charset="-120"/>
              </a:rPr>
              <a:t>SAY TO OPEN</a:t>
            </a:r>
            <a:endParaRPr lang="en-US" sz="700" dirty="0"/>
          </a:p>
        </p:txBody>
      </p:sp>
      <p:sp>
        <p:nvSpPr>
          <p:cNvPr id="21" name="Text 19"/>
          <p:cNvSpPr/>
          <p:nvPr/>
        </p:nvSpPr>
        <p:spPr>
          <a:xfrm>
            <a:off x="2377440" y="694944"/>
            <a:ext cx="6492240" cy="521208"/>
          </a:xfrm>
          <a:prstGeom prst="rect">
            <a:avLst/>
          </a:prstGeom>
          <a:noFill/>
          <a:ln/>
        </p:spPr>
        <p:txBody>
          <a:bodyPr wrap="square" lIns="0" tIns="0" rIns="0" bIns="0" rtlCol="0" anchor="t"/>
          <a:lstStyle/>
          <a:p>
            <a:pPr indent="0" marL="0">
              <a:buNone/>
            </a:pPr>
            <a:r>
              <a:rPr lang="en-US" sz="1200" i="1" dirty="0">
                <a:solidFill>
                  <a:srgbClr val="1B2A4A"/>
                </a:solidFill>
                <a:latin typeface="Calibri" pitchFamily="34" charset="0"/>
                <a:ea typeface="Calibri" pitchFamily="34" charset="-122"/>
                <a:cs typeface="Calibri" pitchFamily="34" charset="-120"/>
              </a:rPr>
              <a:t>We confirmed in Q2 that ASSY_KIT_CONVEYOR_INFEED_EXTENSION ships whenever Infeed = Yes. But inside that kit, the 32FT BOM has 3 frame parts missing from the 10FT version — ASSY_FRAME_CONVEYOR (A00030044) and two PLATE_BED parts.</a:t>
            </a:r>
            <a:endParaRPr lang="en-US" sz="1200" dirty="0"/>
          </a:p>
        </p:txBody>
      </p:sp>
      <p:sp>
        <p:nvSpPr>
          <p:cNvPr id="22" name="Shape 20"/>
          <p:cNvSpPr/>
          <p:nvPr/>
        </p:nvSpPr>
        <p:spPr>
          <a:xfrm>
            <a:off x="2240280" y="1298448"/>
            <a:ext cx="6720840" cy="530352"/>
          </a:xfrm>
          <a:prstGeom prst="rect">
            <a:avLst/>
          </a:prstGeom>
          <a:solidFill>
            <a:srgbClr val="EFF6FF"/>
          </a:solidFill>
          <a:ln w="12700">
            <a:solidFill>
              <a:srgbClr val="BFDBFE"/>
            </a:solidFill>
            <a:prstDash val="solid"/>
          </a:ln>
        </p:spPr>
      </p:sp>
      <p:sp>
        <p:nvSpPr>
          <p:cNvPr id="23" name="Text 21"/>
          <p:cNvSpPr/>
          <p:nvPr/>
        </p:nvSpPr>
        <p:spPr>
          <a:xfrm>
            <a:off x="2377440" y="1362456"/>
            <a:ext cx="1828800" cy="182880"/>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SHOW ON BOM VIEWER</a:t>
            </a:r>
            <a:endParaRPr lang="en-US" sz="700" dirty="0"/>
          </a:p>
        </p:txBody>
      </p:sp>
      <p:sp>
        <p:nvSpPr>
          <p:cNvPr id="24" name="Text 22"/>
          <p:cNvSpPr/>
          <p:nvPr/>
        </p:nvSpPr>
        <p:spPr>
          <a:xfrm>
            <a:off x="2377440" y="1554480"/>
            <a:ext cx="6492240" cy="228600"/>
          </a:xfrm>
          <a:prstGeom prst="rect">
            <a:avLst/>
          </a:prstGeom>
          <a:noFill/>
          <a:ln/>
        </p:spPr>
        <p:txBody>
          <a:bodyPr wrap="square" lIns="0" tIns="0" rIns="0" bIns="0" rtlCol="0" anchor="t"/>
          <a:lstStyle/>
          <a:p>
            <a:pPr indent="0" marL="0">
              <a:buNone/>
            </a:pPr>
            <a:r>
              <a:rPr lang="en-US" sz="1100" dirty="0">
                <a:solidFill>
                  <a:srgbClr val="1E40AF"/>
                </a:solidFill>
                <a:latin typeface="Consolas" pitchFamily="34" charset="0"/>
                <a:ea typeface="Consolas" pitchFamily="34" charset="-122"/>
                <a:cs typeface="Consolas" pitchFamily="34" charset="-120"/>
              </a:rPr>
              <a:t>Search A00030044 in 150% BOM → show it in 32FT LH branch only — not in 10FT</a:t>
            </a:r>
            <a:endParaRPr lang="en-US" sz="1100" dirty="0"/>
          </a:p>
          <a:p>
            <a:pPr indent="0" marL="0">
              <a:buNone/>
            </a:pPr>
            <a:r>
              <a:rPr lang="en-US" sz="1100" dirty="0">
                <a:solidFill>
                  <a:srgbClr val="1E40AF"/>
                </a:solidFill>
                <a:latin typeface="Consolas" pitchFamily="34" charset="0"/>
                <a:ea typeface="Consolas" pitchFamily="34" charset="-122"/>
                <a:cs typeface="Consolas" pitchFamily="34" charset="-120"/>
              </a:rPr>
              <a:t>Search A00029701 → same — 32FT only</a:t>
            </a:r>
            <a:endParaRPr lang="en-US" sz="1100" dirty="0"/>
          </a:p>
          <a:p>
            <a:pPr indent="0" marL="0">
              <a:buNone/>
            </a:pPr>
            <a:r>
              <a:rPr lang="en-US" sz="1100" dirty="0">
                <a:solidFill>
                  <a:srgbClr val="1E40AF"/>
                </a:solidFill>
                <a:latin typeface="Consolas" pitchFamily="34" charset="0"/>
                <a:ea typeface="Consolas" pitchFamily="34" charset="-122"/>
                <a:cs typeface="Consolas" pitchFamily="34" charset="-120"/>
              </a:rPr>
              <a:t>Search A00029756 → same — 32FT only</a:t>
            </a:r>
            <a:endParaRPr lang="en-US" sz="1100" dirty="0"/>
          </a:p>
        </p:txBody>
      </p:sp>
      <p:sp>
        <p:nvSpPr>
          <p:cNvPr id="25" name="Shape 23"/>
          <p:cNvSpPr/>
          <p:nvPr/>
        </p:nvSpPr>
        <p:spPr>
          <a:xfrm>
            <a:off x="2240280" y="1865376"/>
            <a:ext cx="6720840" cy="621792"/>
          </a:xfrm>
          <a:prstGeom prst="rect">
            <a:avLst/>
          </a:prstGeom>
          <a:solidFill>
            <a:srgbClr val="1B2A4A"/>
          </a:solidFill>
          <a:ln w="12700">
            <a:solidFill>
              <a:srgbClr val="1B2A4A"/>
            </a:solidFill>
            <a:prstDash val="solid"/>
          </a:ln>
        </p:spPr>
      </p:sp>
      <p:sp>
        <p:nvSpPr>
          <p:cNvPr id="26" name="Text 24"/>
          <p:cNvSpPr/>
          <p:nvPr/>
        </p:nvSpPr>
        <p:spPr>
          <a:xfrm>
            <a:off x="2377440" y="1929384"/>
            <a:ext cx="1828800" cy="182880"/>
          </a:xfrm>
          <a:prstGeom prst="rect">
            <a:avLst/>
          </a:prstGeom>
          <a:noFill/>
          <a:ln/>
        </p:spPr>
        <p:txBody>
          <a:bodyPr wrap="square" lIns="0" tIns="0" rIns="0" bIns="0" rtlCol="0" anchor="ctr"/>
          <a:lstStyle/>
          <a:p>
            <a:pPr indent="0" marL="0">
              <a:buNone/>
            </a:pPr>
            <a:r>
              <a:rPr lang="en-US" sz="700" b="1" spc="200" kern="0" dirty="0">
                <a:solidFill>
                  <a:srgbClr val="94A3B8"/>
                </a:solidFill>
                <a:latin typeface="Calibri" pitchFamily="34" charset="0"/>
                <a:ea typeface="Calibri" pitchFamily="34" charset="-122"/>
                <a:cs typeface="Calibri" pitchFamily="34" charset="-120"/>
              </a:rPr>
              <a:t>ASK EXACTLY THIS</a:t>
            </a:r>
            <a:endParaRPr lang="en-US" sz="700" dirty="0"/>
          </a:p>
        </p:txBody>
      </p:sp>
      <p:sp>
        <p:nvSpPr>
          <p:cNvPr id="27" name="Text 25"/>
          <p:cNvSpPr/>
          <p:nvPr/>
        </p:nvSpPr>
        <p:spPr>
          <a:xfrm>
            <a:off x="2377440" y="2103120"/>
            <a:ext cx="6492240" cy="347472"/>
          </a:xfrm>
          <a:prstGeom prst="rect">
            <a:avLst/>
          </a:prstGeom>
          <a:noFill/>
          <a:ln/>
        </p:spPr>
        <p:txBody>
          <a:bodyPr wrap="square" lIns="0" tIns="0" rIns="0" bIns="0" rtlCol="0" anchor="t"/>
          <a:lstStyle/>
          <a:p>
            <a:pPr indent="0" marL="0">
              <a:buNone/>
            </a:pPr>
            <a:r>
              <a:rPr lang="en-US" sz="1200" b="1" i="1" dirty="0">
                <a:solidFill>
                  <a:srgbClr val="FFFFFF"/>
                </a:solidFill>
                <a:latin typeface="Calibri" pitchFamily="34" charset="0"/>
                <a:ea typeface="Calibri" pitchFamily="34" charset="-122"/>
                <a:cs typeface="Calibri" pitchFamily="34" charset="-120"/>
              </a:rPr>
              <a:t>"Does the 10FT infeed extension use a shorter conveyor than the 32FT — or are those missing parts a BOM authoring gap?"</a:t>
            </a:r>
            <a:endParaRPr lang="en-US" sz="1200" dirty="0"/>
          </a:p>
        </p:txBody>
      </p:sp>
      <p:sp>
        <p:nvSpPr>
          <p:cNvPr id="28" name="Shape 26"/>
          <p:cNvSpPr/>
          <p:nvPr/>
        </p:nvSpPr>
        <p:spPr>
          <a:xfrm>
            <a:off x="2240280" y="2542032"/>
            <a:ext cx="3332988" cy="2423160"/>
          </a:xfrm>
          <a:prstGeom prst="rect">
            <a:avLst/>
          </a:prstGeom>
          <a:solidFill>
            <a:srgbClr val="FFFFFF"/>
          </a:solidFill>
          <a:ln w="12700">
            <a:solidFill>
              <a:srgbClr val="86EFAC"/>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240280" y="2542032"/>
            <a:ext cx="3332988" cy="256032"/>
          </a:xfrm>
          <a:prstGeom prst="rect">
            <a:avLst/>
          </a:prstGeom>
          <a:solidFill>
            <a:srgbClr val="065F46"/>
          </a:solidFill>
          <a:ln w="12700">
            <a:solidFill>
              <a:srgbClr val="065F46"/>
            </a:solidFill>
            <a:prstDash val="solid"/>
          </a:ln>
        </p:spPr>
      </p:sp>
      <p:sp>
        <p:nvSpPr>
          <p:cNvPr id="30" name="Text 28"/>
          <p:cNvSpPr/>
          <p:nvPr/>
        </p:nvSpPr>
        <p:spPr>
          <a:xfrm>
            <a:off x="2350008"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YES</a:t>
            </a:r>
            <a:endParaRPr lang="en-US" sz="900" dirty="0"/>
          </a:p>
        </p:txBody>
      </p:sp>
      <p:sp>
        <p:nvSpPr>
          <p:cNvPr id="31" name="Text 29"/>
          <p:cNvSpPr/>
          <p:nvPr/>
        </p:nvSpPr>
        <p:spPr>
          <a:xfrm>
            <a:off x="2350008" y="2834640"/>
            <a:ext cx="3150108" cy="694944"/>
          </a:xfrm>
          <a:prstGeom prst="rect">
            <a:avLst/>
          </a:prstGeom>
          <a:noFill/>
          <a:ln/>
        </p:spPr>
        <p:txBody>
          <a:bodyPr wrap="square" lIns="0" tIns="0" rIns="0" bIns="0" rtlCol="0" anchor="t"/>
          <a:lstStyle/>
          <a:p>
            <a:pPr indent="0" marL="0">
              <a:buNone/>
            </a:pPr>
            <a:r>
              <a:rPr lang="en-US" sz="1100" dirty="0">
                <a:solidFill>
                  <a:srgbClr val="166534"/>
                </a:solidFill>
                <a:latin typeface="Calibri" pitchFamily="34" charset="0"/>
                <a:ea typeface="Calibri" pitchFamily="34" charset="-122"/>
                <a:cs typeface="Calibri" pitchFamily="34" charset="-120"/>
              </a:rPr>
              <a:t>SME says: 10FT extension is physically shorter</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TC: frame parts carry Length = 32Ft sub-condition within the Infeed = Yes kit</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Top level A00031581 stays Infeed = Yes — sub-assemblies add Length condition</a:t>
            </a:r>
            <a:endParaRPr lang="en-US" sz="1100" dirty="0"/>
          </a:p>
        </p:txBody>
      </p:sp>
      <p:sp>
        <p:nvSpPr>
          <p:cNvPr id="32" name="Shape 30"/>
          <p:cNvSpPr/>
          <p:nvPr/>
        </p:nvSpPr>
        <p:spPr>
          <a:xfrm>
            <a:off x="2350008" y="3575304"/>
            <a:ext cx="3113532" cy="0"/>
          </a:xfrm>
          <a:prstGeom prst="line">
            <a:avLst/>
          </a:prstGeom>
          <a:noFill/>
          <a:ln w="12700">
            <a:solidFill>
              <a:srgbClr val="86EFAC"/>
            </a:solidFill>
            <a:prstDash val="dash"/>
          </a:ln>
        </p:spPr>
      </p:sp>
      <p:sp>
        <p:nvSpPr>
          <p:cNvPr id="33" name="Text 31"/>
          <p:cNvSpPr/>
          <p:nvPr/>
        </p:nvSpPr>
        <p:spPr>
          <a:xfrm>
            <a:off x="2350008" y="3648456"/>
            <a:ext cx="3150108" cy="201168"/>
          </a:xfrm>
          <a:prstGeom prst="rect">
            <a:avLst/>
          </a:prstGeom>
          <a:noFill/>
          <a:ln/>
        </p:spPr>
        <p:txBody>
          <a:bodyPr wrap="square" lIns="0" tIns="0" rIns="0" bIns="0" rtlCol="0" anchor="ctr"/>
          <a:lstStyle/>
          <a:p>
            <a:pPr indent="0" marL="0">
              <a:buNone/>
            </a:pPr>
            <a:r>
              <a:rPr lang="en-US" sz="700" b="1" spc="200" kern="0" dirty="0">
                <a:solidFill>
                  <a:srgbClr val="065F46"/>
                </a:solidFill>
                <a:latin typeface="Calibri" pitchFamily="34" charset="0"/>
                <a:ea typeface="Calibri" pitchFamily="34" charset="-122"/>
                <a:cs typeface="Calibri" pitchFamily="34" charset="-120"/>
              </a:rPr>
              <a:t>IF YES — UPDATE TC</a:t>
            </a:r>
            <a:endParaRPr lang="en-US" sz="700" dirty="0"/>
          </a:p>
        </p:txBody>
      </p:sp>
      <p:sp>
        <p:nvSpPr>
          <p:cNvPr id="34" name="Text 32"/>
          <p:cNvSpPr/>
          <p:nvPr/>
        </p:nvSpPr>
        <p:spPr>
          <a:xfrm>
            <a:off x="2350008" y="3877056"/>
            <a:ext cx="3150108" cy="1014984"/>
          </a:xfrm>
          <a:prstGeom prst="rect">
            <a:avLst/>
          </a:prstGeom>
          <a:noFill/>
          <a:ln/>
        </p:spPr>
        <p:txBody>
          <a:bodyPr wrap="square" lIns="0" tIns="0" rIns="0" bIns="0" rtlCol="0" anchor="t"/>
          <a:lstStyle/>
          <a:p>
            <a:pPr marL="342900" indent="-342900">
              <a:buSzPct val="100000"/>
              <a:buChar char="•"/>
            </a:pPr>
            <a:r>
              <a:rPr lang="en-US" sz="1000" dirty="0">
                <a:solidFill>
                  <a:srgbClr val="166534"/>
                </a:solidFill>
                <a:latin typeface="Calibri" pitchFamily="34" charset="0"/>
                <a:ea typeface="Calibri" pitchFamily="34" charset="-122"/>
                <a:cs typeface="Calibri" pitchFamily="34" charset="-120"/>
              </a:rPr>
              <a:t>A00030044, A00029701, A00029756 get Length = 32Ft sub-condition within Infeed kit</a:t>
            </a:r>
            <a:endParaRPr lang="en-US" sz="1000" dirty="0"/>
          </a:p>
        </p:txBody>
      </p:sp>
      <p:sp>
        <p:nvSpPr>
          <p:cNvPr id="35" name="Shape 33"/>
          <p:cNvSpPr/>
          <p:nvPr/>
        </p:nvSpPr>
        <p:spPr>
          <a:xfrm>
            <a:off x="5628132" y="2542032"/>
            <a:ext cx="3332988" cy="242316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0000"/>
              </a:srgbClr>
            </a:outerShdw>
          </a:effectLst>
        </p:spPr>
      </p:sp>
      <p:sp>
        <p:nvSpPr>
          <p:cNvPr id="36" name="Shape 34"/>
          <p:cNvSpPr/>
          <p:nvPr/>
        </p:nvSpPr>
        <p:spPr>
          <a:xfrm>
            <a:off x="5628132" y="2542032"/>
            <a:ext cx="3332988" cy="256032"/>
          </a:xfrm>
          <a:prstGeom prst="rect">
            <a:avLst/>
          </a:prstGeom>
          <a:solidFill>
            <a:srgbClr val="991B1B"/>
          </a:solidFill>
          <a:ln w="12700">
            <a:solidFill>
              <a:srgbClr val="991B1B"/>
            </a:solidFill>
            <a:prstDash val="solid"/>
          </a:ln>
        </p:spPr>
      </p:sp>
      <p:sp>
        <p:nvSpPr>
          <p:cNvPr id="37" name="Text 35"/>
          <p:cNvSpPr/>
          <p:nvPr/>
        </p:nvSpPr>
        <p:spPr>
          <a:xfrm>
            <a:off x="5737860"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NO</a:t>
            </a:r>
            <a:endParaRPr lang="en-US" sz="900" dirty="0"/>
          </a:p>
        </p:txBody>
      </p:sp>
      <p:sp>
        <p:nvSpPr>
          <p:cNvPr id="38" name="Text 36"/>
          <p:cNvSpPr/>
          <p:nvPr/>
        </p:nvSpPr>
        <p:spPr>
          <a:xfrm>
            <a:off x="5737860" y="2834640"/>
            <a:ext cx="3113532" cy="694944"/>
          </a:xfrm>
          <a:prstGeom prst="rect">
            <a:avLst/>
          </a:prstGeom>
          <a:noFill/>
          <a:ln/>
        </p:spPr>
        <p:txBody>
          <a:bodyPr wrap="square" lIns="0" tIns="0" rIns="0" bIns="0" rtlCol="0" anchor="t"/>
          <a:lstStyle/>
          <a:p>
            <a:pPr indent="0" marL="0">
              <a:buNone/>
            </a:pPr>
            <a:r>
              <a:rPr lang="en-US" sz="1100" dirty="0">
                <a:solidFill>
                  <a:srgbClr val="991B1B"/>
                </a:solidFill>
                <a:latin typeface="Calibri" pitchFamily="34" charset="0"/>
                <a:ea typeface="Calibri" pitchFamily="34" charset="-122"/>
                <a:cs typeface="Calibri" pitchFamily="34" charset="-120"/>
              </a:rPr>
              <a:t>SME says: same conveyor — missing parts are a BOM error</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TC: no sub-condition needed — raise BOM correction with BOM author</a:t>
            </a:r>
            <a:endParaRPr lang="en-US" sz="1100" dirty="0"/>
          </a:p>
        </p:txBody>
      </p:sp>
      <p:sp>
        <p:nvSpPr>
          <p:cNvPr id="39" name="Shape 37"/>
          <p:cNvSpPr/>
          <p:nvPr/>
        </p:nvSpPr>
        <p:spPr>
          <a:xfrm>
            <a:off x="5737860" y="3575304"/>
            <a:ext cx="3076956" cy="0"/>
          </a:xfrm>
          <a:prstGeom prst="line">
            <a:avLst/>
          </a:prstGeom>
          <a:noFill/>
          <a:ln w="12700">
            <a:solidFill>
              <a:srgbClr val="FCA5A5"/>
            </a:solidFill>
            <a:prstDash val="dash"/>
          </a:ln>
        </p:spPr>
      </p:sp>
      <p:sp>
        <p:nvSpPr>
          <p:cNvPr id="40" name="Text 38"/>
          <p:cNvSpPr/>
          <p:nvPr/>
        </p:nvSpPr>
        <p:spPr>
          <a:xfrm>
            <a:off x="5737860" y="3648456"/>
            <a:ext cx="3113532" cy="201168"/>
          </a:xfrm>
          <a:prstGeom prst="rect">
            <a:avLst/>
          </a:prstGeom>
          <a:noFill/>
          <a:ln/>
        </p:spPr>
        <p:txBody>
          <a:bodyPr wrap="square" lIns="0" tIns="0" rIns="0" bIns="0" rtlCol="0" anchor="ctr"/>
          <a:lstStyle/>
          <a:p>
            <a:pPr indent="0" marL="0">
              <a:buNone/>
            </a:pPr>
            <a:r>
              <a:rPr lang="en-US" sz="700" b="1" spc="200" kern="0" dirty="0">
                <a:solidFill>
                  <a:srgbClr val="991B1B"/>
                </a:solidFill>
                <a:latin typeface="Calibri" pitchFamily="34" charset="0"/>
                <a:ea typeface="Calibri" pitchFamily="34" charset="-122"/>
                <a:cs typeface="Calibri" pitchFamily="34" charset="-120"/>
              </a:rPr>
              <a:t>IF NO — UPDATE TC</a:t>
            </a:r>
            <a:endParaRPr lang="en-US" sz="700" dirty="0"/>
          </a:p>
        </p:txBody>
      </p:sp>
      <p:sp>
        <p:nvSpPr>
          <p:cNvPr id="41" name="Text 39"/>
          <p:cNvSpPr/>
          <p:nvPr/>
        </p:nvSpPr>
        <p:spPr>
          <a:xfrm>
            <a:off x="5737860" y="3877056"/>
            <a:ext cx="3113532" cy="1014984"/>
          </a:xfrm>
          <a:prstGeom prst="rect">
            <a:avLst/>
          </a:prstGeom>
          <a:noFill/>
          <a:ln/>
        </p:spPr>
        <p:txBody>
          <a:bodyPr wrap="square" lIns="0" tIns="0" rIns="0" bIns="0" rtlCol="0" anchor="t"/>
          <a:lstStyle/>
          <a:p>
            <a:pPr marL="342900" indent="-342900">
              <a:buSzPct val="100000"/>
              <a:buChar char="•"/>
            </a:pPr>
            <a:r>
              <a:rPr lang="en-US" sz="1000" dirty="0">
                <a:solidFill>
                  <a:srgbClr val="991B1B"/>
                </a:solidFill>
                <a:latin typeface="Calibri" pitchFamily="34" charset="0"/>
                <a:ea typeface="Calibri" pitchFamily="34" charset="-122"/>
                <a:cs typeface="Calibri" pitchFamily="34" charset="-120"/>
              </a:rPr>
              <a:t>No formula change — raise BOM correction: 3 parts missing from 10FT BOM</a:t>
            </a:r>
            <a:endParaRPr lang="en-US" sz="1000" dirty="0"/>
          </a:p>
        </p:txBody>
      </p:sp>
      <p:sp>
        <p:nvSpPr>
          <p:cNvPr id="42" name="Shape 40"/>
          <p:cNvSpPr/>
          <p:nvPr/>
        </p:nvSpPr>
        <p:spPr>
          <a:xfrm>
            <a:off x="0" y="4974336"/>
            <a:ext cx="9144000" cy="169164"/>
          </a:xfrm>
          <a:prstGeom prst="rect">
            <a:avLst/>
          </a:prstGeom>
          <a:solidFill>
            <a:srgbClr val="0D7A6B"/>
          </a:solidFill>
          <a:ln w="12700">
            <a:solidFill>
              <a:srgbClr val="0D7A6B"/>
            </a:solidFill>
            <a:prstDash val="solid"/>
          </a:ln>
        </p:spPr>
      </p:sp>
      <p:sp>
        <p:nvSpPr>
          <p:cNvPr id="43" name="Text 41"/>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2103120" cy="5143500"/>
          </a:xfrm>
          <a:prstGeom prst="rect">
            <a:avLst/>
          </a:prstGeom>
          <a:solidFill>
            <a:srgbClr val="1B2A4A"/>
          </a:solidFill>
          <a:ln w="12700">
            <a:solidFill>
              <a:srgbClr val="1B2A4A"/>
            </a:solidFill>
            <a:prstDash val="solid"/>
          </a:ln>
        </p:spPr>
      </p:sp>
      <p:sp>
        <p:nvSpPr>
          <p:cNvPr id="3" name="Text 1"/>
          <p:cNvSpPr/>
          <p:nvPr/>
        </p:nvSpPr>
        <p:spPr>
          <a:xfrm>
            <a:off x="0" y="274320"/>
            <a:ext cx="2103120" cy="914400"/>
          </a:xfrm>
          <a:prstGeom prst="rect">
            <a:avLst/>
          </a:prstGeom>
          <a:noFill/>
          <a:ln/>
        </p:spPr>
        <p:txBody>
          <a:bodyPr wrap="square" lIns="0" tIns="0" rIns="0" bIns="0" rtlCol="0" anchor="ctr"/>
          <a:lstStyle/>
          <a:p>
            <a:pPr algn="ctr" indent="0" marL="0">
              <a:buNone/>
            </a:pPr>
            <a:r>
              <a:rPr lang="en-US" sz="6800" b="1" dirty="0">
                <a:solidFill>
                  <a:srgbClr val="FFFFFF"/>
                </a:solidFill>
                <a:latin typeface="Consolas" pitchFamily="34" charset="0"/>
                <a:ea typeface="Consolas" pitchFamily="34" charset="-122"/>
                <a:cs typeface="Consolas" pitchFamily="34" charset="-120"/>
              </a:rPr>
              <a:t>Q15</a:t>
            </a:r>
            <a:endParaRPr lang="en-US" sz="6800" dirty="0"/>
          </a:p>
        </p:txBody>
      </p:sp>
      <p:sp>
        <p:nvSpPr>
          <p:cNvPr id="4" name="Text 2"/>
          <p:cNvSpPr/>
          <p:nvPr/>
        </p:nvSpPr>
        <p:spPr>
          <a:xfrm>
            <a:off x="0" y="1115568"/>
            <a:ext cx="2103120" cy="256032"/>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of 15</a:t>
            </a:r>
            <a:endParaRPr lang="en-US" sz="1100" dirty="0"/>
          </a:p>
        </p:txBody>
      </p:sp>
      <p:sp>
        <p:nvSpPr>
          <p:cNvPr id="5" name="Shape 3"/>
          <p:cNvSpPr/>
          <p:nvPr/>
        </p:nvSpPr>
        <p:spPr>
          <a:xfrm>
            <a:off x="256032" y="1481328"/>
            <a:ext cx="1591056" cy="329184"/>
          </a:xfrm>
          <a:prstGeom prst="rect">
            <a:avLst/>
          </a:prstGeom>
          <a:solidFill>
            <a:srgbClr val="D1FAE5"/>
          </a:solidFill>
          <a:ln w="12700">
            <a:solidFill>
              <a:srgbClr val="065F46"/>
            </a:solidFill>
            <a:prstDash val="solid"/>
          </a:ln>
        </p:spPr>
      </p:sp>
      <p:sp>
        <p:nvSpPr>
          <p:cNvPr id="6" name="Text 4"/>
          <p:cNvSpPr/>
          <p:nvPr/>
        </p:nvSpPr>
        <p:spPr>
          <a:xfrm>
            <a:off x="256032" y="1481328"/>
            <a:ext cx="1591056" cy="329184"/>
          </a:xfrm>
          <a:prstGeom prst="rect">
            <a:avLst/>
          </a:prstGeom>
          <a:noFill/>
          <a:ln/>
        </p:spPr>
        <p:txBody>
          <a:bodyPr wrap="square" lIns="0" tIns="0" rIns="0" bIns="0" rtlCol="0" anchor="ctr"/>
          <a:lstStyle/>
          <a:p>
            <a:pPr algn="ctr" indent="0" marL="0">
              <a:buNone/>
            </a:pPr>
            <a:r>
              <a:rPr lang="en-US" sz="1200" b="1" dirty="0">
                <a:solidFill>
                  <a:srgbClr val="065F46"/>
                </a:solidFill>
                <a:latin typeface="Calibri" pitchFamily="34" charset="0"/>
                <a:ea typeface="Calibri" pitchFamily="34" charset="-122"/>
                <a:cs typeface="Calibri" pitchFamily="34" charset="-120"/>
              </a:rPr>
              <a:t>LOW</a:t>
            </a:r>
            <a:endParaRPr lang="en-US" sz="1200" dirty="0"/>
          </a:p>
        </p:txBody>
      </p:sp>
      <p:sp>
        <p:nvSpPr>
          <p:cNvPr id="7" name="Text 5"/>
          <p:cNvSpPr/>
          <p:nvPr/>
        </p:nvSpPr>
        <p:spPr>
          <a:xfrm>
            <a:off x="91440" y="1920240"/>
            <a:ext cx="1920240" cy="256032"/>
          </a:xfrm>
          <a:prstGeom prst="rect">
            <a:avLst/>
          </a:prstGeom>
          <a:noFill/>
          <a:ln/>
        </p:spPr>
        <p:txBody>
          <a:bodyPr wrap="square" lIns="0" tIns="0" rIns="0" bIns="0" rtlCol="0" anchor="ctr"/>
          <a:lstStyle/>
          <a:p>
            <a:pPr algn="ctr" indent="0" marL="0">
              <a:buNone/>
            </a:pPr>
            <a:r>
              <a:rPr lang="en-US" sz="800" spc="200" kern="0" dirty="0">
                <a:solidFill>
                  <a:srgbClr val="64748B"/>
                </a:solidFill>
                <a:latin typeface="Calibri" pitchFamily="34" charset="0"/>
                <a:ea typeface="Calibri" pitchFamily="34" charset="-122"/>
                <a:cs typeface="Calibri" pitchFamily="34" charset="-120"/>
              </a:rPr>
              <a:t>LENGTH / FEATURE DICTIONARY</a:t>
            </a:r>
            <a:endParaRPr lang="en-US" sz="800" dirty="0"/>
          </a:p>
        </p:txBody>
      </p:sp>
      <p:sp>
        <p:nvSpPr>
          <p:cNvPr id="8" name="Shape 6"/>
          <p:cNvSpPr/>
          <p:nvPr/>
        </p:nvSpPr>
        <p:spPr>
          <a:xfrm>
            <a:off x="256032" y="2267712"/>
            <a:ext cx="1591056" cy="347472"/>
          </a:xfrm>
          <a:prstGeom prst="rect">
            <a:avLst/>
          </a:prstGeom>
          <a:solidFill>
            <a:srgbClr val="0F3460"/>
          </a:solidFill>
          <a:ln w="12700">
            <a:solidFill>
              <a:srgbClr val="0F3460"/>
            </a:solidFill>
            <a:prstDash val="solid"/>
          </a:ln>
        </p:spPr>
      </p:sp>
      <p:sp>
        <p:nvSpPr>
          <p:cNvPr id="9" name="Text 7"/>
          <p:cNvSpPr/>
          <p:nvPr/>
        </p:nvSpPr>
        <p:spPr>
          <a:xfrm>
            <a:off x="256032" y="2267712"/>
            <a:ext cx="1591056"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3 min</a:t>
            </a:r>
            <a:endParaRPr lang="en-US" sz="1300" dirty="0"/>
          </a:p>
        </p:txBody>
      </p:sp>
      <p:sp>
        <p:nvSpPr>
          <p:cNvPr id="10" name="Shape 8"/>
          <p:cNvSpPr/>
          <p:nvPr/>
        </p:nvSpPr>
        <p:spPr>
          <a:xfrm>
            <a:off x="164592" y="2788920"/>
            <a:ext cx="1773936" cy="1417320"/>
          </a:xfrm>
          <a:prstGeom prst="rect">
            <a:avLst/>
          </a:prstGeom>
          <a:solidFill>
            <a:srgbClr val="1E3A5F"/>
          </a:solidFill>
          <a:ln w="12700">
            <a:solidFill>
              <a:srgbClr val="1E3A5F"/>
            </a:solidFill>
            <a:prstDash val="solid"/>
          </a:ln>
        </p:spPr>
      </p:sp>
      <p:sp>
        <p:nvSpPr>
          <p:cNvPr id="11" name="Text 9"/>
          <p:cNvSpPr/>
          <p:nvPr/>
        </p:nvSpPr>
        <p:spPr>
          <a:xfrm>
            <a:off x="164592" y="2834640"/>
            <a:ext cx="1773936" cy="201168"/>
          </a:xfrm>
          <a:prstGeom prst="rect">
            <a:avLst/>
          </a:prstGeom>
          <a:noFill/>
          <a:ln/>
        </p:spPr>
        <p:txBody>
          <a:bodyPr wrap="square" lIns="0" tIns="0" rIns="0" bIns="0" rtlCol="0" anchor="ctr"/>
          <a:lstStyle/>
          <a:p>
            <a:pPr algn="ctr" indent="0" marL="0">
              <a:buNone/>
            </a:pPr>
            <a:r>
              <a:rPr lang="en-US" sz="700" spc="200" kern="0" dirty="0">
                <a:solidFill>
                  <a:srgbClr val="94A3B8"/>
                </a:solidFill>
                <a:latin typeface="Calibri" pitchFamily="34" charset="0"/>
                <a:ea typeface="Calibri" pitchFamily="34" charset="-122"/>
                <a:cs typeface="Calibri" pitchFamily="34" charset="-120"/>
              </a:rPr>
              <a:t>IF STUCK</a:t>
            </a:r>
            <a:endParaRPr lang="en-US" sz="700" dirty="0"/>
          </a:p>
        </p:txBody>
      </p:sp>
      <p:sp>
        <p:nvSpPr>
          <p:cNvPr id="12" name="Text 10"/>
          <p:cNvSpPr/>
          <p:nvPr/>
        </p:nvSpPr>
        <p:spPr>
          <a:xfrm>
            <a:off x="228600" y="3054096"/>
            <a:ext cx="1645920" cy="1097280"/>
          </a:xfrm>
          <a:prstGeom prst="rect">
            <a:avLst/>
          </a:prstGeom>
          <a:noFill/>
          <a:ln/>
        </p:spPr>
        <p:txBody>
          <a:bodyPr wrap="square" lIns="0" tIns="0" rIns="0" bIns="0" rtlCol="0" anchor="t"/>
          <a:lstStyle/>
          <a:p>
            <a:pPr indent="0" marL="0">
              <a:buNone/>
            </a:pPr>
            <a:r>
              <a:rPr lang="en-US" sz="900" dirty="0">
                <a:solidFill>
                  <a:srgbClr val="CADCFC"/>
                </a:solidFill>
                <a:latin typeface="Calibri" pitchFamily="34" charset="0"/>
                <a:ea typeface="Calibri" pitchFamily="34" charset="-122"/>
                <a:cs typeface="Calibri" pitchFamily="34" charset="-120"/>
              </a:rPr>
              <a:t>Ask:</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"Was this machine ever built and shipped to a customer?"</a:t>
            </a:r>
            <a:endParaRPr lang="en-US" sz="900" dirty="0"/>
          </a:p>
          <a:p>
            <a:pPr indent="0" marL="0">
              <a:buNone/>
            </a:pP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If yes → it is a valid production BOM</a:t>
            </a:r>
            <a:endParaRPr lang="en-US" sz="900" dirty="0"/>
          </a:p>
          <a:p>
            <a:pPr indent="0" marL="0">
              <a:buNone/>
            </a:pPr>
            <a:r>
              <a:rPr lang="en-US" sz="900" dirty="0">
                <a:solidFill>
                  <a:srgbClr val="CADCFC"/>
                </a:solidFill>
                <a:latin typeface="Calibri" pitchFamily="34" charset="0"/>
                <a:ea typeface="Calibri" pitchFamily="34" charset="-122"/>
                <a:cs typeface="Calibri" pitchFamily="34" charset="-120"/>
              </a:rPr>
              <a:t>If no → it may be a prototype and needs the released version</a:t>
            </a:r>
            <a:endParaRPr lang="en-US" sz="900" dirty="0"/>
          </a:p>
        </p:txBody>
      </p:sp>
      <p:sp>
        <p:nvSpPr>
          <p:cNvPr id="13" name="Shape 11"/>
          <p:cNvSpPr/>
          <p:nvPr/>
        </p:nvSpPr>
        <p:spPr>
          <a:xfrm>
            <a:off x="164592" y="4315968"/>
            <a:ext cx="1773936" cy="658368"/>
          </a:xfrm>
          <a:prstGeom prst="rect">
            <a:avLst/>
          </a:prstGeom>
          <a:solidFill>
            <a:srgbClr val="0D7A6B"/>
          </a:solidFill>
          <a:ln w="12700">
            <a:solidFill>
              <a:srgbClr val="0D7A6B"/>
            </a:solidFill>
            <a:prstDash val="solid"/>
          </a:ln>
        </p:spPr>
      </p:sp>
      <p:sp>
        <p:nvSpPr>
          <p:cNvPr id="14" name="Text 12"/>
          <p:cNvSpPr/>
          <p:nvPr/>
        </p:nvSpPr>
        <p:spPr>
          <a:xfrm>
            <a:off x="164592" y="4343400"/>
            <a:ext cx="1773936" cy="201168"/>
          </a:xfrm>
          <a:prstGeom prst="rect">
            <a:avLst/>
          </a:prstGeom>
          <a:noFill/>
          <a:ln/>
        </p:spPr>
        <p:txBody>
          <a:bodyPr wrap="square" lIns="0" tIns="0" rIns="0" bIns="0" rtlCol="0" anchor="ctr"/>
          <a:lstStyle/>
          <a:p>
            <a:pPr algn="ctr" indent="0" marL="0">
              <a:buNone/>
            </a:pPr>
            <a:r>
              <a:rPr lang="en-US" sz="700" spc="200" kern="0" dirty="0">
                <a:solidFill>
                  <a:srgbClr val="A7F3D0"/>
                </a:solidFill>
                <a:latin typeface="Calibri" pitchFamily="34" charset="0"/>
                <a:ea typeface="Calibri" pitchFamily="34" charset="-122"/>
                <a:cs typeface="Calibri" pitchFamily="34" charset="-120"/>
              </a:rPr>
              <a:t>TC ACTION</a:t>
            </a:r>
            <a:endParaRPr lang="en-US" sz="700" dirty="0"/>
          </a:p>
        </p:txBody>
      </p:sp>
      <p:sp>
        <p:nvSpPr>
          <p:cNvPr id="15" name="Text 13"/>
          <p:cNvSpPr/>
          <p:nvPr/>
        </p:nvSpPr>
        <p:spPr>
          <a:xfrm>
            <a:off x="201168" y="4553712"/>
            <a:ext cx="1719072" cy="384048"/>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YES: Length = 10Ft confirmed in Feature Dictionary</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A00027124 locked as source BOM</a:t>
            </a:r>
            <a:endParaRPr lang="en-US" sz="900" dirty="0"/>
          </a:p>
          <a:p>
            <a:pPr indent="0" marL="0">
              <a:buNone/>
            </a:pP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NO: Reload correct 10FT BOM</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Re-run 3-way merge</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All Q9–Q14 answers need re-verification</a:t>
            </a:r>
            <a:endParaRPr lang="en-US" sz="900" dirty="0"/>
          </a:p>
        </p:txBody>
      </p:sp>
      <p:sp>
        <p:nvSpPr>
          <p:cNvPr id="16" name="Shape 14"/>
          <p:cNvSpPr/>
          <p:nvPr/>
        </p:nvSpPr>
        <p:spPr>
          <a:xfrm>
            <a:off x="2240280" y="0"/>
            <a:ext cx="6720840" cy="384048"/>
          </a:xfrm>
          <a:prstGeom prst="rect">
            <a:avLst/>
          </a:prstGeom>
          <a:solidFill>
            <a:srgbClr val="0D7A6B"/>
          </a:solidFill>
          <a:ln w="12700">
            <a:solidFill>
              <a:srgbClr val="0D7A6B"/>
            </a:solidFill>
            <a:prstDash val="solid"/>
          </a:ln>
        </p:spPr>
      </p:sp>
      <p:sp>
        <p:nvSpPr>
          <p:cNvPr id="17" name="Text 15"/>
          <p:cNvSpPr/>
          <p:nvPr/>
        </p:nvSpPr>
        <p:spPr>
          <a:xfrm>
            <a:off x="2377440" y="0"/>
            <a:ext cx="644652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10FT BOM Identity — Is A00027124 the correct production BOM?</a:t>
            </a:r>
            <a:endParaRPr lang="en-US" sz="1400" dirty="0"/>
          </a:p>
        </p:txBody>
      </p:sp>
      <p:sp>
        <p:nvSpPr>
          <p:cNvPr id="18" name="Shape 16"/>
          <p:cNvSpPr/>
          <p:nvPr/>
        </p:nvSpPr>
        <p:spPr>
          <a:xfrm>
            <a:off x="2240280" y="438912"/>
            <a:ext cx="6720840" cy="822960"/>
          </a:xfrm>
          <a:prstGeom prst="rect">
            <a:avLst/>
          </a:prstGeom>
          <a:solidFill>
            <a:srgbClr val="FFFFFF"/>
          </a:solidFill>
          <a:ln w="12700">
            <a:solidFill>
              <a:srgbClr val="CBD5E1"/>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2240280" y="438912"/>
            <a:ext cx="54864" cy="822960"/>
          </a:xfrm>
          <a:prstGeom prst="rect">
            <a:avLst/>
          </a:prstGeom>
          <a:solidFill>
            <a:srgbClr val="1B2A4A"/>
          </a:solidFill>
          <a:ln w="12700">
            <a:solidFill>
              <a:srgbClr val="1B2A4A"/>
            </a:solidFill>
            <a:prstDash val="solid"/>
          </a:ln>
        </p:spPr>
      </p:sp>
      <p:sp>
        <p:nvSpPr>
          <p:cNvPr id="20" name="Text 18"/>
          <p:cNvSpPr/>
          <p:nvPr/>
        </p:nvSpPr>
        <p:spPr>
          <a:xfrm>
            <a:off x="2377440" y="493776"/>
            <a:ext cx="1097280" cy="182880"/>
          </a:xfrm>
          <a:prstGeom prst="rect">
            <a:avLst/>
          </a:prstGeom>
          <a:noFill/>
          <a:ln/>
        </p:spPr>
        <p:txBody>
          <a:bodyPr wrap="square" lIns="0" tIns="0" rIns="0" bIns="0" rtlCol="0" anchor="ctr"/>
          <a:lstStyle/>
          <a:p>
            <a:pPr indent="0" marL="0">
              <a:buNone/>
            </a:pPr>
            <a:r>
              <a:rPr lang="en-US" sz="700" b="1" spc="200" kern="0" dirty="0">
                <a:solidFill>
                  <a:srgbClr val="1B2A4A"/>
                </a:solidFill>
                <a:latin typeface="Calibri" pitchFamily="34" charset="0"/>
                <a:ea typeface="Calibri" pitchFamily="34" charset="-122"/>
                <a:cs typeface="Calibri" pitchFamily="34" charset="-120"/>
              </a:rPr>
              <a:t>SAY TO OPEN</a:t>
            </a:r>
            <a:endParaRPr lang="en-US" sz="700" dirty="0"/>
          </a:p>
        </p:txBody>
      </p:sp>
      <p:sp>
        <p:nvSpPr>
          <p:cNvPr id="21" name="Text 19"/>
          <p:cNvSpPr/>
          <p:nvPr/>
        </p:nvSpPr>
        <p:spPr>
          <a:xfrm>
            <a:off x="2377440" y="694944"/>
            <a:ext cx="6492240" cy="521208"/>
          </a:xfrm>
          <a:prstGeom prst="rect">
            <a:avLst/>
          </a:prstGeom>
          <a:noFill/>
          <a:ln/>
        </p:spPr>
        <p:txBody>
          <a:bodyPr wrap="square" lIns="0" tIns="0" rIns="0" bIns="0" rtlCol="0" anchor="t"/>
          <a:lstStyle/>
          <a:p>
            <a:pPr indent="0" marL="0">
              <a:buNone/>
            </a:pPr>
            <a:r>
              <a:rPr lang="en-US" sz="1200" i="1" dirty="0">
                <a:solidFill>
                  <a:srgbClr val="1B2A4A"/>
                </a:solidFill>
                <a:latin typeface="Calibri" pitchFamily="34" charset="0"/>
                <a:ea typeface="Calibri" pitchFamily="34" charset="-122"/>
                <a:cs typeface="Calibri" pitchFamily="34" charset="-120"/>
              </a:rPr>
              <a:t>When we started this project, Length = 10Ft was listed as PENDING in the Feature Dictionary — no BOM existed. During this session we uploaded A00027124 PLB_UNIVERSAL_ROBOTIC_LABELER_REV-D_10FT_LH_NA and built the 3-way 150% BOM from it. We need confirmation it is the right one.</a:t>
            </a:r>
            <a:endParaRPr lang="en-US" sz="1200" dirty="0"/>
          </a:p>
        </p:txBody>
      </p:sp>
      <p:sp>
        <p:nvSpPr>
          <p:cNvPr id="22" name="Shape 20"/>
          <p:cNvSpPr/>
          <p:nvPr/>
        </p:nvSpPr>
        <p:spPr>
          <a:xfrm>
            <a:off x="2240280" y="1298448"/>
            <a:ext cx="6720840" cy="530352"/>
          </a:xfrm>
          <a:prstGeom prst="rect">
            <a:avLst/>
          </a:prstGeom>
          <a:solidFill>
            <a:srgbClr val="EFF6FF"/>
          </a:solidFill>
          <a:ln w="12700">
            <a:solidFill>
              <a:srgbClr val="BFDBFE"/>
            </a:solidFill>
            <a:prstDash val="solid"/>
          </a:ln>
        </p:spPr>
      </p:sp>
      <p:sp>
        <p:nvSpPr>
          <p:cNvPr id="23" name="Text 21"/>
          <p:cNvSpPr/>
          <p:nvPr/>
        </p:nvSpPr>
        <p:spPr>
          <a:xfrm>
            <a:off x="2377440" y="1362456"/>
            <a:ext cx="1828800" cy="182880"/>
          </a:xfrm>
          <a:prstGeom prst="rect">
            <a:avLst/>
          </a:prstGeom>
          <a:noFill/>
          <a:ln/>
        </p:spPr>
        <p:txBody>
          <a:bodyPr wrap="square" lIns="0" tIns="0" rIns="0" bIns="0" rtlCol="0" anchor="ctr"/>
          <a:lstStyle/>
          <a:p>
            <a:pPr indent="0" marL="0">
              <a:buNone/>
            </a:pPr>
            <a:r>
              <a:rPr lang="en-US" sz="700" b="1" spc="200" kern="0" dirty="0">
                <a:solidFill>
                  <a:srgbClr val="1E40AF"/>
                </a:solidFill>
                <a:latin typeface="Calibri" pitchFamily="34" charset="0"/>
                <a:ea typeface="Calibri" pitchFamily="34" charset="-122"/>
                <a:cs typeface="Calibri" pitchFamily="34" charset="-120"/>
              </a:rPr>
              <a:t>SHOW ON BOM VIEWER</a:t>
            </a:r>
            <a:endParaRPr lang="en-US" sz="700" dirty="0"/>
          </a:p>
        </p:txBody>
      </p:sp>
      <p:sp>
        <p:nvSpPr>
          <p:cNvPr id="24" name="Text 22"/>
          <p:cNvSpPr/>
          <p:nvPr/>
        </p:nvSpPr>
        <p:spPr>
          <a:xfrm>
            <a:off x="2377440" y="1554480"/>
            <a:ext cx="6492240" cy="228600"/>
          </a:xfrm>
          <a:prstGeom prst="rect">
            <a:avLst/>
          </a:prstGeom>
          <a:noFill/>
          <a:ln/>
        </p:spPr>
        <p:txBody>
          <a:bodyPr wrap="square" lIns="0" tIns="0" rIns="0" bIns="0" rtlCol="0" anchor="t"/>
          <a:lstStyle/>
          <a:p>
            <a:pPr indent="0" marL="0">
              <a:buNone/>
            </a:pPr>
            <a:r>
              <a:rPr lang="en-US" sz="1100" dirty="0">
                <a:solidFill>
                  <a:srgbClr val="1E40AF"/>
                </a:solidFill>
                <a:latin typeface="Consolas" pitchFamily="34" charset="0"/>
                <a:ea typeface="Consolas" pitchFamily="34" charset="-122"/>
                <a:cs typeface="Consolas" pitchFamily="34" charset="-120"/>
              </a:rPr>
              <a:t>Open 10FT LH tab → show A00027124 at Level 0 as the TLA</a:t>
            </a:r>
            <a:endParaRPr lang="en-US" sz="1100" dirty="0"/>
          </a:p>
          <a:p>
            <a:pPr indent="0" marL="0">
              <a:buNone/>
            </a:pPr>
            <a:r>
              <a:rPr lang="en-US" sz="1100" dirty="0">
                <a:solidFill>
                  <a:srgbClr val="1E40AF"/>
                </a:solidFill>
                <a:latin typeface="Consolas" pitchFamily="34" charset="0"/>
                <a:ea typeface="Consolas" pitchFamily="34" charset="-122"/>
                <a:cs typeface="Consolas" pitchFamily="34" charset="-120"/>
              </a:rPr>
              <a:t>Confirm part name: PLB_UNIVERSAL_ROBOTIC_LABELER_REV-D_10FT_LH_NA</a:t>
            </a:r>
            <a:endParaRPr lang="en-US" sz="1100" dirty="0"/>
          </a:p>
        </p:txBody>
      </p:sp>
      <p:sp>
        <p:nvSpPr>
          <p:cNvPr id="25" name="Shape 23"/>
          <p:cNvSpPr/>
          <p:nvPr/>
        </p:nvSpPr>
        <p:spPr>
          <a:xfrm>
            <a:off x="2240280" y="1865376"/>
            <a:ext cx="6720840" cy="621792"/>
          </a:xfrm>
          <a:prstGeom prst="rect">
            <a:avLst/>
          </a:prstGeom>
          <a:solidFill>
            <a:srgbClr val="1B2A4A"/>
          </a:solidFill>
          <a:ln w="12700">
            <a:solidFill>
              <a:srgbClr val="1B2A4A"/>
            </a:solidFill>
            <a:prstDash val="solid"/>
          </a:ln>
        </p:spPr>
      </p:sp>
      <p:sp>
        <p:nvSpPr>
          <p:cNvPr id="26" name="Text 24"/>
          <p:cNvSpPr/>
          <p:nvPr/>
        </p:nvSpPr>
        <p:spPr>
          <a:xfrm>
            <a:off x="2377440" y="1929384"/>
            <a:ext cx="1828800" cy="182880"/>
          </a:xfrm>
          <a:prstGeom prst="rect">
            <a:avLst/>
          </a:prstGeom>
          <a:noFill/>
          <a:ln/>
        </p:spPr>
        <p:txBody>
          <a:bodyPr wrap="square" lIns="0" tIns="0" rIns="0" bIns="0" rtlCol="0" anchor="ctr"/>
          <a:lstStyle/>
          <a:p>
            <a:pPr indent="0" marL="0">
              <a:buNone/>
            </a:pPr>
            <a:r>
              <a:rPr lang="en-US" sz="700" b="1" spc="200" kern="0" dirty="0">
                <a:solidFill>
                  <a:srgbClr val="94A3B8"/>
                </a:solidFill>
                <a:latin typeface="Calibri" pitchFamily="34" charset="0"/>
                <a:ea typeface="Calibri" pitchFamily="34" charset="-122"/>
                <a:cs typeface="Calibri" pitchFamily="34" charset="-120"/>
              </a:rPr>
              <a:t>ASK EXACTLY THIS</a:t>
            </a:r>
            <a:endParaRPr lang="en-US" sz="700" dirty="0"/>
          </a:p>
        </p:txBody>
      </p:sp>
      <p:sp>
        <p:nvSpPr>
          <p:cNvPr id="27" name="Text 25"/>
          <p:cNvSpPr/>
          <p:nvPr/>
        </p:nvSpPr>
        <p:spPr>
          <a:xfrm>
            <a:off x="2377440" y="2103120"/>
            <a:ext cx="6492240" cy="347472"/>
          </a:xfrm>
          <a:prstGeom prst="rect">
            <a:avLst/>
          </a:prstGeom>
          <a:noFill/>
          <a:ln/>
        </p:spPr>
        <p:txBody>
          <a:bodyPr wrap="square" lIns="0" tIns="0" rIns="0" bIns="0" rtlCol="0" anchor="t"/>
          <a:lstStyle/>
          <a:p>
            <a:pPr indent="0" marL="0">
              <a:buNone/>
            </a:pPr>
            <a:r>
              <a:rPr lang="en-US" sz="1200" b="1" i="1" dirty="0">
                <a:solidFill>
                  <a:srgbClr val="FFFFFF"/>
                </a:solidFill>
                <a:latin typeface="Calibri" pitchFamily="34" charset="0"/>
                <a:ea typeface="Calibri" pitchFamily="34" charset="-122"/>
                <a:cs typeface="Calibri" pitchFamily="34" charset="-120"/>
              </a:rPr>
              <a:t>"Is A00027124 the correct and current production BOM for the 10FT LH NA configuration?"</a:t>
            </a:r>
            <a:endParaRPr lang="en-US" sz="1200" dirty="0"/>
          </a:p>
        </p:txBody>
      </p:sp>
      <p:sp>
        <p:nvSpPr>
          <p:cNvPr id="28" name="Shape 26"/>
          <p:cNvSpPr/>
          <p:nvPr/>
        </p:nvSpPr>
        <p:spPr>
          <a:xfrm>
            <a:off x="2240280" y="2542032"/>
            <a:ext cx="3332988" cy="2423160"/>
          </a:xfrm>
          <a:prstGeom prst="rect">
            <a:avLst/>
          </a:prstGeom>
          <a:solidFill>
            <a:srgbClr val="FFFFFF"/>
          </a:solidFill>
          <a:ln w="12700">
            <a:solidFill>
              <a:srgbClr val="86EFAC"/>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2240280" y="2542032"/>
            <a:ext cx="3332988" cy="256032"/>
          </a:xfrm>
          <a:prstGeom prst="rect">
            <a:avLst/>
          </a:prstGeom>
          <a:solidFill>
            <a:srgbClr val="065F46"/>
          </a:solidFill>
          <a:ln w="12700">
            <a:solidFill>
              <a:srgbClr val="065F46"/>
            </a:solidFill>
            <a:prstDash val="solid"/>
          </a:ln>
        </p:spPr>
      </p:sp>
      <p:sp>
        <p:nvSpPr>
          <p:cNvPr id="30" name="Text 28"/>
          <p:cNvSpPr/>
          <p:nvPr/>
        </p:nvSpPr>
        <p:spPr>
          <a:xfrm>
            <a:off x="2350008"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YES</a:t>
            </a:r>
            <a:endParaRPr lang="en-US" sz="900" dirty="0"/>
          </a:p>
        </p:txBody>
      </p:sp>
      <p:sp>
        <p:nvSpPr>
          <p:cNvPr id="31" name="Text 29"/>
          <p:cNvSpPr/>
          <p:nvPr/>
        </p:nvSpPr>
        <p:spPr>
          <a:xfrm>
            <a:off x="2350008" y="2834640"/>
            <a:ext cx="3150108" cy="694944"/>
          </a:xfrm>
          <a:prstGeom prst="rect">
            <a:avLst/>
          </a:prstGeom>
          <a:noFill/>
          <a:ln/>
        </p:spPr>
        <p:txBody>
          <a:bodyPr wrap="square" lIns="0" tIns="0" rIns="0" bIns="0" rtlCol="0" anchor="t"/>
          <a:lstStyle/>
          <a:p>
            <a:pPr indent="0" marL="0">
              <a:buNone/>
            </a:pPr>
            <a:r>
              <a:rPr lang="en-US" sz="1100" dirty="0">
                <a:solidFill>
                  <a:srgbClr val="166534"/>
                </a:solidFill>
                <a:latin typeface="Calibri" pitchFamily="34" charset="0"/>
                <a:ea typeface="Calibri" pitchFamily="34" charset="-122"/>
                <a:cs typeface="Calibri" pitchFamily="34" charset="-120"/>
              </a:rPr>
              <a:t>SME confirms: A00027124 is correct and current</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TC: Length = 10Ft confirmed in Feature Dictionary</a:t>
            </a:r>
            <a:endParaRPr lang="en-US" sz="1100" dirty="0"/>
          </a:p>
          <a:p>
            <a:pPr indent="0" marL="0">
              <a:buNone/>
            </a:pPr>
            <a:r>
              <a:rPr lang="en-US" sz="1100" dirty="0">
                <a:solidFill>
                  <a:srgbClr val="166534"/>
                </a:solidFill>
                <a:latin typeface="Calibri" pitchFamily="34" charset="0"/>
                <a:ea typeface="Calibri" pitchFamily="34" charset="-122"/>
                <a:cs typeface="Calibri" pitchFamily="34" charset="-120"/>
              </a:rPr>
              <a:t>10FT now a fully validated source BOM — no further action</a:t>
            </a:r>
            <a:endParaRPr lang="en-US" sz="1100" dirty="0"/>
          </a:p>
        </p:txBody>
      </p:sp>
      <p:sp>
        <p:nvSpPr>
          <p:cNvPr id="32" name="Shape 30"/>
          <p:cNvSpPr/>
          <p:nvPr/>
        </p:nvSpPr>
        <p:spPr>
          <a:xfrm>
            <a:off x="2350008" y="3575304"/>
            <a:ext cx="3113532" cy="0"/>
          </a:xfrm>
          <a:prstGeom prst="line">
            <a:avLst/>
          </a:prstGeom>
          <a:noFill/>
          <a:ln w="12700">
            <a:solidFill>
              <a:srgbClr val="86EFAC"/>
            </a:solidFill>
            <a:prstDash val="dash"/>
          </a:ln>
        </p:spPr>
      </p:sp>
      <p:sp>
        <p:nvSpPr>
          <p:cNvPr id="33" name="Text 31"/>
          <p:cNvSpPr/>
          <p:nvPr/>
        </p:nvSpPr>
        <p:spPr>
          <a:xfrm>
            <a:off x="2350008" y="3648456"/>
            <a:ext cx="3150108" cy="201168"/>
          </a:xfrm>
          <a:prstGeom prst="rect">
            <a:avLst/>
          </a:prstGeom>
          <a:noFill/>
          <a:ln/>
        </p:spPr>
        <p:txBody>
          <a:bodyPr wrap="square" lIns="0" tIns="0" rIns="0" bIns="0" rtlCol="0" anchor="ctr"/>
          <a:lstStyle/>
          <a:p>
            <a:pPr indent="0" marL="0">
              <a:buNone/>
            </a:pPr>
            <a:r>
              <a:rPr lang="en-US" sz="700" b="1" spc="200" kern="0" dirty="0">
                <a:solidFill>
                  <a:srgbClr val="065F46"/>
                </a:solidFill>
                <a:latin typeface="Calibri" pitchFamily="34" charset="0"/>
                <a:ea typeface="Calibri" pitchFamily="34" charset="-122"/>
                <a:cs typeface="Calibri" pitchFamily="34" charset="-120"/>
              </a:rPr>
              <a:t>IF YES — UPDATE TC</a:t>
            </a:r>
            <a:endParaRPr lang="en-US" sz="700" dirty="0"/>
          </a:p>
        </p:txBody>
      </p:sp>
      <p:sp>
        <p:nvSpPr>
          <p:cNvPr id="34" name="Text 32"/>
          <p:cNvSpPr/>
          <p:nvPr/>
        </p:nvSpPr>
        <p:spPr>
          <a:xfrm>
            <a:off x="2350008" y="3877056"/>
            <a:ext cx="3150108" cy="1014984"/>
          </a:xfrm>
          <a:prstGeom prst="rect">
            <a:avLst/>
          </a:prstGeom>
          <a:noFill/>
          <a:ln/>
        </p:spPr>
        <p:txBody>
          <a:bodyPr wrap="square" lIns="0" tIns="0" rIns="0" bIns="0" rtlCol="0" anchor="t"/>
          <a:lstStyle/>
          <a:p>
            <a:pPr marL="342900" indent="-342900">
              <a:buSzPct val="100000"/>
              <a:buChar char="•"/>
            </a:pPr>
            <a:r>
              <a:rPr lang="en-US" sz="1000" dirty="0">
                <a:solidFill>
                  <a:srgbClr val="166534"/>
                </a:solidFill>
                <a:latin typeface="Calibri" pitchFamily="34" charset="0"/>
                <a:ea typeface="Calibri" pitchFamily="34" charset="-122"/>
                <a:cs typeface="Calibri" pitchFamily="34" charset="-120"/>
              </a:rPr>
              <a:t>Length = 10Ft confirmed in Feature Dictionary</a:t>
            </a:r>
            <a:endParaRPr lang="en-US" sz="1000" dirty="0"/>
          </a:p>
          <a:p>
            <a:pPr marL="342900" indent="-342900">
              <a:buSzPct val="100000"/>
              <a:buChar char="•"/>
            </a:pPr>
            <a:r>
              <a:rPr lang="en-US" sz="1000" dirty="0">
                <a:solidFill>
                  <a:srgbClr val="166534"/>
                </a:solidFill>
                <a:latin typeface="Calibri" pitchFamily="34" charset="0"/>
                <a:ea typeface="Calibri" pitchFamily="34" charset="-122"/>
                <a:cs typeface="Calibri" pitchFamily="34" charset="-120"/>
              </a:rPr>
              <a:t>A00027124 locked as source BOM</a:t>
            </a:r>
            <a:endParaRPr lang="en-US" sz="1000" dirty="0"/>
          </a:p>
        </p:txBody>
      </p:sp>
      <p:sp>
        <p:nvSpPr>
          <p:cNvPr id="35" name="Shape 33"/>
          <p:cNvSpPr/>
          <p:nvPr/>
        </p:nvSpPr>
        <p:spPr>
          <a:xfrm>
            <a:off x="5628132" y="2542032"/>
            <a:ext cx="3332988" cy="2423160"/>
          </a:xfrm>
          <a:prstGeom prst="rect">
            <a:avLst/>
          </a:prstGeom>
          <a:solidFill>
            <a:srgbClr val="FFFFFF"/>
          </a:solidFill>
          <a:ln w="12700">
            <a:solidFill>
              <a:srgbClr val="FCA5A5"/>
            </a:solidFill>
            <a:prstDash val="solid"/>
          </a:ln>
          <a:effectLst>
            <a:outerShdw sx="100000" sy="100000" kx="0" ky="0" algn="bl" rotWithShape="0" blurRad="101600" dist="25400" dir="8100000">
              <a:srgbClr val="000000">
                <a:alpha val="10000"/>
              </a:srgbClr>
            </a:outerShdw>
          </a:effectLst>
        </p:spPr>
      </p:sp>
      <p:sp>
        <p:nvSpPr>
          <p:cNvPr id="36" name="Shape 34"/>
          <p:cNvSpPr/>
          <p:nvPr/>
        </p:nvSpPr>
        <p:spPr>
          <a:xfrm>
            <a:off x="5628132" y="2542032"/>
            <a:ext cx="3332988" cy="256032"/>
          </a:xfrm>
          <a:prstGeom prst="rect">
            <a:avLst/>
          </a:prstGeom>
          <a:solidFill>
            <a:srgbClr val="991B1B"/>
          </a:solidFill>
          <a:ln w="12700">
            <a:solidFill>
              <a:srgbClr val="991B1B"/>
            </a:solidFill>
            <a:prstDash val="solid"/>
          </a:ln>
        </p:spPr>
      </p:sp>
      <p:sp>
        <p:nvSpPr>
          <p:cNvPr id="37" name="Text 35"/>
          <p:cNvSpPr/>
          <p:nvPr/>
        </p:nvSpPr>
        <p:spPr>
          <a:xfrm>
            <a:off x="5737860" y="2542032"/>
            <a:ext cx="3195828"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LISTEN FOR — NO</a:t>
            </a:r>
            <a:endParaRPr lang="en-US" sz="900" dirty="0"/>
          </a:p>
        </p:txBody>
      </p:sp>
      <p:sp>
        <p:nvSpPr>
          <p:cNvPr id="38" name="Text 36"/>
          <p:cNvSpPr/>
          <p:nvPr/>
        </p:nvSpPr>
        <p:spPr>
          <a:xfrm>
            <a:off x="5737860" y="2834640"/>
            <a:ext cx="3113532" cy="694944"/>
          </a:xfrm>
          <a:prstGeom prst="rect">
            <a:avLst/>
          </a:prstGeom>
          <a:noFill/>
          <a:ln/>
        </p:spPr>
        <p:txBody>
          <a:bodyPr wrap="square" lIns="0" tIns="0" rIns="0" bIns="0" rtlCol="0" anchor="t"/>
          <a:lstStyle/>
          <a:p>
            <a:pPr indent="0" marL="0">
              <a:buNone/>
            </a:pPr>
            <a:r>
              <a:rPr lang="en-US" sz="1100" dirty="0">
                <a:solidFill>
                  <a:srgbClr val="991B1B"/>
                </a:solidFill>
                <a:latin typeface="Calibri" pitchFamily="34" charset="0"/>
                <a:ea typeface="Calibri" pitchFamily="34" charset="-122"/>
                <a:cs typeface="Calibri" pitchFamily="34" charset="-120"/>
              </a:rPr>
              <a:t>SME says: wrong BOM or superseded revision</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TC: remove 10FT data from 150% BOM — reload with correct BOM</a:t>
            </a:r>
            <a:endParaRPr lang="en-US" sz="1100" dirty="0"/>
          </a:p>
          <a:p>
            <a:pPr indent="0" marL="0">
              <a:buNone/>
            </a:pPr>
            <a:r>
              <a:rPr lang="en-US" sz="1100" dirty="0">
                <a:solidFill>
                  <a:srgbClr val="991B1B"/>
                </a:solidFill>
                <a:latin typeface="Calibri" pitchFamily="34" charset="0"/>
                <a:ea typeface="Calibri" pitchFamily="34" charset="-122"/>
                <a:cs typeface="Calibri" pitchFamily="34" charset="-120"/>
              </a:rPr>
              <a:t>All 10FT-specific formulas must be re-verified</a:t>
            </a:r>
            <a:endParaRPr lang="en-US" sz="1100" dirty="0"/>
          </a:p>
        </p:txBody>
      </p:sp>
      <p:sp>
        <p:nvSpPr>
          <p:cNvPr id="39" name="Shape 37"/>
          <p:cNvSpPr/>
          <p:nvPr/>
        </p:nvSpPr>
        <p:spPr>
          <a:xfrm>
            <a:off x="5737860" y="3575304"/>
            <a:ext cx="3076956" cy="0"/>
          </a:xfrm>
          <a:prstGeom prst="line">
            <a:avLst/>
          </a:prstGeom>
          <a:noFill/>
          <a:ln w="12700">
            <a:solidFill>
              <a:srgbClr val="FCA5A5"/>
            </a:solidFill>
            <a:prstDash val="dash"/>
          </a:ln>
        </p:spPr>
      </p:sp>
      <p:sp>
        <p:nvSpPr>
          <p:cNvPr id="40" name="Text 38"/>
          <p:cNvSpPr/>
          <p:nvPr/>
        </p:nvSpPr>
        <p:spPr>
          <a:xfrm>
            <a:off x="5737860" y="3648456"/>
            <a:ext cx="3113532" cy="201168"/>
          </a:xfrm>
          <a:prstGeom prst="rect">
            <a:avLst/>
          </a:prstGeom>
          <a:noFill/>
          <a:ln/>
        </p:spPr>
        <p:txBody>
          <a:bodyPr wrap="square" lIns="0" tIns="0" rIns="0" bIns="0" rtlCol="0" anchor="ctr"/>
          <a:lstStyle/>
          <a:p>
            <a:pPr indent="0" marL="0">
              <a:buNone/>
            </a:pPr>
            <a:r>
              <a:rPr lang="en-US" sz="700" b="1" spc="200" kern="0" dirty="0">
                <a:solidFill>
                  <a:srgbClr val="991B1B"/>
                </a:solidFill>
                <a:latin typeface="Calibri" pitchFamily="34" charset="0"/>
                <a:ea typeface="Calibri" pitchFamily="34" charset="-122"/>
                <a:cs typeface="Calibri" pitchFamily="34" charset="-120"/>
              </a:rPr>
              <a:t>IF NO — UPDATE TC</a:t>
            </a:r>
            <a:endParaRPr lang="en-US" sz="700" dirty="0"/>
          </a:p>
        </p:txBody>
      </p:sp>
      <p:sp>
        <p:nvSpPr>
          <p:cNvPr id="41" name="Text 39"/>
          <p:cNvSpPr/>
          <p:nvPr/>
        </p:nvSpPr>
        <p:spPr>
          <a:xfrm>
            <a:off x="5737860" y="3877056"/>
            <a:ext cx="3113532" cy="1014984"/>
          </a:xfrm>
          <a:prstGeom prst="rect">
            <a:avLst/>
          </a:prstGeom>
          <a:noFill/>
          <a:ln/>
        </p:spPr>
        <p:txBody>
          <a:bodyPr wrap="square" lIns="0" tIns="0" rIns="0" bIns="0" rtlCol="0" anchor="t"/>
          <a:lstStyle/>
          <a:p>
            <a:pPr marL="342900" indent="-342900">
              <a:buSzPct val="100000"/>
              <a:buChar char="•"/>
            </a:pPr>
            <a:r>
              <a:rPr lang="en-US" sz="1000" dirty="0">
                <a:solidFill>
                  <a:srgbClr val="991B1B"/>
                </a:solidFill>
                <a:latin typeface="Calibri" pitchFamily="34" charset="0"/>
                <a:ea typeface="Calibri" pitchFamily="34" charset="-122"/>
                <a:cs typeface="Calibri" pitchFamily="34" charset="-120"/>
              </a:rPr>
              <a:t>Reload correct 10FT BOM</a:t>
            </a:r>
            <a:endParaRPr lang="en-US" sz="1000" dirty="0"/>
          </a:p>
          <a:p>
            <a:pPr marL="342900" indent="-342900">
              <a:buSzPct val="100000"/>
              <a:buChar char="•"/>
            </a:pPr>
            <a:r>
              <a:rPr lang="en-US" sz="1000" dirty="0">
                <a:solidFill>
                  <a:srgbClr val="991B1B"/>
                </a:solidFill>
                <a:latin typeface="Calibri" pitchFamily="34" charset="0"/>
                <a:ea typeface="Calibri" pitchFamily="34" charset="-122"/>
                <a:cs typeface="Calibri" pitchFamily="34" charset="-120"/>
              </a:rPr>
              <a:t>Re-run 3-way merge</a:t>
            </a:r>
            <a:endParaRPr lang="en-US" sz="1000" dirty="0"/>
          </a:p>
          <a:p>
            <a:pPr marL="342900" indent="-342900">
              <a:buSzPct val="100000"/>
              <a:buChar char="•"/>
            </a:pPr>
            <a:r>
              <a:rPr lang="en-US" sz="1000" dirty="0">
                <a:solidFill>
                  <a:srgbClr val="991B1B"/>
                </a:solidFill>
                <a:latin typeface="Calibri" pitchFamily="34" charset="0"/>
                <a:ea typeface="Calibri" pitchFamily="34" charset="-122"/>
                <a:cs typeface="Calibri" pitchFamily="34" charset="-120"/>
              </a:rPr>
              <a:t>All Q9–Q14 answers need re-verification</a:t>
            </a:r>
            <a:endParaRPr lang="en-US" sz="1000" dirty="0"/>
          </a:p>
        </p:txBody>
      </p:sp>
      <p:sp>
        <p:nvSpPr>
          <p:cNvPr id="42" name="Shape 40"/>
          <p:cNvSpPr/>
          <p:nvPr/>
        </p:nvSpPr>
        <p:spPr>
          <a:xfrm>
            <a:off x="0" y="4974336"/>
            <a:ext cx="9144000" cy="169164"/>
          </a:xfrm>
          <a:prstGeom prst="rect">
            <a:avLst/>
          </a:prstGeom>
          <a:solidFill>
            <a:srgbClr val="0D7A6B"/>
          </a:solidFill>
          <a:ln w="12700">
            <a:solidFill>
              <a:srgbClr val="0D7A6B"/>
            </a:solidFill>
            <a:prstDash val="solid"/>
          </a:ln>
        </p:spPr>
      </p:sp>
      <p:sp>
        <p:nvSpPr>
          <p:cNvPr id="43" name="Text 41"/>
          <p:cNvSpPr/>
          <p:nvPr/>
        </p:nvSpPr>
        <p:spPr>
          <a:xfrm>
            <a:off x="0" y="4974336"/>
            <a:ext cx="9144000" cy="169164"/>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PLB Universal Robotic Labeler REV-D  ·  TC 2412 Product Configurator  ·  SME Workshop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2026-04-05T17:57:50Z</dcterms:created>
  <dcterms:modified xsi:type="dcterms:W3CDTF">2026-04-05T17:57:50Z</dcterms:modified>
</cp:coreProperties>
</file>